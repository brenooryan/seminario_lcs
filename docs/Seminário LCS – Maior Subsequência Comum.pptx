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embeddedFontLst>
    <p:embeddedFont>
      <p:font typeface="IBM Plex Sans" panose="020B0503050203000203" pitchFamily="34" charset="0"/>
      <p:regular r:id="rId23"/>
      <p:bold r:id="rId24"/>
    </p:embeddedFont>
    <p:embeddedFont>
      <p:font typeface="JetBrains Mono" panose="020B0604020202020204" charset="0"/>
      <p:regular r:id="rId25"/>
      <p:bold r:id="rId26"/>
    </p:embeddedFont>
    <p:embeddedFont>
      <p:font typeface="Space Grotesk" panose="020B0604020202020204" charset="0"/>
      <p:regular r:id="rId27"/>
      <p:bold r:id="rId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2852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Apresentar o grupo. Avisar que o seminário segue sete etapas: problema, o que o algoritmo resolve, estratégia, funcionamento, construção do código com a turma, teste e complexidade. As letras B C B na capa são a resposta do exemplo que vamos resolver juntos.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Não falar de algoritmo ainda. Escrever as duas palavras no quadro e deixar a turma tentar por uns 30 segundos. Perguntar: alguém achou uma sequência de 2 letras? E de 3? A ordem precisa ser respeitada, mas as letras não precisam estar coladas.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que no Y a letra A fica no meio, mas pode ser pulada. Comentar que existem outras sequências comuns menores, como AB ou BC, mas nenhuma com 4 letras. Esse é o exemplo que vai acompanhar a apresentação inteira.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Essa diferença é a principal confusão de quem vê o problema pela primeira vez. No LCS a gente procura subsequência: as letras podem estar espalhadas, só não podem trocar de ordem.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que não é só um exercício de sala. Quando damos git diff, a ferramenta procura a maior sequência de linhas que não mudou; o que sobra são as linhas adicionadas ou removidas. No DNA, as letras são A, C, G e 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Deixar claro o contrato do algoritmo: entra duas strings, sai um número e uma string. Pode existir mais de uma LCS com o mesmo tamanho; o algoritmo devolve uma delas.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Esse é o argumento para não usar força bruta: o custo é exponencial, O(2^m × n). Cada letra a mais dobra o trabalho. Com 30 letras já passa de um bilhão de subsequências, e ainda precisamos verificar cada uma dentro de 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Programação dinâmica exige duas coisas: subestrutura ótima e subproblemas sobrepostos. O LCS tem as duas. Exemplo do guloso falhando: em X = ABCB e Y = BCAB, se casarmos logo o A de X com o A de Y, sobra só o B depois, e ficamos com AB (tamanho 2) em vez de BCB (tamanho 3). Sobre divisão e conquista: ela divide em subproblemas independentes; aqui eles se repetem, então recalcular seria desperdício.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célula da tabela é um subproblema: comparar só o começo das duas palavras. Começamos com pedaços pequenos (palavra vazia) e vamos crescendo até as palavras inteiras. A resposta do problema completo fica na última célula.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Esse é o coração do algoritmo: vale escrever no quadro e deixar visível durante toda a apresentação. Letras iguais: a letra entra na resposta, então aproveitamos o resultado sem essas duas letras (a diagonal) e somamos 1. Letras diferentes: uma das duas letras não entra; testamos tirar a letra de X (cima) ou a letra de Y (esquerda) e ficamos com o melhor.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pseudocódigo calcula o tamanho. Para descobrir quais letras formam a LCS, fazemos uma terceira etapa: voltar do canto inferior direito até a borda (backtracking), que vamos ver depois de preencher a tabela.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Desenhar essa tabela vazia no quadro antes de começar. Explicar que as colunas são as letras de Y = BCAB e as linhas são as letras de X = ABCB. Nos próximos slides, preencher uma linha por vez junto com a turma, perguntando qual número vai em cada célula.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Perguntar para a turma célula por célula. A comparado com B: diferentes, olha cima (0) e esquerda (0), fica 0. A com C: também 0. A com A: iguais! Pega a diagonal (0) e soma 1. A com B: diferentes, cima é 0 e esquerda é 1, fica 1. Esse 1 significa: entre “A” e “BCAB” existe uma letra em comum.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aparece o primeiro 2. Entre “AB” e “BCAB” a LCS é “AB”: o A que encontramos na linha anterior (a diagonal valia 1) mais esse B. É assim que a tabela reaproveita o que já foi calculado.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Agora o destaque é um caso de letras diferentes. C e A não batem, então olhamos as duas vizinhas: cima vale 1 e esquerda vale 2. Ficamos com o maior, 2. Ou seja: mesmo sem usar esse A, já temos “BC” como subsequência comum de “ABC” e “BCA”.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Tabela completa. O canto inferior direito tem o tamanho da resposta: 3. Mas a tabela guarda só números. Para saber quais são as letras, precisamos voltar pela tabela, que é o próximo passo.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Isso é o backtracking. Começamos no canto inferior direito. Se as letras da linha e da coluna são iguais, essa letra faz parte da resposta: guardamos e andamos na diagonal. Se são diferentes, andamos para o vizinho (cima ou esquerda) com o maior valor, porque foi de lá que o número veio. As células azuis cheias são as letras guardadas; a com contorno azul é por onde só passamos. Como andamos de trás para frente, as letras saem na ordem invertida e montamos a palavra colocando cada uma no começo.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Rodar o arquivo completo. Para cada teste o programa imprime a tabela e a resposta. O terceiro caso mostra que a tabela fica toda com zeros quando não há nenhuma letra em comum, e o resultado é a string vazia. Se der tempo, testar com palavras sugeridas pela turma.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Justificativa: o laço de fora roda m vezes, o de dentro n vezes, e dentro dele só há uma comparação e uma conta simples. Então são m × n passos. A memória é a própria tabela. Comparando: 30 × 30 = 900 contra 2 elevado a 30 vezes 30, que passa de 32 bilhões. A programação dinâmica troca tempo exponencial por tempo polinomial usando memória.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Fechar retomando o exemplo: duas palavras, uma tabela 5 por 5 e a resposta BCB. Abrir para perguntas.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2"/>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82"/>
            <a:ext cx="10566400" cy="4109718"/>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2"/>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35482"/>
            <a:ext cx="10566400" cy="4109718"/>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365"/>
                </a:solidFill>
                <a:latin typeface="IBM Plex Sans" pitchFamily="34" charset="0"/>
                <a:ea typeface="IBM Plex Sans" pitchFamily="34" charset="-122"/>
                <a:cs typeface="IBM Plex Sans" pitchFamily="34" charset="-120"/>
              </a:rPr>
              <a:t>SEMINÁRIO DE ALGORITMOS</a:t>
            </a:r>
            <a:endParaRPr lang="en-US" sz="1200" dirty="0"/>
          </a:p>
        </p:txBody>
      </p:sp>
      <p:sp>
        <p:nvSpPr>
          <p:cNvPr id="3" name="Text 1"/>
          <p:cNvSpPr>
            <a:spLocks noGrp="1"/>
          </p:cNvSpPr>
          <p:nvPr>
            <p:ph type="title"/>
          </p:nvPr>
        </p:nvSpPr>
        <p:spPr>
          <a:xfrm>
            <a:off x="812800" y="2172970"/>
            <a:ext cx="11379200"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7F5EF"/>
                </a:solidFill>
                <a:latin typeface="Space Grotesk" pitchFamily="34" charset="0"/>
                <a:ea typeface="Space Grotesk" pitchFamily="34" charset="-122"/>
                <a:cs typeface="Space Grotesk" pitchFamily="34" charset="-120"/>
              </a:rPr>
              <a:t>Maior Subsequência Comum</a:t>
            </a:r>
            <a:endParaRPr lang="en-US" sz="6000" dirty="0"/>
          </a:p>
        </p:txBody>
      </p:sp>
      <p:sp>
        <p:nvSpPr>
          <p:cNvPr id="4" name="Text 2"/>
          <p:cNvSpPr/>
          <p:nvPr/>
        </p:nvSpPr>
        <p:spPr>
          <a:xfrm>
            <a:off x="812800" y="3176270"/>
            <a:ext cx="10883392" cy="41656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BFC8D6"/>
                </a:solidFill>
                <a:latin typeface="IBM Plex Sans" pitchFamily="34" charset="0"/>
                <a:ea typeface="IBM Plex Sans" pitchFamily="34" charset="-122"/>
                <a:cs typeface="IBM Plex Sans" pitchFamily="34" charset="-120"/>
              </a:rPr>
              <a:t>LCS · Longest Common Subsequence · Programação Dinâmica</a:t>
            </a:r>
            <a:endParaRPr lang="en-US" sz="2200" dirty="0"/>
          </a:p>
        </p:txBody>
      </p:sp>
      <p:sp>
        <p:nvSpPr>
          <p:cNvPr id="5" name="Text 3"/>
          <p:cNvSpPr/>
          <p:nvPr/>
        </p:nvSpPr>
        <p:spPr>
          <a:xfrm>
            <a:off x="812800" y="3770630"/>
            <a:ext cx="609600" cy="558800"/>
          </a:xfrm>
          <a:custGeom>
            <a:avLst/>
            <a:gdLst/>
            <a:ahLst/>
            <a:cxnLst/>
            <a:rect l="l" t="t" r="r" b="b"/>
            <a:pathLst>
              <a:path w="609600" h="558800">
                <a:moveTo>
                  <a:pt x="101600" y="0"/>
                </a:moveTo>
                <a:lnTo>
                  <a:pt x="508000" y="0"/>
                </a:lnTo>
                <a:arcTo wR="101600" hR="101600" stAng="16200000" swAng="5400000"/>
                <a:lnTo>
                  <a:pt x="609600" y="457200"/>
                </a:lnTo>
                <a:arcTo wR="101600" hR="101600" stAng="0" swAng="5400000"/>
                <a:lnTo>
                  <a:pt x="101600" y="558800"/>
                </a:lnTo>
                <a:arcTo wR="101600" hR="101600" stAng="5400000" swAng="5400000"/>
                <a:lnTo>
                  <a:pt x="0" y="101600"/>
                </a:lnTo>
                <a:arcTo wR="101600" hR="101600" stAng="10800000" swAng="5400000"/>
                <a:close/>
              </a:path>
            </a:pathLst>
          </a:custGeom>
          <a:solidFill>
            <a:srgbClr val="E07A2E"/>
          </a:solidFill>
          <a:ln/>
        </p:spPr>
        <p:txBody>
          <a:bodyPr wrap="square" lIns="0" tIns="0" rIns="0" bIns="0" rtlCol="0" anchor="t">
            <a:normAutofit/>
          </a:bodyPr>
          <a:lstStyle/>
          <a:p>
            <a:pPr marL="0" indent="0" algn="ctr">
              <a:lnSpc>
                <a:spcPts val="4400"/>
              </a:lnSpc>
              <a:buNone/>
            </a:pPr>
            <a:r>
              <a:rPr lang="en-US" sz="2200" b="1" dirty="0">
                <a:solidFill>
                  <a:srgbClr val="14213D"/>
                </a:solidFill>
                <a:latin typeface="JetBrains Mono" pitchFamily="49" charset="0"/>
                <a:ea typeface="JetBrains Mono" pitchFamily="49" charset="-122"/>
                <a:cs typeface="JetBrains Mono" pitchFamily="49" charset="-120"/>
              </a:rPr>
              <a:t>B</a:t>
            </a:r>
            <a:endParaRPr lang="en-US" sz="2200" dirty="0"/>
          </a:p>
        </p:txBody>
      </p:sp>
      <p:sp>
        <p:nvSpPr>
          <p:cNvPr id="6" name="Text 4"/>
          <p:cNvSpPr/>
          <p:nvPr/>
        </p:nvSpPr>
        <p:spPr>
          <a:xfrm>
            <a:off x="1524000" y="3770630"/>
            <a:ext cx="609600" cy="558800"/>
          </a:xfrm>
          <a:custGeom>
            <a:avLst/>
            <a:gdLst/>
            <a:ahLst/>
            <a:cxnLst/>
            <a:rect l="l" t="t" r="r" b="b"/>
            <a:pathLst>
              <a:path w="609600" h="558800">
                <a:moveTo>
                  <a:pt x="101600" y="0"/>
                </a:moveTo>
                <a:lnTo>
                  <a:pt x="508000" y="0"/>
                </a:lnTo>
                <a:arcTo wR="101600" hR="101600" stAng="16200000" swAng="5400000"/>
                <a:lnTo>
                  <a:pt x="609600" y="457200"/>
                </a:lnTo>
                <a:arcTo wR="101600" hR="101600" stAng="0" swAng="5400000"/>
                <a:lnTo>
                  <a:pt x="101600" y="558800"/>
                </a:lnTo>
                <a:arcTo wR="101600" hR="101600" stAng="5400000" swAng="5400000"/>
                <a:lnTo>
                  <a:pt x="0" y="101600"/>
                </a:lnTo>
                <a:arcTo wR="101600" hR="101600" stAng="10800000" swAng="5400000"/>
                <a:close/>
              </a:path>
            </a:pathLst>
          </a:custGeom>
          <a:solidFill>
            <a:srgbClr val="E07A2E"/>
          </a:solidFill>
          <a:ln/>
        </p:spPr>
        <p:txBody>
          <a:bodyPr wrap="square" lIns="0" tIns="0" rIns="0" bIns="0" rtlCol="0" anchor="t">
            <a:normAutofit/>
          </a:bodyPr>
          <a:lstStyle/>
          <a:p>
            <a:pPr marL="0" indent="0" algn="ctr">
              <a:lnSpc>
                <a:spcPts val="4400"/>
              </a:lnSpc>
              <a:buNone/>
            </a:pPr>
            <a:r>
              <a:rPr lang="en-US" sz="2200" b="1" dirty="0">
                <a:solidFill>
                  <a:srgbClr val="14213D"/>
                </a:solidFill>
                <a:latin typeface="JetBrains Mono" pitchFamily="49" charset="0"/>
                <a:ea typeface="JetBrains Mono" pitchFamily="49" charset="-122"/>
                <a:cs typeface="JetBrains Mono" pitchFamily="49" charset="-120"/>
              </a:rPr>
              <a:t>C</a:t>
            </a:r>
            <a:endParaRPr lang="en-US" sz="2200" dirty="0"/>
          </a:p>
        </p:txBody>
      </p:sp>
      <p:sp>
        <p:nvSpPr>
          <p:cNvPr id="7" name="Text 5"/>
          <p:cNvSpPr/>
          <p:nvPr/>
        </p:nvSpPr>
        <p:spPr>
          <a:xfrm>
            <a:off x="2235200" y="3770630"/>
            <a:ext cx="609600" cy="558800"/>
          </a:xfrm>
          <a:custGeom>
            <a:avLst/>
            <a:gdLst/>
            <a:ahLst/>
            <a:cxnLst/>
            <a:rect l="l" t="t" r="r" b="b"/>
            <a:pathLst>
              <a:path w="609600" h="558800">
                <a:moveTo>
                  <a:pt x="101600" y="0"/>
                </a:moveTo>
                <a:lnTo>
                  <a:pt x="508000" y="0"/>
                </a:lnTo>
                <a:arcTo wR="101600" hR="101600" stAng="16200000" swAng="5400000"/>
                <a:lnTo>
                  <a:pt x="609600" y="457200"/>
                </a:lnTo>
                <a:arcTo wR="101600" hR="101600" stAng="0" swAng="5400000"/>
                <a:lnTo>
                  <a:pt x="101600" y="558800"/>
                </a:lnTo>
                <a:arcTo wR="101600" hR="101600" stAng="5400000" swAng="5400000"/>
                <a:lnTo>
                  <a:pt x="0" y="101600"/>
                </a:lnTo>
                <a:arcTo wR="101600" hR="101600" stAng="10800000" swAng="5400000"/>
                <a:close/>
              </a:path>
            </a:pathLst>
          </a:custGeom>
          <a:solidFill>
            <a:srgbClr val="E07A2E"/>
          </a:solidFill>
          <a:ln/>
        </p:spPr>
        <p:txBody>
          <a:bodyPr wrap="square" lIns="0" tIns="0" rIns="0" bIns="0" rtlCol="0" anchor="t">
            <a:normAutofit/>
          </a:bodyPr>
          <a:lstStyle/>
          <a:p>
            <a:pPr marL="0" indent="0" algn="ctr">
              <a:lnSpc>
                <a:spcPts val="4400"/>
              </a:lnSpc>
              <a:buNone/>
            </a:pPr>
            <a:r>
              <a:rPr lang="en-US" sz="2200" b="1" dirty="0">
                <a:solidFill>
                  <a:srgbClr val="14213D"/>
                </a:solidFill>
                <a:latin typeface="JetBrains Mono" pitchFamily="49" charset="0"/>
                <a:ea typeface="JetBrains Mono" pitchFamily="49" charset="-122"/>
                <a:cs typeface="JetBrains Mono" pitchFamily="49" charset="-120"/>
              </a:rPr>
              <a:t>B</a:t>
            </a:r>
            <a:endParaRPr lang="en-US" sz="2200" dirty="0"/>
          </a:p>
        </p:txBody>
      </p:sp>
      <p:sp>
        <p:nvSpPr>
          <p:cNvPr id="8" name="Text 6"/>
          <p:cNvSpPr/>
          <p:nvPr/>
        </p:nvSpPr>
        <p:spPr>
          <a:xfrm>
            <a:off x="812800" y="5476240"/>
            <a:ext cx="1088339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FC8D6"/>
                </a:solidFill>
                <a:latin typeface="IBM Plex Sans" pitchFamily="34" charset="0"/>
                <a:ea typeface="IBM Plex Sans" pitchFamily="34" charset="-122"/>
                <a:cs typeface="IBM Plex Sans" pitchFamily="34" charset="-120"/>
              </a:rPr>
              <a:t>Breno Ryan de Andrade Fernandes · UNISAL · Engenharia da Computação
João Vitor Ferreira Azevedo Pereira · UNISAL · Engenharia da Computação
</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541B"/>
                </a:solidFill>
                <a:latin typeface="IBM Plex Sans" pitchFamily="34" charset="0"/>
                <a:ea typeface="IBM Plex Sans" pitchFamily="34" charset="-122"/>
                <a:cs typeface="IBM Plex Sans" pitchFamily="34" charset="-120"/>
              </a:rPr>
              <a:t>1 · QUAL É O PROBLEMA?</a:t>
            </a:r>
            <a:endParaRPr lang="en-US" sz="1200" dirty="0"/>
          </a:p>
        </p:txBody>
      </p:sp>
      <p:sp>
        <p:nvSpPr>
          <p:cNvPr id="3" name="Text 1"/>
          <p:cNvSpPr>
            <a:spLocks noGrp="1"/>
          </p:cNvSpPr>
          <p:nvPr>
            <p:ph type="title"/>
          </p:nvPr>
        </p:nvSpPr>
        <p:spPr>
          <a:xfrm>
            <a:off x="812800" y="112776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Duas palavras. O que elas têm em comum?</a:t>
            </a:r>
            <a:endParaRPr lang="en-US" sz="3600" dirty="0"/>
          </a:p>
        </p:txBody>
      </p:sp>
      <p:sp>
        <p:nvSpPr>
          <p:cNvPr id="4" name="Text 2"/>
          <p:cNvSpPr/>
          <p:nvPr/>
        </p:nvSpPr>
        <p:spPr>
          <a:xfrm>
            <a:off x="812800" y="2032000"/>
            <a:ext cx="1320800" cy="66548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2F6FB0"/>
                </a:solidFill>
                <a:latin typeface="JetBrains Mono" pitchFamily="49" charset="0"/>
                <a:ea typeface="JetBrains Mono" pitchFamily="49" charset="-122"/>
                <a:cs typeface="JetBrains Mono" pitchFamily="49" charset="-120"/>
              </a:rPr>
              <a:t>X =</a:t>
            </a:r>
            <a:endParaRPr lang="en-US" sz="3600" dirty="0"/>
          </a:p>
        </p:txBody>
      </p:sp>
      <p:sp>
        <p:nvSpPr>
          <p:cNvPr id="5" name="Text 3"/>
          <p:cNvSpPr/>
          <p:nvPr/>
        </p:nvSpPr>
        <p:spPr>
          <a:xfrm>
            <a:off x="2209800" y="1986280"/>
            <a:ext cx="762000" cy="731520"/>
          </a:xfrm>
          <a:custGeom>
            <a:avLst/>
            <a:gdLst/>
            <a:ahLst/>
            <a:cxnLst/>
            <a:rect l="l" t="t" r="r" b="b"/>
            <a:pathLst>
              <a:path w="762000" h="731520">
                <a:moveTo>
                  <a:pt x="101600" y="0"/>
                </a:moveTo>
                <a:lnTo>
                  <a:pt x="660400" y="0"/>
                </a:lnTo>
                <a:arcTo wR="101600" hR="101600" stAng="16200000" swAng="5400000"/>
                <a:lnTo>
                  <a:pt x="762000" y="629920"/>
                </a:lnTo>
                <a:arcTo wR="101600" hR="101600" stAng="0" swAng="5400000"/>
                <a:lnTo>
                  <a:pt x="101600" y="731520"/>
                </a:lnTo>
                <a:arcTo wR="101600" hR="101600" stAng="5400000" swAng="5400000"/>
                <a:lnTo>
                  <a:pt x="0" y="101600"/>
                </a:lnTo>
                <a:arcTo wR="101600" hR="101600" stAng="10800000" swAng="5400000"/>
                <a:close/>
              </a:path>
            </a:pathLst>
          </a:custGeom>
          <a:solidFill>
            <a:srgbClr val="FDFCF9"/>
          </a:solidFill>
          <a:ln/>
        </p:spPr>
        <p:txBody>
          <a:bodyPr wrap="square" lIns="0" tIns="0" rIns="0" bIns="0" rtlCol="0" anchor="t">
            <a:normAutofit/>
          </a:bodyPr>
          <a:lstStyle/>
          <a:p>
            <a:pPr marL="0" indent="0" algn="ctr">
              <a:lnSpc>
                <a:spcPts val="5760"/>
              </a:lnSpc>
              <a:buNone/>
            </a:pPr>
            <a:r>
              <a:rPr lang="en-US" sz="3600" b="1" dirty="0">
                <a:solidFill>
                  <a:srgbClr val="14213D"/>
                </a:solidFill>
                <a:latin typeface="JetBrains Mono" pitchFamily="49" charset="0"/>
                <a:ea typeface="JetBrains Mono" pitchFamily="49" charset="-122"/>
                <a:cs typeface="JetBrains Mono" pitchFamily="49" charset="-120"/>
              </a:rPr>
              <a:t>A</a:t>
            </a:r>
            <a:endParaRPr lang="en-US" sz="3600" dirty="0"/>
          </a:p>
        </p:txBody>
      </p:sp>
      <p:sp>
        <p:nvSpPr>
          <p:cNvPr id="6" name="Text 4"/>
          <p:cNvSpPr/>
          <p:nvPr/>
        </p:nvSpPr>
        <p:spPr>
          <a:xfrm>
            <a:off x="3098800" y="1986280"/>
            <a:ext cx="762000" cy="731520"/>
          </a:xfrm>
          <a:custGeom>
            <a:avLst/>
            <a:gdLst/>
            <a:ahLst/>
            <a:cxnLst/>
            <a:rect l="l" t="t" r="r" b="b"/>
            <a:pathLst>
              <a:path w="762000" h="731520">
                <a:moveTo>
                  <a:pt x="101600" y="0"/>
                </a:moveTo>
                <a:lnTo>
                  <a:pt x="660400" y="0"/>
                </a:lnTo>
                <a:arcTo wR="101600" hR="101600" stAng="16200000" swAng="5400000"/>
                <a:lnTo>
                  <a:pt x="762000" y="629920"/>
                </a:lnTo>
                <a:arcTo wR="101600" hR="101600" stAng="0" swAng="5400000"/>
                <a:lnTo>
                  <a:pt x="101600" y="731520"/>
                </a:lnTo>
                <a:arcTo wR="101600" hR="101600" stAng="5400000" swAng="5400000"/>
                <a:lnTo>
                  <a:pt x="0" y="101600"/>
                </a:lnTo>
                <a:arcTo wR="101600" hR="101600" stAng="10800000" swAng="5400000"/>
                <a:close/>
              </a:path>
            </a:pathLst>
          </a:custGeom>
          <a:solidFill>
            <a:srgbClr val="FDFCF9"/>
          </a:solidFill>
          <a:ln/>
        </p:spPr>
        <p:txBody>
          <a:bodyPr wrap="square" lIns="0" tIns="0" rIns="0" bIns="0" rtlCol="0" anchor="t">
            <a:normAutofit/>
          </a:bodyPr>
          <a:lstStyle/>
          <a:p>
            <a:pPr marL="0" indent="0" algn="ctr">
              <a:lnSpc>
                <a:spcPts val="5760"/>
              </a:lnSpc>
              <a:buNone/>
            </a:pPr>
            <a:r>
              <a:rPr lang="en-US" sz="3600" b="1" dirty="0">
                <a:solidFill>
                  <a:srgbClr val="14213D"/>
                </a:solidFill>
                <a:latin typeface="JetBrains Mono" pitchFamily="49" charset="0"/>
                <a:ea typeface="JetBrains Mono" pitchFamily="49" charset="-122"/>
                <a:cs typeface="JetBrains Mono" pitchFamily="49" charset="-120"/>
              </a:rPr>
              <a:t>B</a:t>
            </a:r>
            <a:endParaRPr lang="en-US" sz="3600" dirty="0"/>
          </a:p>
        </p:txBody>
      </p:sp>
      <p:sp>
        <p:nvSpPr>
          <p:cNvPr id="7" name="Text 5"/>
          <p:cNvSpPr/>
          <p:nvPr/>
        </p:nvSpPr>
        <p:spPr>
          <a:xfrm>
            <a:off x="3987800" y="1986280"/>
            <a:ext cx="762000" cy="731520"/>
          </a:xfrm>
          <a:custGeom>
            <a:avLst/>
            <a:gdLst/>
            <a:ahLst/>
            <a:cxnLst/>
            <a:rect l="l" t="t" r="r" b="b"/>
            <a:pathLst>
              <a:path w="762000" h="731520">
                <a:moveTo>
                  <a:pt x="101600" y="0"/>
                </a:moveTo>
                <a:lnTo>
                  <a:pt x="660400" y="0"/>
                </a:lnTo>
                <a:arcTo wR="101600" hR="101600" stAng="16200000" swAng="5400000"/>
                <a:lnTo>
                  <a:pt x="762000" y="629920"/>
                </a:lnTo>
                <a:arcTo wR="101600" hR="101600" stAng="0" swAng="5400000"/>
                <a:lnTo>
                  <a:pt x="101600" y="731520"/>
                </a:lnTo>
                <a:arcTo wR="101600" hR="101600" stAng="5400000" swAng="5400000"/>
                <a:lnTo>
                  <a:pt x="0" y="101600"/>
                </a:lnTo>
                <a:arcTo wR="101600" hR="101600" stAng="10800000" swAng="5400000"/>
                <a:close/>
              </a:path>
            </a:pathLst>
          </a:custGeom>
          <a:solidFill>
            <a:srgbClr val="FDFCF9"/>
          </a:solidFill>
          <a:ln/>
        </p:spPr>
        <p:txBody>
          <a:bodyPr wrap="square" lIns="0" tIns="0" rIns="0" bIns="0" rtlCol="0" anchor="t">
            <a:normAutofit/>
          </a:bodyPr>
          <a:lstStyle/>
          <a:p>
            <a:pPr marL="0" indent="0" algn="ctr">
              <a:lnSpc>
                <a:spcPts val="5760"/>
              </a:lnSpc>
              <a:buNone/>
            </a:pPr>
            <a:r>
              <a:rPr lang="en-US" sz="3600" b="1" dirty="0">
                <a:solidFill>
                  <a:srgbClr val="14213D"/>
                </a:solidFill>
                <a:latin typeface="JetBrains Mono" pitchFamily="49" charset="0"/>
                <a:ea typeface="JetBrains Mono" pitchFamily="49" charset="-122"/>
                <a:cs typeface="JetBrains Mono" pitchFamily="49" charset="-120"/>
              </a:rPr>
              <a:t>C</a:t>
            </a:r>
            <a:endParaRPr lang="en-US" sz="3600" dirty="0"/>
          </a:p>
        </p:txBody>
      </p:sp>
      <p:sp>
        <p:nvSpPr>
          <p:cNvPr id="8" name="Text 6"/>
          <p:cNvSpPr/>
          <p:nvPr/>
        </p:nvSpPr>
        <p:spPr>
          <a:xfrm>
            <a:off x="4876800" y="1986280"/>
            <a:ext cx="762000" cy="731520"/>
          </a:xfrm>
          <a:custGeom>
            <a:avLst/>
            <a:gdLst/>
            <a:ahLst/>
            <a:cxnLst/>
            <a:rect l="l" t="t" r="r" b="b"/>
            <a:pathLst>
              <a:path w="762000" h="731520">
                <a:moveTo>
                  <a:pt x="101600" y="0"/>
                </a:moveTo>
                <a:lnTo>
                  <a:pt x="660400" y="0"/>
                </a:lnTo>
                <a:arcTo wR="101600" hR="101600" stAng="16200000" swAng="5400000"/>
                <a:lnTo>
                  <a:pt x="762000" y="629920"/>
                </a:lnTo>
                <a:arcTo wR="101600" hR="101600" stAng="0" swAng="5400000"/>
                <a:lnTo>
                  <a:pt x="101600" y="731520"/>
                </a:lnTo>
                <a:arcTo wR="101600" hR="101600" stAng="5400000" swAng="5400000"/>
                <a:lnTo>
                  <a:pt x="0" y="101600"/>
                </a:lnTo>
                <a:arcTo wR="101600" hR="101600" stAng="10800000" swAng="5400000"/>
                <a:close/>
              </a:path>
            </a:pathLst>
          </a:custGeom>
          <a:solidFill>
            <a:srgbClr val="FDFCF9"/>
          </a:solidFill>
          <a:ln/>
        </p:spPr>
        <p:txBody>
          <a:bodyPr wrap="square" lIns="0" tIns="0" rIns="0" bIns="0" rtlCol="0" anchor="t">
            <a:normAutofit/>
          </a:bodyPr>
          <a:lstStyle/>
          <a:p>
            <a:pPr marL="0" indent="0" algn="ctr">
              <a:lnSpc>
                <a:spcPts val="5760"/>
              </a:lnSpc>
              <a:buNone/>
            </a:pPr>
            <a:r>
              <a:rPr lang="en-US" sz="3600" b="1" dirty="0">
                <a:solidFill>
                  <a:srgbClr val="14213D"/>
                </a:solidFill>
                <a:latin typeface="JetBrains Mono" pitchFamily="49" charset="0"/>
                <a:ea typeface="JetBrains Mono" pitchFamily="49" charset="-122"/>
                <a:cs typeface="JetBrains Mono" pitchFamily="49" charset="-120"/>
              </a:rPr>
              <a:t>B</a:t>
            </a:r>
            <a:endParaRPr lang="en-US" sz="3600" dirty="0"/>
          </a:p>
        </p:txBody>
      </p:sp>
      <p:sp>
        <p:nvSpPr>
          <p:cNvPr id="9" name="Text 7"/>
          <p:cNvSpPr/>
          <p:nvPr/>
        </p:nvSpPr>
        <p:spPr>
          <a:xfrm>
            <a:off x="812800" y="2966720"/>
            <a:ext cx="1320800" cy="66548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2F6FB0"/>
                </a:solidFill>
                <a:latin typeface="JetBrains Mono" pitchFamily="49" charset="0"/>
                <a:ea typeface="JetBrains Mono" pitchFamily="49" charset="-122"/>
                <a:cs typeface="JetBrains Mono" pitchFamily="49" charset="-120"/>
              </a:rPr>
              <a:t>Y =</a:t>
            </a:r>
            <a:endParaRPr lang="en-US" sz="3600" dirty="0"/>
          </a:p>
        </p:txBody>
      </p:sp>
      <p:sp>
        <p:nvSpPr>
          <p:cNvPr id="10" name="Text 8"/>
          <p:cNvSpPr/>
          <p:nvPr/>
        </p:nvSpPr>
        <p:spPr>
          <a:xfrm>
            <a:off x="2209800" y="2921000"/>
            <a:ext cx="762000" cy="731520"/>
          </a:xfrm>
          <a:custGeom>
            <a:avLst/>
            <a:gdLst/>
            <a:ahLst/>
            <a:cxnLst/>
            <a:rect l="l" t="t" r="r" b="b"/>
            <a:pathLst>
              <a:path w="762000" h="731520">
                <a:moveTo>
                  <a:pt x="101600" y="0"/>
                </a:moveTo>
                <a:lnTo>
                  <a:pt x="660400" y="0"/>
                </a:lnTo>
                <a:arcTo wR="101600" hR="101600" stAng="16200000" swAng="5400000"/>
                <a:lnTo>
                  <a:pt x="762000" y="629920"/>
                </a:lnTo>
                <a:arcTo wR="101600" hR="101600" stAng="0" swAng="5400000"/>
                <a:lnTo>
                  <a:pt x="101600" y="731520"/>
                </a:lnTo>
                <a:arcTo wR="101600" hR="101600" stAng="5400000" swAng="5400000"/>
                <a:lnTo>
                  <a:pt x="0" y="101600"/>
                </a:lnTo>
                <a:arcTo wR="101600" hR="101600" stAng="10800000" swAng="5400000"/>
                <a:close/>
              </a:path>
            </a:pathLst>
          </a:custGeom>
          <a:solidFill>
            <a:srgbClr val="FDFCF9"/>
          </a:solidFill>
          <a:ln/>
        </p:spPr>
        <p:txBody>
          <a:bodyPr wrap="square" lIns="0" tIns="0" rIns="0" bIns="0" rtlCol="0" anchor="t">
            <a:normAutofit/>
          </a:bodyPr>
          <a:lstStyle/>
          <a:p>
            <a:pPr marL="0" indent="0" algn="ctr">
              <a:lnSpc>
                <a:spcPts val="5760"/>
              </a:lnSpc>
              <a:buNone/>
            </a:pPr>
            <a:r>
              <a:rPr lang="en-US" sz="3600" b="1" dirty="0">
                <a:solidFill>
                  <a:srgbClr val="14213D"/>
                </a:solidFill>
                <a:latin typeface="JetBrains Mono" pitchFamily="49" charset="0"/>
                <a:ea typeface="JetBrains Mono" pitchFamily="49" charset="-122"/>
                <a:cs typeface="JetBrains Mono" pitchFamily="49" charset="-120"/>
              </a:rPr>
              <a:t>B</a:t>
            </a:r>
            <a:endParaRPr lang="en-US" sz="3600" dirty="0"/>
          </a:p>
        </p:txBody>
      </p:sp>
      <p:sp>
        <p:nvSpPr>
          <p:cNvPr id="11" name="Text 9"/>
          <p:cNvSpPr/>
          <p:nvPr/>
        </p:nvSpPr>
        <p:spPr>
          <a:xfrm>
            <a:off x="3098800" y="2921000"/>
            <a:ext cx="762000" cy="731520"/>
          </a:xfrm>
          <a:custGeom>
            <a:avLst/>
            <a:gdLst/>
            <a:ahLst/>
            <a:cxnLst/>
            <a:rect l="l" t="t" r="r" b="b"/>
            <a:pathLst>
              <a:path w="762000" h="731520">
                <a:moveTo>
                  <a:pt x="101600" y="0"/>
                </a:moveTo>
                <a:lnTo>
                  <a:pt x="660400" y="0"/>
                </a:lnTo>
                <a:arcTo wR="101600" hR="101600" stAng="16200000" swAng="5400000"/>
                <a:lnTo>
                  <a:pt x="762000" y="629920"/>
                </a:lnTo>
                <a:arcTo wR="101600" hR="101600" stAng="0" swAng="5400000"/>
                <a:lnTo>
                  <a:pt x="101600" y="731520"/>
                </a:lnTo>
                <a:arcTo wR="101600" hR="101600" stAng="5400000" swAng="5400000"/>
                <a:lnTo>
                  <a:pt x="0" y="101600"/>
                </a:lnTo>
                <a:arcTo wR="101600" hR="101600" stAng="10800000" swAng="5400000"/>
                <a:close/>
              </a:path>
            </a:pathLst>
          </a:custGeom>
          <a:solidFill>
            <a:srgbClr val="FDFCF9"/>
          </a:solidFill>
          <a:ln/>
        </p:spPr>
        <p:txBody>
          <a:bodyPr wrap="square" lIns="0" tIns="0" rIns="0" bIns="0" rtlCol="0" anchor="t">
            <a:normAutofit/>
          </a:bodyPr>
          <a:lstStyle/>
          <a:p>
            <a:pPr marL="0" indent="0" algn="ctr">
              <a:lnSpc>
                <a:spcPts val="5760"/>
              </a:lnSpc>
              <a:buNone/>
            </a:pPr>
            <a:r>
              <a:rPr lang="en-US" sz="3600" b="1" dirty="0">
                <a:solidFill>
                  <a:srgbClr val="14213D"/>
                </a:solidFill>
                <a:latin typeface="JetBrains Mono" pitchFamily="49" charset="0"/>
                <a:ea typeface="JetBrains Mono" pitchFamily="49" charset="-122"/>
                <a:cs typeface="JetBrains Mono" pitchFamily="49" charset="-120"/>
              </a:rPr>
              <a:t>C</a:t>
            </a:r>
            <a:endParaRPr lang="en-US" sz="3600" dirty="0"/>
          </a:p>
        </p:txBody>
      </p:sp>
      <p:sp>
        <p:nvSpPr>
          <p:cNvPr id="12" name="Text 10"/>
          <p:cNvSpPr/>
          <p:nvPr/>
        </p:nvSpPr>
        <p:spPr>
          <a:xfrm>
            <a:off x="3987800" y="2921000"/>
            <a:ext cx="762000" cy="731520"/>
          </a:xfrm>
          <a:custGeom>
            <a:avLst/>
            <a:gdLst/>
            <a:ahLst/>
            <a:cxnLst/>
            <a:rect l="l" t="t" r="r" b="b"/>
            <a:pathLst>
              <a:path w="762000" h="731520">
                <a:moveTo>
                  <a:pt x="101600" y="0"/>
                </a:moveTo>
                <a:lnTo>
                  <a:pt x="660400" y="0"/>
                </a:lnTo>
                <a:arcTo wR="101600" hR="101600" stAng="16200000" swAng="5400000"/>
                <a:lnTo>
                  <a:pt x="762000" y="629920"/>
                </a:lnTo>
                <a:arcTo wR="101600" hR="101600" stAng="0" swAng="5400000"/>
                <a:lnTo>
                  <a:pt x="101600" y="731520"/>
                </a:lnTo>
                <a:arcTo wR="101600" hR="101600" stAng="5400000" swAng="5400000"/>
                <a:lnTo>
                  <a:pt x="0" y="101600"/>
                </a:lnTo>
                <a:arcTo wR="101600" hR="101600" stAng="10800000" swAng="5400000"/>
                <a:close/>
              </a:path>
            </a:pathLst>
          </a:custGeom>
          <a:solidFill>
            <a:srgbClr val="FDFCF9"/>
          </a:solidFill>
          <a:ln/>
        </p:spPr>
        <p:txBody>
          <a:bodyPr wrap="square" lIns="0" tIns="0" rIns="0" bIns="0" rtlCol="0" anchor="t">
            <a:normAutofit/>
          </a:bodyPr>
          <a:lstStyle/>
          <a:p>
            <a:pPr marL="0" indent="0" algn="ctr">
              <a:lnSpc>
                <a:spcPts val="5760"/>
              </a:lnSpc>
              <a:buNone/>
            </a:pPr>
            <a:r>
              <a:rPr lang="en-US" sz="3600" b="1" dirty="0">
                <a:solidFill>
                  <a:srgbClr val="14213D"/>
                </a:solidFill>
                <a:latin typeface="JetBrains Mono" pitchFamily="49" charset="0"/>
                <a:ea typeface="JetBrains Mono" pitchFamily="49" charset="-122"/>
                <a:cs typeface="JetBrains Mono" pitchFamily="49" charset="-120"/>
              </a:rPr>
              <a:t>A</a:t>
            </a:r>
            <a:endParaRPr lang="en-US" sz="3600" dirty="0"/>
          </a:p>
        </p:txBody>
      </p:sp>
      <p:sp>
        <p:nvSpPr>
          <p:cNvPr id="13" name="Text 11"/>
          <p:cNvSpPr/>
          <p:nvPr/>
        </p:nvSpPr>
        <p:spPr>
          <a:xfrm>
            <a:off x="4876800" y="2921000"/>
            <a:ext cx="762000" cy="731520"/>
          </a:xfrm>
          <a:custGeom>
            <a:avLst/>
            <a:gdLst/>
            <a:ahLst/>
            <a:cxnLst/>
            <a:rect l="l" t="t" r="r" b="b"/>
            <a:pathLst>
              <a:path w="762000" h="731520">
                <a:moveTo>
                  <a:pt x="101600" y="0"/>
                </a:moveTo>
                <a:lnTo>
                  <a:pt x="660400" y="0"/>
                </a:lnTo>
                <a:arcTo wR="101600" hR="101600" stAng="16200000" swAng="5400000"/>
                <a:lnTo>
                  <a:pt x="762000" y="629920"/>
                </a:lnTo>
                <a:arcTo wR="101600" hR="101600" stAng="0" swAng="5400000"/>
                <a:lnTo>
                  <a:pt x="101600" y="731520"/>
                </a:lnTo>
                <a:arcTo wR="101600" hR="101600" stAng="5400000" swAng="5400000"/>
                <a:lnTo>
                  <a:pt x="0" y="101600"/>
                </a:lnTo>
                <a:arcTo wR="101600" hR="101600" stAng="10800000" swAng="5400000"/>
                <a:close/>
              </a:path>
            </a:pathLst>
          </a:custGeom>
          <a:solidFill>
            <a:srgbClr val="FDFCF9"/>
          </a:solidFill>
          <a:ln/>
        </p:spPr>
        <p:txBody>
          <a:bodyPr wrap="square" lIns="0" tIns="0" rIns="0" bIns="0" rtlCol="0" anchor="t">
            <a:normAutofit/>
          </a:bodyPr>
          <a:lstStyle/>
          <a:p>
            <a:pPr marL="0" indent="0" algn="ctr">
              <a:lnSpc>
                <a:spcPts val="5760"/>
              </a:lnSpc>
              <a:buNone/>
            </a:pPr>
            <a:r>
              <a:rPr lang="en-US" sz="3600" b="1" dirty="0">
                <a:solidFill>
                  <a:srgbClr val="14213D"/>
                </a:solidFill>
                <a:latin typeface="JetBrains Mono" pitchFamily="49" charset="0"/>
                <a:ea typeface="JetBrains Mono" pitchFamily="49" charset="-122"/>
                <a:cs typeface="JetBrains Mono" pitchFamily="49" charset="-120"/>
              </a:rPr>
              <a:t>B</a:t>
            </a:r>
            <a:endParaRPr lang="en-US" sz="3600" dirty="0"/>
          </a:p>
        </p:txBody>
      </p:sp>
      <p:sp>
        <p:nvSpPr>
          <p:cNvPr id="14" name="Text 12"/>
          <p:cNvSpPr/>
          <p:nvPr/>
        </p:nvSpPr>
        <p:spPr>
          <a:xfrm>
            <a:off x="812800" y="4008120"/>
            <a:ext cx="10883392" cy="75184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4A5568"/>
                </a:solidFill>
                <a:latin typeface="IBM Plex Sans" pitchFamily="34" charset="0"/>
                <a:ea typeface="IBM Plex Sans" pitchFamily="34" charset="-122"/>
                <a:cs typeface="IBM Plex Sans" pitchFamily="34" charset="-120"/>
              </a:rPr>
              <a:t>Qual é a </a:t>
            </a:r>
            <a:r>
              <a:rPr lang="en-US" sz="2200" b="1" dirty="0">
                <a:solidFill>
                  <a:srgbClr val="14213D"/>
                </a:solidFill>
                <a:latin typeface="IBM Plex Sans" pitchFamily="34" charset="0"/>
                <a:ea typeface="IBM Plex Sans" pitchFamily="34" charset="-122"/>
                <a:cs typeface="IBM Plex Sans" pitchFamily="34" charset="-120"/>
              </a:rPr>
              <a:t>maior sequência de letras</a:t>
            </a:r>
            <a:r>
              <a:rPr lang="en-US" sz="2200" dirty="0">
                <a:solidFill>
                  <a:srgbClr val="4A5568"/>
                </a:solidFill>
                <a:latin typeface="IBM Plex Sans" pitchFamily="34" charset="0"/>
                <a:ea typeface="IBM Plex Sans" pitchFamily="34" charset="-122"/>
                <a:cs typeface="IBM Plex Sans" pitchFamily="34" charset="-120"/>
              </a:rPr>
              <a:t> que aparece nas duas, </a:t>
            </a:r>
            <a:r>
              <a:rPr lang="en-US" sz="2200" b="1" dirty="0">
                <a:solidFill>
                  <a:srgbClr val="14213D"/>
                </a:solidFill>
                <a:latin typeface="IBM Plex Sans" pitchFamily="34" charset="0"/>
                <a:ea typeface="IBM Plex Sans" pitchFamily="34" charset="-122"/>
                <a:cs typeface="IBM Plex Sans" pitchFamily="34" charset="-120"/>
              </a:rPr>
              <a:t>na mesma ordem</a:t>
            </a:r>
            <a:r>
              <a:rPr lang="en-US" sz="2200" dirty="0">
                <a:solidFill>
                  <a:srgbClr val="4A5568"/>
                </a:solidFill>
                <a:latin typeface="IBM Plex Sans" pitchFamily="34" charset="0"/>
                <a:ea typeface="IBM Plex Sans" pitchFamily="34" charset="-122"/>
                <a:cs typeface="IBM Plex Sans" pitchFamily="34" charset="-120"/>
              </a:rPr>
              <a:t>, mesmo sem estarem lado a lado?</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541B"/>
                </a:solidFill>
                <a:latin typeface="IBM Plex Sans" pitchFamily="34" charset="0"/>
                <a:ea typeface="IBM Plex Sans" pitchFamily="34" charset="-122"/>
                <a:cs typeface="IBM Plex Sans" pitchFamily="34" charset="-120"/>
              </a:rPr>
              <a:t>1 · QUAL É O PROBLEMA?</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A resposta é BCB, com tamanho 3</a:t>
            </a:r>
            <a:endParaRPr lang="en-US" sz="3600" dirty="0"/>
          </a:p>
        </p:txBody>
      </p:sp>
      <p:sp>
        <p:nvSpPr>
          <p:cNvPr id="4" name="Text 2"/>
          <p:cNvSpPr/>
          <p:nvPr/>
        </p:nvSpPr>
        <p:spPr>
          <a:xfrm>
            <a:off x="812800" y="2032000"/>
            <a:ext cx="1320800" cy="66548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2F6FB0"/>
                </a:solidFill>
                <a:latin typeface="JetBrains Mono" pitchFamily="49" charset="0"/>
                <a:ea typeface="JetBrains Mono" pitchFamily="49" charset="-122"/>
                <a:cs typeface="JetBrains Mono" pitchFamily="49" charset="-120"/>
              </a:rPr>
              <a:t>X =</a:t>
            </a:r>
            <a:endParaRPr lang="en-US" sz="3600" dirty="0"/>
          </a:p>
        </p:txBody>
      </p:sp>
      <p:sp>
        <p:nvSpPr>
          <p:cNvPr id="5" name="Text 3"/>
          <p:cNvSpPr/>
          <p:nvPr/>
        </p:nvSpPr>
        <p:spPr>
          <a:xfrm>
            <a:off x="2209800" y="1986280"/>
            <a:ext cx="762000" cy="731520"/>
          </a:xfrm>
          <a:custGeom>
            <a:avLst/>
            <a:gdLst/>
            <a:ahLst/>
            <a:cxnLst/>
            <a:rect l="l" t="t" r="r" b="b"/>
            <a:pathLst>
              <a:path w="762000" h="731520">
                <a:moveTo>
                  <a:pt x="101600" y="0"/>
                </a:moveTo>
                <a:lnTo>
                  <a:pt x="660400" y="0"/>
                </a:lnTo>
                <a:arcTo wR="101600" hR="101600" stAng="16200000" swAng="5400000"/>
                <a:lnTo>
                  <a:pt x="762000" y="629920"/>
                </a:lnTo>
                <a:arcTo wR="101600" hR="101600" stAng="0" swAng="5400000"/>
                <a:lnTo>
                  <a:pt x="101600" y="731520"/>
                </a:lnTo>
                <a:arcTo wR="101600" hR="101600" stAng="5400000" swAng="5400000"/>
                <a:lnTo>
                  <a:pt x="0" y="101600"/>
                </a:lnTo>
                <a:arcTo wR="101600" hR="101600" stAng="10800000" swAng="5400000"/>
                <a:close/>
              </a:path>
            </a:pathLst>
          </a:custGeom>
          <a:solidFill>
            <a:srgbClr val="FDFCF9"/>
          </a:solidFill>
          <a:ln/>
        </p:spPr>
        <p:txBody>
          <a:bodyPr wrap="square" lIns="0" tIns="0" rIns="0" bIns="0" rtlCol="0" anchor="t">
            <a:normAutofit/>
          </a:bodyPr>
          <a:lstStyle/>
          <a:p>
            <a:pPr marL="0" indent="0" algn="ctr">
              <a:lnSpc>
                <a:spcPts val="5760"/>
              </a:lnSpc>
              <a:buNone/>
            </a:pPr>
            <a:r>
              <a:rPr lang="en-US" sz="3600" b="1" dirty="0">
                <a:solidFill>
                  <a:srgbClr val="8A93A3"/>
                </a:solidFill>
                <a:latin typeface="JetBrains Mono" pitchFamily="49" charset="0"/>
                <a:ea typeface="JetBrains Mono" pitchFamily="49" charset="-122"/>
                <a:cs typeface="JetBrains Mono" pitchFamily="49" charset="-120"/>
              </a:rPr>
              <a:t>A</a:t>
            </a:r>
            <a:endParaRPr lang="en-US" sz="3600" dirty="0"/>
          </a:p>
        </p:txBody>
      </p:sp>
      <p:sp>
        <p:nvSpPr>
          <p:cNvPr id="6" name="Text 4"/>
          <p:cNvSpPr/>
          <p:nvPr/>
        </p:nvSpPr>
        <p:spPr>
          <a:xfrm>
            <a:off x="3098800" y="1986280"/>
            <a:ext cx="762000" cy="731520"/>
          </a:xfrm>
          <a:custGeom>
            <a:avLst/>
            <a:gdLst/>
            <a:ahLst/>
            <a:cxnLst/>
            <a:rect l="l" t="t" r="r" b="b"/>
            <a:pathLst>
              <a:path w="762000" h="731520">
                <a:moveTo>
                  <a:pt x="101600" y="0"/>
                </a:moveTo>
                <a:lnTo>
                  <a:pt x="660400" y="0"/>
                </a:lnTo>
                <a:arcTo wR="101600" hR="101600" stAng="16200000" swAng="5400000"/>
                <a:lnTo>
                  <a:pt x="762000" y="629920"/>
                </a:lnTo>
                <a:arcTo wR="101600" hR="101600" stAng="0" swAng="5400000"/>
                <a:lnTo>
                  <a:pt x="101600" y="731520"/>
                </a:lnTo>
                <a:arcTo wR="101600" hR="101600" stAng="5400000" swAng="5400000"/>
                <a:lnTo>
                  <a:pt x="0" y="101600"/>
                </a:lnTo>
                <a:arcTo wR="101600" hR="101600" stAng="10800000" swAng="5400000"/>
                <a:close/>
              </a:path>
            </a:pathLst>
          </a:custGeom>
          <a:solidFill>
            <a:srgbClr val="E07A2E"/>
          </a:solidFill>
          <a:ln/>
        </p:spPr>
        <p:txBody>
          <a:bodyPr wrap="square" lIns="0" tIns="0" rIns="0" bIns="0" rtlCol="0" anchor="t">
            <a:normAutofit/>
          </a:bodyPr>
          <a:lstStyle/>
          <a:p>
            <a:pPr marL="0" indent="0" algn="ctr">
              <a:lnSpc>
                <a:spcPts val="5760"/>
              </a:lnSpc>
              <a:buNone/>
            </a:pPr>
            <a:r>
              <a:rPr lang="en-US" sz="3600" b="1" dirty="0">
                <a:solidFill>
                  <a:srgbClr val="14213D"/>
                </a:solidFill>
                <a:latin typeface="JetBrains Mono" pitchFamily="49" charset="0"/>
                <a:ea typeface="JetBrains Mono" pitchFamily="49" charset="-122"/>
                <a:cs typeface="JetBrains Mono" pitchFamily="49" charset="-120"/>
              </a:rPr>
              <a:t>B</a:t>
            </a:r>
            <a:endParaRPr lang="en-US" sz="3600" dirty="0"/>
          </a:p>
        </p:txBody>
      </p:sp>
      <p:sp>
        <p:nvSpPr>
          <p:cNvPr id="7" name="Text 5"/>
          <p:cNvSpPr/>
          <p:nvPr/>
        </p:nvSpPr>
        <p:spPr>
          <a:xfrm>
            <a:off x="3987800" y="1986280"/>
            <a:ext cx="762000" cy="731520"/>
          </a:xfrm>
          <a:custGeom>
            <a:avLst/>
            <a:gdLst/>
            <a:ahLst/>
            <a:cxnLst/>
            <a:rect l="l" t="t" r="r" b="b"/>
            <a:pathLst>
              <a:path w="762000" h="731520">
                <a:moveTo>
                  <a:pt x="101600" y="0"/>
                </a:moveTo>
                <a:lnTo>
                  <a:pt x="660400" y="0"/>
                </a:lnTo>
                <a:arcTo wR="101600" hR="101600" stAng="16200000" swAng="5400000"/>
                <a:lnTo>
                  <a:pt x="762000" y="629920"/>
                </a:lnTo>
                <a:arcTo wR="101600" hR="101600" stAng="0" swAng="5400000"/>
                <a:lnTo>
                  <a:pt x="101600" y="731520"/>
                </a:lnTo>
                <a:arcTo wR="101600" hR="101600" stAng="5400000" swAng="5400000"/>
                <a:lnTo>
                  <a:pt x="0" y="101600"/>
                </a:lnTo>
                <a:arcTo wR="101600" hR="101600" stAng="10800000" swAng="5400000"/>
                <a:close/>
              </a:path>
            </a:pathLst>
          </a:custGeom>
          <a:solidFill>
            <a:srgbClr val="E07A2E"/>
          </a:solidFill>
          <a:ln/>
        </p:spPr>
        <p:txBody>
          <a:bodyPr wrap="square" lIns="0" tIns="0" rIns="0" bIns="0" rtlCol="0" anchor="t">
            <a:normAutofit/>
          </a:bodyPr>
          <a:lstStyle/>
          <a:p>
            <a:pPr marL="0" indent="0" algn="ctr">
              <a:lnSpc>
                <a:spcPts val="5760"/>
              </a:lnSpc>
              <a:buNone/>
            </a:pPr>
            <a:r>
              <a:rPr lang="en-US" sz="3600" b="1" dirty="0">
                <a:solidFill>
                  <a:srgbClr val="14213D"/>
                </a:solidFill>
                <a:latin typeface="JetBrains Mono" pitchFamily="49" charset="0"/>
                <a:ea typeface="JetBrains Mono" pitchFamily="49" charset="-122"/>
                <a:cs typeface="JetBrains Mono" pitchFamily="49" charset="-120"/>
              </a:rPr>
              <a:t>C</a:t>
            </a:r>
            <a:endParaRPr lang="en-US" sz="3600" dirty="0"/>
          </a:p>
        </p:txBody>
      </p:sp>
      <p:sp>
        <p:nvSpPr>
          <p:cNvPr id="8" name="Text 6"/>
          <p:cNvSpPr/>
          <p:nvPr/>
        </p:nvSpPr>
        <p:spPr>
          <a:xfrm>
            <a:off x="4876800" y="1986280"/>
            <a:ext cx="762000" cy="731520"/>
          </a:xfrm>
          <a:custGeom>
            <a:avLst/>
            <a:gdLst/>
            <a:ahLst/>
            <a:cxnLst/>
            <a:rect l="l" t="t" r="r" b="b"/>
            <a:pathLst>
              <a:path w="762000" h="731520">
                <a:moveTo>
                  <a:pt x="101600" y="0"/>
                </a:moveTo>
                <a:lnTo>
                  <a:pt x="660400" y="0"/>
                </a:lnTo>
                <a:arcTo wR="101600" hR="101600" stAng="16200000" swAng="5400000"/>
                <a:lnTo>
                  <a:pt x="762000" y="629920"/>
                </a:lnTo>
                <a:arcTo wR="101600" hR="101600" stAng="0" swAng="5400000"/>
                <a:lnTo>
                  <a:pt x="101600" y="731520"/>
                </a:lnTo>
                <a:arcTo wR="101600" hR="101600" stAng="5400000" swAng="5400000"/>
                <a:lnTo>
                  <a:pt x="0" y="101600"/>
                </a:lnTo>
                <a:arcTo wR="101600" hR="101600" stAng="10800000" swAng="5400000"/>
                <a:close/>
              </a:path>
            </a:pathLst>
          </a:custGeom>
          <a:solidFill>
            <a:srgbClr val="E07A2E"/>
          </a:solidFill>
          <a:ln/>
        </p:spPr>
        <p:txBody>
          <a:bodyPr wrap="square" lIns="0" tIns="0" rIns="0" bIns="0" rtlCol="0" anchor="t">
            <a:normAutofit/>
          </a:bodyPr>
          <a:lstStyle/>
          <a:p>
            <a:pPr marL="0" indent="0" algn="ctr">
              <a:lnSpc>
                <a:spcPts val="5760"/>
              </a:lnSpc>
              <a:buNone/>
            </a:pPr>
            <a:r>
              <a:rPr lang="en-US" sz="3600" b="1" dirty="0">
                <a:solidFill>
                  <a:srgbClr val="14213D"/>
                </a:solidFill>
                <a:latin typeface="JetBrains Mono" pitchFamily="49" charset="0"/>
                <a:ea typeface="JetBrains Mono" pitchFamily="49" charset="-122"/>
                <a:cs typeface="JetBrains Mono" pitchFamily="49" charset="-120"/>
              </a:rPr>
              <a:t>B</a:t>
            </a:r>
            <a:endParaRPr lang="en-US" sz="3600" dirty="0"/>
          </a:p>
        </p:txBody>
      </p:sp>
      <p:sp>
        <p:nvSpPr>
          <p:cNvPr id="9" name="Text 7"/>
          <p:cNvSpPr/>
          <p:nvPr/>
        </p:nvSpPr>
        <p:spPr>
          <a:xfrm>
            <a:off x="812800" y="2966720"/>
            <a:ext cx="1320800" cy="66548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2F6FB0"/>
                </a:solidFill>
                <a:latin typeface="JetBrains Mono" pitchFamily="49" charset="0"/>
                <a:ea typeface="JetBrains Mono" pitchFamily="49" charset="-122"/>
                <a:cs typeface="JetBrains Mono" pitchFamily="49" charset="-120"/>
              </a:rPr>
              <a:t>Y =</a:t>
            </a:r>
            <a:endParaRPr lang="en-US" sz="3600" dirty="0"/>
          </a:p>
        </p:txBody>
      </p:sp>
      <p:sp>
        <p:nvSpPr>
          <p:cNvPr id="10" name="Text 8"/>
          <p:cNvSpPr/>
          <p:nvPr/>
        </p:nvSpPr>
        <p:spPr>
          <a:xfrm>
            <a:off x="2209800" y="2921000"/>
            <a:ext cx="762000" cy="731520"/>
          </a:xfrm>
          <a:custGeom>
            <a:avLst/>
            <a:gdLst/>
            <a:ahLst/>
            <a:cxnLst/>
            <a:rect l="l" t="t" r="r" b="b"/>
            <a:pathLst>
              <a:path w="762000" h="731520">
                <a:moveTo>
                  <a:pt x="101600" y="0"/>
                </a:moveTo>
                <a:lnTo>
                  <a:pt x="660400" y="0"/>
                </a:lnTo>
                <a:arcTo wR="101600" hR="101600" stAng="16200000" swAng="5400000"/>
                <a:lnTo>
                  <a:pt x="762000" y="629920"/>
                </a:lnTo>
                <a:arcTo wR="101600" hR="101600" stAng="0" swAng="5400000"/>
                <a:lnTo>
                  <a:pt x="101600" y="731520"/>
                </a:lnTo>
                <a:arcTo wR="101600" hR="101600" stAng="5400000" swAng="5400000"/>
                <a:lnTo>
                  <a:pt x="0" y="101600"/>
                </a:lnTo>
                <a:arcTo wR="101600" hR="101600" stAng="10800000" swAng="5400000"/>
                <a:close/>
              </a:path>
            </a:pathLst>
          </a:custGeom>
          <a:solidFill>
            <a:srgbClr val="E07A2E"/>
          </a:solidFill>
          <a:ln/>
        </p:spPr>
        <p:txBody>
          <a:bodyPr wrap="square" lIns="0" tIns="0" rIns="0" bIns="0" rtlCol="0" anchor="t">
            <a:normAutofit/>
          </a:bodyPr>
          <a:lstStyle/>
          <a:p>
            <a:pPr marL="0" indent="0" algn="ctr">
              <a:lnSpc>
                <a:spcPts val="5760"/>
              </a:lnSpc>
              <a:buNone/>
            </a:pPr>
            <a:r>
              <a:rPr lang="en-US" sz="3600" b="1" dirty="0">
                <a:solidFill>
                  <a:srgbClr val="14213D"/>
                </a:solidFill>
                <a:latin typeface="JetBrains Mono" pitchFamily="49" charset="0"/>
                <a:ea typeface="JetBrains Mono" pitchFamily="49" charset="-122"/>
                <a:cs typeface="JetBrains Mono" pitchFamily="49" charset="-120"/>
              </a:rPr>
              <a:t>B</a:t>
            </a:r>
            <a:endParaRPr lang="en-US" sz="3600" dirty="0"/>
          </a:p>
        </p:txBody>
      </p:sp>
      <p:sp>
        <p:nvSpPr>
          <p:cNvPr id="11" name="Text 9"/>
          <p:cNvSpPr/>
          <p:nvPr/>
        </p:nvSpPr>
        <p:spPr>
          <a:xfrm>
            <a:off x="3098800" y="2921000"/>
            <a:ext cx="762000" cy="731520"/>
          </a:xfrm>
          <a:custGeom>
            <a:avLst/>
            <a:gdLst/>
            <a:ahLst/>
            <a:cxnLst/>
            <a:rect l="l" t="t" r="r" b="b"/>
            <a:pathLst>
              <a:path w="762000" h="731520">
                <a:moveTo>
                  <a:pt x="101600" y="0"/>
                </a:moveTo>
                <a:lnTo>
                  <a:pt x="660400" y="0"/>
                </a:lnTo>
                <a:arcTo wR="101600" hR="101600" stAng="16200000" swAng="5400000"/>
                <a:lnTo>
                  <a:pt x="762000" y="629920"/>
                </a:lnTo>
                <a:arcTo wR="101600" hR="101600" stAng="0" swAng="5400000"/>
                <a:lnTo>
                  <a:pt x="101600" y="731520"/>
                </a:lnTo>
                <a:arcTo wR="101600" hR="101600" stAng="5400000" swAng="5400000"/>
                <a:lnTo>
                  <a:pt x="0" y="101600"/>
                </a:lnTo>
                <a:arcTo wR="101600" hR="101600" stAng="10800000" swAng="5400000"/>
                <a:close/>
              </a:path>
            </a:pathLst>
          </a:custGeom>
          <a:solidFill>
            <a:srgbClr val="E07A2E"/>
          </a:solidFill>
          <a:ln/>
        </p:spPr>
        <p:txBody>
          <a:bodyPr wrap="square" lIns="0" tIns="0" rIns="0" bIns="0" rtlCol="0" anchor="t">
            <a:normAutofit/>
          </a:bodyPr>
          <a:lstStyle/>
          <a:p>
            <a:pPr marL="0" indent="0" algn="ctr">
              <a:lnSpc>
                <a:spcPts val="5760"/>
              </a:lnSpc>
              <a:buNone/>
            </a:pPr>
            <a:r>
              <a:rPr lang="en-US" sz="3600" b="1" dirty="0">
                <a:solidFill>
                  <a:srgbClr val="14213D"/>
                </a:solidFill>
                <a:latin typeface="JetBrains Mono" pitchFamily="49" charset="0"/>
                <a:ea typeface="JetBrains Mono" pitchFamily="49" charset="-122"/>
                <a:cs typeface="JetBrains Mono" pitchFamily="49" charset="-120"/>
              </a:rPr>
              <a:t>C</a:t>
            </a:r>
            <a:endParaRPr lang="en-US" sz="3600" dirty="0"/>
          </a:p>
        </p:txBody>
      </p:sp>
      <p:sp>
        <p:nvSpPr>
          <p:cNvPr id="12" name="Text 10"/>
          <p:cNvSpPr/>
          <p:nvPr/>
        </p:nvSpPr>
        <p:spPr>
          <a:xfrm>
            <a:off x="3987800" y="2921000"/>
            <a:ext cx="762000" cy="731520"/>
          </a:xfrm>
          <a:custGeom>
            <a:avLst/>
            <a:gdLst/>
            <a:ahLst/>
            <a:cxnLst/>
            <a:rect l="l" t="t" r="r" b="b"/>
            <a:pathLst>
              <a:path w="762000" h="731520">
                <a:moveTo>
                  <a:pt x="101600" y="0"/>
                </a:moveTo>
                <a:lnTo>
                  <a:pt x="660400" y="0"/>
                </a:lnTo>
                <a:arcTo wR="101600" hR="101600" stAng="16200000" swAng="5400000"/>
                <a:lnTo>
                  <a:pt x="762000" y="629920"/>
                </a:lnTo>
                <a:arcTo wR="101600" hR="101600" stAng="0" swAng="5400000"/>
                <a:lnTo>
                  <a:pt x="101600" y="731520"/>
                </a:lnTo>
                <a:arcTo wR="101600" hR="101600" stAng="5400000" swAng="5400000"/>
                <a:lnTo>
                  <a:pt x="0" y="101600"/>
                </a:lnTo>
                <a:arcTo wR="101600" hR="101600" stAng="10800000" swAng="5400000"/>
                <a:close/>
              </a:path>
            </a:pathLst>
          </a:custGeom>
          <a:solidFill>
            <a:srgbClr val="FDFCF9"/>
          </a:solidFill>
          <a:ln/>
        </p:spPr>
        <p:txBody>
          <a:bodyPr wrap="square" lIns="0" tIns="0" rIns="0" bIns="0" rtlCol="0" anchor="t">
            <a:normAutofit/>
          </a:bodyPr>
          <a:lstStyle/>
          <a:p>
            <a:pPr marL="0" indent="0" algn="ctr">
              <a:lnSpc>
                <a:spcPts val="5760"/>
              </a:lnSpc>
              <a:buNone/>
            </a:pPr>
            <a:r>
              <a:rPr lang="en-US" sz="3600" b="1" dirty="0">
                <a:solidFill>
                  <a:srgbClr val="8A93A3"/>
                </a:solidFill>
                <a:latin typeface="JetBrains Mono" pitchFamily="49" charset="0"/>
                <a:ea typeface="JetBrains Mono" pitchFamily="49" charset="-122"/>
                <a:cs typeface="JetBrains Mono" pitchFamily="49" charset="-120"/>
              </a:rPr>
              <a:t>A</a:t>
            </a:r>
            <a:endParaRPr lang="en-US" sz="3600" dirty="0"/>
          </a:p>
        </p:txBody>
      </p:sp>
      <p:sp>
        <p:nvSpPr>
          <p:cNvPr id="13" name="Text 11"/>
          <p:cNvSpPr/>
          <p:nvPr/>
        </p:nvSpPr>
        <p:spPr>
          <a:xfrm>
            <a:off x="4876800" y="2921000"/>
            <a:ext cx="762000" cy="731520"/>
          </a:xfrm>
          <a:custGeom>
            <a:avLst/>
            <a:gdLst/>
            <a:ahLst/>
            <a:cxnLst/>
            <a:rect l="l" t="t" r="r" b="b"/>
            <a:pathLst>
              <a:path w="762000" h="731520">
                <a:moveTo>
                  <a:pt x="101600" y="0"/>
                </a:moveTo>
                <a:lnTo>
                  <a:pt x="660400" y="0"/>
                </a:lnTo>
                <a:arcTo wR="101600" hR="101600" stAng="16200000" swAng="5400000"/>
                <a:lnTo>
                  <a:pt x="762000" y="629920"/>
                </a:lnTo>
                <a:arcTo wR="101600" hR="101600" stAng="0" swAng="5400000"/>
                <a:lnTo>
                  <a:pt x="101600" y="731520"/>
                </a:lnTo>
                <a:arcTo wR="101600" hR="101600" stAng="5400000" swAng="5400000"/>
                <a:lnTo>
                  <a:pt x="0" y="101600"/>
                </a:lnTo>
                <a:arcTo wR="101600" hR="101600" stAng="10800000" swAng="5400000"/>
                <a:close/>
              </a:path>
            </a:pathLst>
          </a:custGeom>
          <a:solidFill>
            <a:srgbClr val="E07A2E"/>
          </a:solidFill>
          <a:ln/>
        </p:spPr>
        <p:txBody>
          <a:bodyPr wrap="square" lIns="0" tIns="0" rIns="0" bIns="0" rtlCol="0" anchor="t">
            <a:normAutofit/>
          </a:bodyPr>
          <a:lstStyle/>
          <a:p>
            <a:pPr marL="0" indent="0" algn="ctr">
              <a:lnSpc>
                <a:spcPts val="5760"/>
              </a:lnSpc>
              <a:buNone/>
            </a:pPr>
            <a:r>
              <a:rPr lang="en-US" sz="3600" b="1" dirty="0">
                <a:solidFill>
                  <a:srgbClr val="14213D"/>
                </a:solidFill>
                <a:latin typeface="JetBrains Mono" pitchFamily="49" charset="0"/>
                <a:ea typeface="JetBrains Mono" pitchFamily="49" charset="-122"/>
                <a:cs typeface="JetBrains Mono" pitchFamily="49" charset="-120"/>
              </a:rPr>
              <a:t>B</a:t>
            </a:r>
            <a:endParaRPr lang="en-US" sz="3600" dirty="0"/>
          </a:p>
        </p:txBody>
      </p:sp>
      <p:sp>
        <p:nvSpPr>
          <p:cNvPr id="14" name="Text 12"/>
          <p:cNvSpPr/>
          <p:nvPr/>
        </p:nvSpPr>
        <p:spPr>
          <a:xfrm>
            <a:off x="812800" y="4008120"/>
            <a:ext cx="10883392" cy="75184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4A5568"/>
                </a:solidFill>
                <a:latin typeface="IBM Plex Sans" pitchFamily="34" charset="0"/>
                <a:ea typeface="IBM Plex Sans" pitchFamily="34" charset="-122"/>
                <a:cs typeface="IBM Plex Sans" pitchFamily="34" charset="-120"/>
              </a:rPr>
              <a:t>As letras </a:t>
            </a:r>
            <a:r>
              <a:rPr lang="en-US" sz="2200" b="1" dirty="0">
                <a:solidFill>
                  <a:srgbClr val="14213D"/>
                </a:solidFill>
                <a:latin typeface="IBM Plex Sans" pitchFamily="34" charset="0"/>
                <a:ea typeface="IBM Plex Sans" pitchFamily="34" charset="-122"/>
                <a:cs typeface="IBM Plex Sans" pitchFamily="34" charset="-120"/>
              </a:rPr>
              <a:t>B, C, B</a:t>
            </a:r>
            <a:r>
              <a:rPr lang="en-US" sz="2200" dirty="0">
                <a:solidFill>
                  <a:srgbClr val="4A5568"/>
                </a:solidFill>
                <a:latin typeface="IBM Plex Sans" pitchFamily="34" charset="0"/>
                <a:ea typeface="IBM Plex Sans" pitchFamily="34" charset="-122"/>
                <a:cs typeface="IBM Plex Sans" pitchFamily="34" charset="-120"/>
              </a:rPr>
              <a:t> aparecem nas duas palavras, nessa ordem. No Y, o A no meio é simplesmente pulado.</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541B"/>
                </a:solidFill>
                <a:latin typeface="IBM Plex Sans" pitchFamily="34" charset="0"/>
                <a:ea typeface="IBM Plex Sans" pitchFamily="34" charset="-122"/>
                <a:cs typeface="IBM Plex Sans" pitchFamily="34" charset="-120"/>
              </a:rPr>
              <a:t>1 · QUAL É O PROBLEMA?</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Subsequência não é substring</a:t>
            </a:r>
            <a:endParaRPr lang="en-US" sz="3600" dirty="0"/>
          </a:p>
        </p:txBody>
      </p:sp>
      <p:sp>
        <p:nvSpPr>
          <p:cNvPr id="4" name="Shape 2"/>
          <p:cNvSpPr/>
          <p:nvPr/>
        </p:nvSpPr>
        <p:spPr>
          <a:xfrm>
            <a:off x="812800" y="1986280"/>
            <a:ext cx="5181600" cy="4058920"/>
          </a:xfrm>
          <a:prstGeom prst="roundRect">
            <a:avLst>
              <a:gd name="adj" fmla="val 3755"/>
            </a:avLst>
          </a:prstGeom>
          <a:solidFill>
            <a:srgbClr val="FDFCF9"/>
          </a:solidFill>
          <a:ln/>
        </p:spPr>
        <p:txBody>
          <a:bodyPr/>
          <a:lstStyle/>
          <a:p>
            <a:endParaRPr lang="pt-BR"/>
          </a:p>
        </p:txBody>
      </p:sp>
      <p:pic>
        <p:nvPicPr>
          <p:cNvPr id="5" name="Image 0" descr="CheckCircle"/>
          <p:cNvPicPr>
            <a:picLocks noChangeAspect="1"/>
          </p:cNvPicPr>
          <p:nvPr/>
        </p:nvPicPr>
        <p:blipFill>
          <a:blip r:embed="rId3"/>
          <a:srcRect/>
          <a:stretch/>
        </p:blipFill>
        <p:spPr>
          <a:xfrm>
            <a:off x="1168400" y="2341880"/>
            <a:ext cx="355600" cy="355600"/>
          </a:xfrm>
          <a:prstGeom prst="rect">
            <a:avLst/>
          </a:prstGeom>
        </p:spPr>
      </p:pic>
      <p:sp>
        <p:nvSpPr>
          <p:cNvPr id="6" name="Text 3"/>
          <p:cNvSpPr/>
          <p:nvPr/>
        </p:nvSpPr>
        <p:spPr>
          <a:xfrm>
            <a:off x="1651000" y="2352041"/>
            <a:ext cx="2295049"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Subsequência</a:t>
            </a:r>
            <a:endParaRPr lang="en-US" sz="2200" dirty="0"/>
          </a:p>
        </p:txBody>
      </p:sp>
      <p:sp>
        <p:nvSpPr>
          <p:cNvPr id="7" name="Text 4"/>
          <p:cNvSpPr/>
          <p:nvPr/>
        </p:nvSpPr>
        <p:spPr>
          <a:xfrm>
            <a:off x="1168400" y="2849880"/>
            <a:ext cx="460451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Pode </a:t>
            </a:r>
            <a:r>
              <a:rPr lang="en-US" sz="1600" b="1" dirty="0">
                <a:solidFill>
                  <a:srgbClr val="14213D"/>
                </a:solidFill>
                <a:latin typeface="IBM Plex Sans" pitchFamily="34" charset="0"/>
                <a:ea typeface="IBM Plex Sans" pitchFamily="34" charset="-122"/>
                <a:cs typeface="IBM Plex Sans" pitchFamily="34" charset="-120"/>
              </a:rPr>
              <a:t>pular letras</a:t>
            </a:r>
            <a:r>
              <a:rPr lang="en-US" sz="1600" dirty="0">
                <a:solidFill>
                  <a:srgbClr val="4A5568"/>
                </a:solidFill>
                <a:latin typeface="IBM Plex Sans" pitchFamily="34" charset="0"/>
                <a:ea typeface="IBM Plex Sans" pitchFamily="34" charset="-122"/>
                <a:cs typeface="IBM Plex Sans" pitchFamily="34" charset="-120"/>
              </a:rPr>
              <a:t>, mas mantém a ordem.</a:t>
            </a:r>
            <a:endParaRPr lang="en-US" sz="1600" dirty="0"/>
          </a:p>
        </p:txBody>
      </p:sp>
      <p:sp>
        <p:nvSpPr>
          <p:cNvPr id="8" name="Text 5"/>
          <p:cNvSpPr/>
          <p:nvPr/>
        </p:nvSpPr>
        <p:spPr>
          <a:xfrm>
            <a:off x="1168400" y="3286761"/>
            <a:ext cx="4604512"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F6FB0"/>
                </a:solidFill>
                <a:latin typeface="JetBrains Mono" pitchFamily="49" charset="0"/>
                <a:ea typeface="JetBrains Mono" pitchFamily="49" charset="-122"/>
                <a:cs typeface="JetBrains Mono" pitchFamily="49" charset="-120"/>
              </a:rPr>
              <a:t>A</a:t>
            </a:r>
            <a:r>
              <a:rPr lang="en-US" sz="2200" b="1" dirty="0">
                <a:solidFill>
                  <a:srgbClr val="14213D"/>
                </a:solidFill>
                <a:latin typeface="JetBrains Mono" pitchFamily="49" charset="0"/>
                <a:ea typeface="JetBrains Mono" pitchFamily="49" charset="-122"/>
                <a:cs typeface="JetBrains Mono" pitchFamily="49" charset="-120"/>
              </a:rPr>
              <a:t>B</a:t>
            </a:r>
            <a:r>
              <a:rPr lang="en-US" sz="2200" b="1" dirty="0">
                <a:solidFill>
                  <a:srgbClr val="2F6FB0"/>
                </a:solidFill>
                <a:latin typeface="JetBrains Mono" pitchFamily="49" charset="0"/>
                <a:ea typeface="JetBrains Mono" pitchFamily="49" charset="-122"/>
                <a:cs typeface="JetBrains Mono" pitchFamily="49" charset="-120"/>
              </a:rPr>
              <a:t>C</a:t>
            </a:r>
            <a:r>
              <a:rPr lang="en-US" sz="2200" b="1" dirty="0">
                <a:solidFill>
                  <a:srgbClr val="14213D"/>
                </a:solidFill>
                <a:latin typeface="JetBrains Mono" pitchFamily="49" charset="0"/>
                <a:ea typeface="JetBrains Mono" pitchFamily="49" charset="-122"/>
                <a:cs typeface="JetBrains Mono" pitchFamily="49" charset="-120"/>
              </a:rPr>
              <a:t>D</a:t>
            </a:r>
            <a:r>
              <a:rPr lang="en-US" sz="2200" b="1" dirty="0">
                <a:solidFill>
                  <a:srgbClr val="2F6FB0"/>
                </a:solidFill>
                <a:latin typeface="JetBrains Mono" pitchFamily="49" charset="0"/>
                <a:ea typeface="JetBrains Mono" pitchFamily="49" charset="-122"/>
                <a:cs typeface="JetBrains Mono" pitchFamily="49" charset="-120"/>
              </a:rPr>
              <a:t>E</a:t>
            </a:r>
            <a:endParaRPr lang="en-US" sz="2200" dirty="0"/>
          </a:p>
        </p:txBody>
      </p:sp>
      <p:sp>
        <p:nvSpPr>
          <p:cNvPr id="9" name="Text 6"/>
          <p:cNvSpPr/>
          <p:nvPr/>
        </p:nvSpPr>
        <p:spPr>
          <a:xfrm>
            <a:off x="1168400" y="3830320"/>
            <a:ext cx="460451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“ACE” </a:t>
            </a:r>
            <a:r>
              <a:rPr lang="en-US" sz="1600" b="1" dirty="0">
                <a:solidFill>
                  <a:srgbClr val="14213D"/>
                </a:solidFill>
                <a:latin typeface="IBM Plex Sans" pitchFamily="34" charset="0"/>
                <a:ea typeface="IBM Plex Sans" pitchFamily="34" charset="-122"/>
                <a:cs typeface="IBM Plex Sans" pitchFamily="34" charset="-120"/>
              </a:rPr>
              <a:t>é</a:t>
            </a:r>
            <a:r>
              <a:rPr lang="en-US" sz="1600" dirty="0">
                <a:solidFill>
                  <a:srgbClr val="4A5568"/>
                </a:solidFill>
                <a:latin typeface="IBM Plex Sans" pitchFamily="34" charset="0"/>
                <a:ea typeface="IBM Plex Sans" pitchFamily="34" charset="-122"/>
                <a:cs typeface="IBM Plex Sans" pitchFamily="34" charset="-120"/>
              </a:rPr>
              <a:t> subsequência de “ABCDE”.</a:t>
            </a:r>
            <a:endParaRPr lang="en-US" sz="1600" dirty="0"/>
          </a:p>
        </p:txBody>
      </p:sp>
      <p:sp>
        <p:nvSpPr>
          <p:cNvPr id="10" name="Shape 7"/>
          <p:cNvSpPr/>
          <p:nvPr/>
        </p:nvSpPr>
        <p:spPr>
          <a:xfrm>
            <a:off x="6197600" y="1986280"/>
            <a:ext cx="5181600" cy="4058920"/>
          </a:xfrm>
          <a:prstGeom prst="roundRect">
            <a:avLst>
              <a:gd name="adj" fmla="val 3755"/>
            </a:avLst>
          </a:prstGeom>
          <a:solidFill>
            <a:srgbClr val="EDE9DF"/>
          </a:solidFill>
          <a:ln/>
        </p:spPr>
        <p:txBody>
          <a:bodyPr/>
          <a:lstStyle/>
          <a:p>
            <a:endParaRPr lang="pt-BR"/>
          </a:p>
        </p:txBody>
      </p:sp>
      <p:pic>
        <p:nvPicPr>
          <p:cNvPr id="11" name="Image 1" descr="Warning"/>
          <p:cNvPicPr>
            <a:picLocks noChangeAspect="1"/>
          </p:cNvPicPr>
          <p:nvPr/>
        </p:nvPicPr>
        <p:blipFill>
          <a:blip r:embed="rId4"/>
          <a:srcRect/>
          <a:stretch/>
        </p:blipFill>
        <p:spPr>
          <a:xfrm>
            <a:off x="6553200" y="2341880"/>
            <a:ext cx="355600" cy="355600"/>
          </a:xfrm>
          <a:prstGeom prst="rect">
            <a:avLst/>
          </a:prstGeom>
        </p:spPr>
      </p:pic>
      <p:sp>
        <p:nvSpPr>
          <p:cNvPr id="12" name="Text 8"/>
          <p:cNvSpPr/>
          <p:nvPr/>
        </p:nvSpPr>
        <p:spPr>
          <a:xfrm>
            <a:off x="7035800" y="2352041"/>
            <a:ext cx="1589151"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Substring</a:t>
            </a:r>
            <a:endParaRPr lang="en-US" sz="2200" dirty="0"/>
          </a:p>
        </p:txBody>
      </p:sp>
      <p:sp>
        <p:nvSpPr>
          <p:cNvPr id="13" name="Text 9"/>
          <p:cNvSpPr/>
          <p:nvPr/>
        </p:nvSpPr>
        <p:spPr>
          <a:xfrm>
            <a:off x="6553200" y="2849880"/>
            <a:ext cx="460451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Precisa ser </a:t>
            </a:r>
            <a:r>
              <a:rPr lang="en-US" sz="1600" b="1" dirty="0">
                <a:solidFill>
                  <a:srgbClr val="14213D"/>
                </a:solidFill>
                <a:latin typeface="IBM Plex Sans" pitchFamily="34" charset="0"/>
                <a:ea typeface="IBM Plex Sans" pitchFamily="34" charset="-122"/>
                <a:cs typeface="IBM Plex Sans" pitchFamily="34" charset="-120"/>
              </a:rPr>
              <a:t>contínua</a:t>
            </a:r>
            <a:r>
              <a:rPr lang="en-US" sz="1600" dirty="0">
                <a:solidFill>
                  <a:srgbClr val="4A5568"/>
                </a:solidFill>
                <a:latin typeface="IBM Plex Sans" pitchFamily="34" charset="0"/>
                <a:ea typeface="IBM Plex Sans" pitchFamily="34" charset="-122"/>
                <a:cs typeface="IBM Plex Sans" pitchFamily="34" charset="-120"/>
              </a:rPr>
              <a:t>, sem pular nada.</a:t>
            </a:r>
            <a:endParaRPr lang="en-US" sz="1600" dirty="0"/>
          </a:p>
        </p:txBody>
      </p:sp>
      <p:sp>
        <p:nvSpPr>
          <p:cNvPr id="14" name="Text 10"/>
          <p:cNvSpPr/>
          <p:nvPr/>
        </p:nvSpPr>
        <p:spPr>
          <a:xfrm>
            <a:off x="6553200" y="3286761"/>
            <a:ext cx="4604512"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541B"/>
                </a:solidFill>
                <a:latin typeface="JetBrains Mono" pitchFamily="49" charset="0"/>
                <a:ea typeface="JetBrains Mono" pitchFamily="49" charset="-122"/>
                <a:cs typeface="JetBrains Mono" pitchFamily="49" charset="-120"/>
              </a:rPr>
              <a:t>BCD</a:t>
            </a:r>
            <a:r>
              <a:rPr lang="en-US" sz="2200" b="1" dirty="0">
                <a:solidFill>
                  <a:srgbClr val="8A93A3"/>
                </a:solidFill>
                <a:latin typeface="JetBrains Mono" pitchFamily="49" charset="0"/>
                <a:ea typeface="JetBrains Mono" pitchFamily="49" charset="-122"/>
                <a:cs typeface="JetBrains Mono" pitchFamily="49" charset="-120"/>
              </a:rPr>
              <a:t>E</a:t>
            </a:r>
            <a:endParaRPr lang="en-US" sz="2200" dirty="0"/>
          </a:p>
        </p:txBody>
      </p:sp>
      <p:sp>
        <p:nvSpPr>
          <p:cNvPr id="15" name="Text 11"/>
          <p:cNvSpPr/>
          <p:nvPr/>
        </p:nvSpPr>
        <p:spPr>
          <a:xfrm>
            <a:off x="6553200" y="3830320"/>
            <a:ext cx="460451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“ACE” </a:t>
            </a:r>
            <a:r>
              <a:rPr lang="en-US" sz="1600" b="1" dirty="0">
                <a:solidFill>
                  <a:srgbClr val="14213D"/>
                </a:solidFill>
                <a:latin typeface="IBM Plex Sans" pitchFamily="34" charset="0"/>
                <a:ea typeface="IBM Plex Sans" pitchFamily="34" charset="-122"/>
                <a:cs typeface="IBM Plex Sans" pitchFamily="34" charset="-120"/>
              </a:rPr>
              <a:t>não é</a:t>
            </a:r>
            <a:r>
              <a:rPr lang="en-US" sz="1600" dirty="0">
                <a:solidFill>
                  <a:srgbClr val="4A5568"/>
                </a:solidFill>
                <a:latin typeface="IBM Plex Sans" pitchFamily="34" charset="0"/>
                <a:ea typeface="IBM Plex Sans" pitchFamily="34" charset="-122"/>
                <a:cs typeface="IBM Plex Sans" pitchFamily="34" charset="-120"/>
              </a:rPr>
              <a:t> substring de “ABCDE”; “BCD” é.</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541B"/>
                </a:solidFill>
                <a:latin typeface="IBM Plex Sans" pitchFamily="34" charset="0"/>
                <a:ea typeface="IBM Plex Sans" pitchFamily="34" charset="-122"/>
                <a:cs typeface="IBM Plex Sans" pitchFamily="34" charset="-120"/>
              </a:rPr>
              <a:t>1 · QUAL É O PROBLEMA?</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Onde isso aparece de verdade</a:t>
            </a:r>
            <a:endParaRPr lang="en-US" sz="3600" dirty="0"/>
          </a:p>
        </p:txBody>
      </p:sp>
      <p:sp>
        <p:nvSpPr>
          <p:cNvPr id="4" name="Shape 2"/>
          <p:cNvSpPr/>
          <p:nvPr/>
        </p:nvSpPr>
        <p:spPr>
          <a:xfrm>
            <a:off x="812800" y="1986282"/>
            <a:ext cx="3386614" cy="4058920"/>
          </a:xfrm>
          <a:prstGeom prst="roundRect">
            <a:avLst>
              <a:gd name="adj" fmla="val 4500"/>
            </a:avLst>
          </a:prstGeom>
          <a:solidFill>
            <a:srgbClr val="FDFCF9"/>
          </a:solidFill>
          <a:ln/>
        </p:spPr>
        <p:txBody>
          <a:bodyPr/>
          <a:lstStyle/>
          <a:p>
            <a:endParaRPr lang="pt-BR"/>
          </a:p>
        </p:txBody>
      </p:sp>
      <p:pic>
        <p:nvPicPr>
          <p:cNvPr id="5" name="Image 0" descr="Code"/>
          <p:cNvPicPr>
            <a:picLocks noChangeAspect="1"/>
          </p:cNvPicPr>
          <p:nvPr/>
        </p:nvPicPr>
        <p:blipFill>
          <a:blip r:embed="rId3"/>
          <a:srcRect/>
          <a:stretch/>
        </p:blipFill>
        <p:spPr>
          <a:xfrm>
            <a:off x="1117600" y="2291082"/>
            <a:ext cx="457200" cy="457200"/>
          </a:xfrm>
          <a:prstGeom prst="rect">
            <a:avLst/>
          </a:prstGeom>
        </p:spPr>
      </p:pic>
      <p:sp>
        <p:nvSpPr>
          <p:cNvPr id="6" name="Text 3"/>
          <p:cNvSpPr/>
          <p:nvPr/>
        </p:nvSpPr>
        <p:spPr>
          <a:xfrm>
            <a:off x="1117600" y="2900682"/>
            <a:ext cx="2860324"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diff e Git</a:t>
            </a:r>
            <a:endParaRPr lang="en-US" sz="2200" dirty="0"/>
          </a:p>
        </p:txBody>
      </p:sp>
      <p:sp>
        <p:nvSpPr>
          <p:cNvPr id="7" name="Text 4"/>
          <p:cNvSpPr/>
          <p:nvPr/>
        </p:nvSpPr>
        <p:spPr>
          <a:xfrm>
            <a:off x="1117600" y="3388361"/>
            <a:ext cx="2860324"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Comparam duas versões de um arquivo e mostram quais linhas mudaram.</a:t>
            </a:r>
            <a:endParaRPr lang="en-US" sz="1600" dirty="0"/>
          </a:p>
        </p:txBody>
      </p:sp>
      <p:sp>
        <p:nvSpPr>
          <p:cNvPr id="8" name="Shape 5"/>
          <p:cNvSpPr/>
          <p:nvPr/>
        </p:nvSpPr>
        <p:spPr>
          <a:xfrm>
            <a:off x="4402614" y="1986282"/>
            <a:ext cx="3386693" cy="4058920"/>
          </a:xfrm>
          <a:prstGeom prst="roundRect">
            <a:avLst>
              <a:gd name="adj" fmla="val 4500"/>
            </a:avLst>
          </a:prstGeom>
          <a:solidFill>
            <a:srgbClr val="FDFCF9"/>
          </a:solidFill>
          <a:ln/>
        </p:spPr>
        <p:txBody>
          <a:bodyPr/>
          <a:lstStyle/>
          <a:p>
            <a:endParaRPr lang="pt-BR"/>
          </a:p>
        </p:txBody>
      </p:sp>
      <p:pic>
        <p:nvPicPr>
          <p:cNvPr id="9" name="Image 1" descr="Activity"/>
          <p:cNvPicPr>
            <a:picLocks noChangeAspect="1"/>
          </p:cNvPicPr>
          <p:nvPr/>
        </p:nvPicPr>
        <p:blipFill>
          <a:blip r:embed="rId4"/>
          <a:srcRect/>
          <a:stretch/>
        </p:blipFill>
        <p:spPr>
          <a:xfrm>
            <a:off x="4707414" y="2291082"/>
            <a:ext cx="457200" cy="457200"/>
          </a:xfrm>
          <a:prstGeom prst="rect">
            <a:avLst/>
          </a:prstGeom>
        </p:spPr>
      </p:pic>
      <p:sp>
        <p:nvSpPr>
          <p:cNvPr id="10" name="Text 6"/>
          <p:cNvSpPr/>
          <p:nvPr/>
        </p:nvSpPr>
        <p:spPr>
          <a:xfrm>
            <a:off x="4707414" y="2900682"/>
            <a:ext cx="2860406"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Bioinformática</a:t>
            </a:r>
            <a:endParaRPr lang="en-US" sz="2200" dirty="0"/>
          </a:p>
        </p:txBody>
      </p:sp>
      <p:sp>
        <p:nvSpPr>
          <p:cNvPr id="11" name="Text 7"/>
          <p:cNvSpPr/>
          <p:nvPr/>
        </p:nvSpPr>
        <p:spPr>
          <a:xfrm>
            <a:off x="4707414" y="3388361"/>
            <a:ext cx="2860406"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Compara sequências de DNA para medir o quanto se parecem.</a:t>
            </a:r>
            <a:endParaRPr lang="en-US" sz="1600" dirty="0"/>
          </a:p>
        </p:txBody>
      </p:sp>
      <p:sp>
        <p:nvSpPr>
          <p:cNvPr id="12" name="Shape 8"/>
          <p:cNvSpPr/>
          <p:nvPr/>
        </p:nvSpPr>
        <p:spPr>
          <a:xfrm>
            <a:off x="7992507" y="1986282"/>
            <a:ext cx="3386693" cy="4058920"/>
          </a:xfrm>
          <a:prstGeom prst="roundRect">
            <a:avLst>
              <a:gd name="adj" fmla="val 4500"/>
            </a:avLst>
          </a:prstGeom>
          <a:solidFill>
            <a:srgbClr val="FDFCF9"/>
          </a:solidFill>
          <a:ln/>
        </p:spPr>
        <p:txBody>
          <a:bodyPr/>
          <a:lstStyle/>
          <a:p>
            <a:endParaRPr lang="pt-BR"/>
          </a:p>
        </p:txBody>
      </p:sp>
      <p:pic>
        <p:nvPicPr>
          <p:cNvPr id="13" name="Image 2" descr="Book"/>
          <p:cNvPicPr>
            <a:picLocks noChangeAspect="1"/>
          </p:cNvPicPr>
          <p:nvPr/>
        </p:nvPicPr>
        <p:blipFill>
          <a:blip r:embed="rId5"/>
          <a:srcRect/>
          <a:stretch/>
        </p:blipFill>
        <p:spPr>
          <a:xfrm>
            <a:off x="8297307" y="2291082"/>
            <a:ext cx="457200" cy="457200"/>
          </a:xfrm>
          <a:prstGeom prst="rect">
            <a:avLst/>
          </a:prstGeom>
        </p:spPr>
      </p:pic>
      <p:sp>
        <p:nvSpPr>
          <p:cNvPr id="14" name="Text 9"/>
          <p:cNvSpPr/>
          <p:nvPr/>
        </p:nvSpPr>
        <p:spPr>
          <a:xfrm>
            <a:off x="8297307" y="2900682"/>
            <a:ext cx="2860406"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Plágio</a:t>
            </a:r>
            <a:endParaRPr lang="en-US" sz="2200" dirty="0"/>
          </a:p>
        </p:txBody>
      </p:sp>
      <p:sp>
        <p:nvSpPr>
          <p:cNvPr id="15" name="Text 10"/>
          <p:cNvSpPr/>
          <p:nvPr/>
        </p:nvSpPr>
        <p:spPr>
          <a:xfrm>
            <a:off x="8297307" y="3388361"/>
            <a:ext cx="2860406"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Detecta trechos parecidos entre dois textos ou códigos.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9D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541B"/>
                </a:solidFill>
                <a:latin typeface="IBM Plex Sans" pitchFamily="34" charset="0"/>
                <a:ea typeface="IBM Plex Sans" pitchFamily="34" charset="-122"/>
                <a:cs typeface="IBM Plex Sans" pitchFamily="34" charset="-120"/>
              </a:rPr>
              <a:t>2 · O QUE O ALGORITMO RESOLVE?</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Entrada, saída e objetivo</a:t>
            </a:r>
            <a:endParaRPr lang="en-US" sz="3600" dirty="0"/>
          </a:p>
        </p:txBody>
      </p:sp>
      <p:sp>
        <p:nvSpPr>
          <p:cNvPr id="4" name="Shape 2"/>
          <p:cNvSpPr/>
          <p:nvPr/>
        </p:nvSpPr>
        <p:spPr>
          <a:xfrm>
            <a:off x="812800" y="1986282"/>
            <a:ext cx="3386614" cy="4058920"/>
          </a:xfrm>
          <a:prstGeom prst="roundRect">
            <a:avLst>
              <a:gd name="adj" fmla="val 4500"/>
            </a:avLst>
          </a:prstGeom>
          <a:solidFill>
            <a:srgbClr val="FDFCF9"/>
          </a:solidFill>
          <a:ln/>
        </p:spPr>
        <p:txBody>
          <a:bodyPr/>
          <a:lstStyle/>
          <a:p>
            <a:endParaRPr lang="pt-BR"/>
          </a:p>
        </p:txBody>
      </p:sp>
      <p:sp>
        <p:nvSpPr>
          <p:cNvPr id="5" name="Text 3"/>
          <p:cNvSpPr/>
          <p:nvPr/>
        </p:nvSpPr>
        <p:spPr>
          <a:xfrm>
            <a:off x="1117600" y="2291082"/>
            <a:ext cx="286032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FB0"/>
                </a:solidFill>
                <a:latin typeface="IBM Plex Sans" pitchFamily="34" charset="0"/>
                <a:ea typeface="IBM Plex Sans" pitchFamily="34" charset="-122"/>
                <a:cs typeface="IBM Plex Sans" pitchFamily="34" charset="-120"/>
              </a:rPr>
              <a:t>ENTRADA</a:t>
            </a:r>
            <a:endParaRPr lang="en-US" sz="1200" dirty="0"/>
          </a:p>
        </p:txBody>
      </p:sp>
      <p:sp>
        <p:nvSpPr>
          <p:cNvPr id="6" name="Text 4"/>
          <p:cNvSpPr/>
          <p:nvPr/>
        </p:nvSpPr>
        <p:spPr>
          <a:xfrm>
            <a:off x="1117600" y="2656839"/>
            <a:ext cx="2860324" cy="6959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Duas sequências X e Y</a:t>
            </a:r>
            <a:endParaRPr lang="en-US" sz="2200" dirty="0"/>
          </a:p>
        </p:txBody>
      </p:sp>
      <p:sp>
        <p:nvSpPr>
          <p:cNvPr id="7" name="Text 5"/>
          <p:cNvSpPr/>
          <p:nvPr/>
        </p:nvSpPr>
        <p:spPr>
          <a:xfrm>
            <a:off x="1117600" y="3479800"/>
            <a:ext cx="2860324"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X com m letras e Y com n letras.</a:t>
            </a:r>
            <a:endParaRPr lang="en-US" sz="1600" dirty="0"/>
          </a:p>
        </p:txBody>
      </p:sp>
      <p:sp>
        <p:nvSpPr>
          <p:cNvPr id="8" name="Text 6"/>
          <p:cNvSpPr/>
          <p:nvPr/>
        </p:nvSpPr>
        <p:spPr>
          <a:xfrm>
            <a:off x="1117600" y="5130800"/>
            <a:ext cx="2860324" cy="6350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14213D"/>
                </a:solidFill>
                <a:latin typeface="JetBrains Mono" pitchFamily="49" charset="0"/>
                <a:ea typeface="JetBrains Mono" pitchFamily="49" charset="-122"/>
                <a:cs typeface="JetBrains Mono" pitchFamily="49" charset="-120"/>
              </a:rPr>
              <a:t>X = "ABCB"</a:t>
            </a:r>
            <a:endParaRPr lang="en-US" sz="1600" dirty="0"/>
          </a:p>
          <a:p>
            <a:pPr marL="0" indent="0" algn="l">
              <a:lnSpc>
                <a:spcPts val="2400"/>
              </a:lnSpc>
              <a:buNone/>
            </a:pPr>
            <a:r>
              <a:rPr lang="en-US" sz="1600" dirty="0">
                <a:solidFill>
                  <a:srgbClr val="14213D"/>
                </a:solidFill>
                <a:latin typeface="JetBrains Mono" pitchFamily="49" charset="0"/>
                <a:ea typeface="JetBrains Mono" pitchFamily="49" charset="-122"/>
                <a:cs typeface="JetBrains Mono" pitchFamily="49" charset="-120"/>
              </a:rPr>
              <a:t>Y = "BCAB"</a:t>
            </a:r>
            <a:endParaRPr lang="en-US" sz="1600" dirty="0"/>
          </a:p>
        </p:txBody>
      </p:sp>
      <p:sp>
        <p:nvSpPr>
          <p:cNvPr id="9" name="Shape 7"/>
          <p:cNvSpPr/>
          <p:nvPr/>
        </p:nvSpPr>
        <p:spPr>
          <a:xfrm>
            <a:off x="4402614" y="1986282"/>
            <a:ext cx="3386693" cy="4058920"/>
          </a:xfrm>
          <a:prstGeom prst="roundRect">
            <a:avLst>
              <a:gd name="adj" fmla="val 4500"/>
            </a:avLst>
          </a:prstGeom>
          <a:solidFill>
            <a:srgbClr val="FDFCF9"/>
          </a:solidFill>
          <a:ln/>
        </p:spPr>
        <p:txBody>
          <a:bodyPr/>
          <a:lstStyle/>
          <a:p>
            <a:endParaRPr lang="pt-BR"/>
          </a:p>
        </p:txBody>
      </p:sp>
      <p:sp>
        <p:nvSpPr>
          <p:cNvPr id="10" name="Text 8"/>
          <p:cNvSpPr/>
          <p:nvPr/>
        </p:nvSpPr>
        <p:spPr>
          <a:xfrm>
            <a:off x="4707414" y="2291082"/>
            <a:ext cx="2860406"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FB0"/>
                </a:solidFill>
                <a:latin typeface="IBM Plex Sans" pitchFamily="34" charset="0"/>
                <a:ea typeface="IBM Plex Sans" pitchFamily="34" charset="-122"/>
                <a:cs typeface="IBM Plex Sans" pitchFamily="34" charset="-120"/>
              </a:rPr>
              <a:t>SAÍDA</a:t>
            </a:r>
            <a:endParaRPr lang="en-US" sz="1200" dirty="0"/>
          </a:p>
        </p:txBody>
      </p:sp>
      <p:sp>
        <p:nvSpPr>
          <p:cNvPr id="11" name="Text 9"/>
          <p:cNvSpPr/>
          <p:nvPr/>
        </p:nvSpPr>
        <p:spPr>
          <a:xfrm>
            <a:off x="4707414" y="2656839"/>
            <a:ext cx="2860406" cy="6959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O tamanho e a subsequência</a:t>
            </a:r>
            <a:endParaRPr lang="en-US" sz="2200" dirty="0"/>
          </a:p>
        </p:txBody>
      </p:sp>
      <p:sp>
        <p:nvSpPr>
          <p:cNvPr id="12" name="Text 10"/>
          <p:cNvSpPr/>
          <p:nvPr/>
        </p:nvSpPr>
        <p:spPr>
          <a:xfrm>
            <a:off x="4707414" y="3479800"/>
            <a:ext cx="2860406"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Quantas letras tem a LCS e quais são elas.</a:t>
            </a:r>
            <a:endParaRPr lang="en-US" sz="1600" dirty="0"/>
          </a:p>
        </p:txBody>
      </p:sp>
      <p:sp>
        <p:nvSpPr>
          <p:cNvPr id="13" name="Text 11"/>
          <p:cNvSpPr/>
          <p:nvPr/>
        </p:nvSpPr>
        <p:spPr>
          <a:xfrm>
            <a:off x="4707414" y="5130800"/>
            <a:ext cx="2860406" cy="6350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14213D"/>
                </a:solidFill>
                <a:latin typeface="JetBrains Mono" pitchFamily="49" charset="0"/>
                <a:ea typeface="JetBrains Mono" pitchFamily="49" charset="-122"/>
                <a:cs typeface="JetBrains Mono" pitchFamily="49" charset="-120"/>
              </a:rPr>
              <a:t>tamanho = 3</a:t>
            </a:r>
            <a:endParaRPr lang="en-US" sz="1600" dirty="0"/>
          </a:p>
          <a:p>
            <a:pPr marL="0" indent="0" algn="l">
              <a:lnSpc>
                <a:spcPts val="2400"/>
              </a:lnSpc>
              <a:buNone/>
            </a:pPr>
            <a:r>
              <a:rPr lang="en-US" sz="1600" dirty="0">
                <a:solidFill>
                  <a:srgbClr val="14213D"/>
                </a:solidFill>
                <a:latin typeface="JetBrains Mono" pitchFamily="49" charset="0"/>
                <a:ea typeface="JetBrains Mono" pitchFamily="49" charset="-122"/>
                <a:cs typeface="JetBrains Mono" pitchFamily="49" charset="-120"/>
              </a:rPr>
              <a:t>LCS = "BCB"</a:t>
            </a:r>
            <a:endParaRPr lang="en-US" sz="1600" dirty="0"/>
          </a:p>
        </p:txBody>
      </p:sp>
      <p:sp>
        <p:nvSpPr>
          <p:cNvPr id="14" name="Shape 12"/>
          <p:cNvSpPr/>
          <p:nvPr/>
        </p:nvSpPr>
        <p:spPr>
          <a:xfrm>
            <a:off x="7992507" y="1986282"/>
            <a:ext cx="3386693" cy="4058920"/>
          </a:xfrm>
          <a:prstGeom prst="roundRect">
            <a:avLst>
              <a:gd name="adj" fmla="val 4500"/>
            </a:avLst>
          </a:prstGeom>
          <a:solidFill>
            <a:srgbClr val="14213D"/>
          </a:solidFill>
          <a:ln/>
        </p:spPr>
        <p:txBody>
          <a:bodyPr/>
          <a:lstStyle/>
          <a:p>
            <a:endParaRPr lang="pt-BR"/>
          </a:p>
        </p:txBody>
      </p:sp>
      <p:sp>
        <p:nvSpPr>
          <p:cNvPr id="15" name="Text 13"/>
          <p:cNvSpPr/>
          <p:nvPr/>
        </p:nvSpPr>
        <p:spPr>
          <a:xfrm>
            <a:off x="8297307" y="2291082"/>
            <a:ext cx="2860406"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365"/>
                </a:solidFill>
                <a:latin typeface="IBM Plex Sans" pitchFamily="34" charset="0"/>
                <a:ea typeface="IBM Plex Sans" pitchFamily="34" charset="-122"/>
                <a:cs typeface="IBM Plex Sans" pitchFamily="34" charset="-120"/>
              </a:rPr>
              <a:t>OBJETIVO</a:t>
            </a:r>
            <a:endParaRPr lang="en-US" sz="1200" dirty="0"/>
          </a:p>
        </p:txBody>
      </p:sp>
      <p:sp>
        <p:nvSpPr>
          <p:cNvPr id="16" name="Text 14"/>
          <p:cNvSpPr/>
          <p:nvPr/>
        </p:nvSpPr>
        <p:spPr>
          <a:xfrm>
            <a:off x="8297307" y="2656839"/>
            <a:ext cx="2860406" cy="6959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7F5EF"/>
                </a:solidFill>
                <a:latin typeface="Space Grotesk" pitchFamily="34" charset="0"/>
                <a:ea typeface="Space Grotesk" pitchFamily="34" charset="-122"/>
                <a:cs typeface="Space Grotesk" pitchFamily="34" charset="-120"/>
              </a:rPr>
              <a:t>A maior sequência comum</a:t>
            </a:r>
            <a:endParaRPr lang="en-US" sz="2200" dirty="0"/>
          </a:p>
        </p:txBody>
      </p:sp>
      <p:sp>
        <p:nvSpPr>
          <p:cNvPr id="17" name="Text 15"/>
          <p:cNvSpPr/>
          <p:nvPr/>
        </p:nvSpPr>
        <p:spPr>
          <a:xfrm>
            <a:off x="8297307" y="3479800"/>
            <a:ext cx="2860406"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FC8D6"/>
                </a:solidFill>
                <a:latin typeface="IBM Plex Sans" pitchFamily="34" charset="0"/>
                <a:ea typeface="IBM Plex Sans" pitchFamily="34" charset="-122"/>
                <a:cs typeface="IBM Plex Sans" pitchFamily="34" charset="-120"/>
              </a:rPr>
              <a:t>Que aparece nas duas, na mesma ordem, sem precisar ser contínua.</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365"/>
                </a:solidFill>
                <a:latin typeface="IBM Plex Sans" pitchFamily="34" charset="0"/>
                <a:ea typeface="IBM Plex Sans" pitchFamily="34" charset="-122"/>
                <a:cs typeface="IBM Plex Sans" pitchFamily="34" charset="-120"/>
              </a:rPr>
              <a:t>3 · QUAL É A ESTRATÉGIA?</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7F5EF"/>
                </a:solidFill>
                <a:latin typeface="Space Grotesk" pitchFamily="34" charset="0"/>
                <a:ea typeface="Space Grotesk" pitchFamily="34" charset="-122"/>
                <a:cs typeface="Space Grotesk" pitchFamily="34" charset="-120"/>
              </a:rPr>
              <a:t>E se testássemos todas as possibilidades?</a:t>
            </a:r>
            <a:endParaRPr lang="en-US" sz="3600" dirty="0"/>
          </a:p>
        </p:txBody>
      </p:sp>
      <p:sp>
        <p:nvSpPr>
          <p:cNvPr id="4" name="Text 2"/>
          <p:cNvSpPr/>
          <p:nvPr/>
        </p:nvSpPr>
        <p:spPr>
          <a:xfrm>
            <a:off x="812800" y="1986282"/>
            <a:ext cx="10883392" cy="75184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BFC8D6"/>
                </a:solidFill>
                <a:latin typeface="IBM Plex Sans" pitchFamily="34" charset="0"/>
                <a:ea typeface="IBM Plex Sans" pitchFamily="34" charset="-122"/>
                <a:cs typeface="IBM Plex Sans" pitchFamily="34" charset="-120"/>
              </a:rPr>
              <a:t>A força bruta gera todas as subsequências de X e procura cada uma em Y. Uma palavra com m letras tem </a:t>
            </a:r>
            <a:r>
              <a:rPr lang="en-US" sz="2200" b="1" dirty="0">
                <a:solidFill>
                  <a:srgbClr val="F7F5EF"/>
                </a:solidFill>
                <a:latin typeface="IBM Plex Sans" pitchFamily="34" charset="0"/>
                <a:ea typeface="IBM Plex Sans" pitchFamily="34" charset="-122"/>
                <a:cs typeface="IBM Plex Sans" pitchFamily="34" charset="-120"/>
              </a:rPr>
              <a:t>2 elevado a m</a:t>
            </a:r>
            <a:r>
              <a:rPr lang="en-US" sz="2200" dirty="0">
                <a:solidFill>
                  <a:srgbClr val="BFC8D6"/>
                </a:solidFill>
                <a:latin typeface="IBM Plex Sans" pitchFamily="34" charset="0"/>
                <a:ea typeface="IBM Plex Sans" pitchFamily="34" charset="-122"/>
                <a:cs typeface="IBM Plex Sans" pitchFamily="34" charset="-120"/>
              </a:rPr>
              <a:t> subsequências.</a:t>
            </a:r>
            <a:endParaRPr lang="en-US" sz="2200" dirty="0"/>
          </a:p>
        </p:txBody>
      </p:sp>
      <p:sp>
        <p:nvSpPr>
          <p:cNvPr id="5" name="Text 3"/>
          <p:cNvSpPr/>
          <p:nvPr/>
        </p:nvSpPr>
        <p:spPr>
          <a:xfrm>
            <a:off x="812800" y="3068321"/>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F2A365"/>
                </a:solidFill>
                <a:latin typeface="Space Grotesk" pitchFamily="34" charset="0"/>
                <a:ea typeface="Space Grotesk" pitchFamily="34" charset="-122"/>
                <a:cs typeface="Space Grotesk" pitchFamily="34" charset="-120"/>
              </a:rPr>
              <a:t>1.073.741.824</a:t>
            </a:r>
            <a:endParaRPr lang="en-US" sz="8000" dirty="0"/>
          </a:p>
        </p:txBody>
      </p:sp>
      <p:sp>
        <p:nvSpPr>
          <p:cNvPr id="6" name="Text 4"/>
          <p:cNvSpPr/>
          <p:nvPr/>
        </p:nvSpPr>
        <p:spPr>
          <a:xfrm>
            <a:off x="812800" y="4185921"/>
            <a:ext cx="10883392" cy="41656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F7F5EF"/>
                </a:solidFill>
                <a:latin typeface="IBM Plex Sans" pitchFamily="34" charset="0"/>
                <a:ea typeface="IBM Plex Sans" pitchFamily="34" charset="-122"/>
                <a:cs typeface="IBM Plex Sans" pitchFamily="34" charset="-120"/>
              </a:rPr>
              <a:t>subsequências para uma palavra com apenas 30 letras</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541B"/>
                </a:solidFill>
                <a:latin typeface="IBM Plex Sans" pitchFamily="34" charset="0"/>
                <a:ea typeface="IBM Plex Sans" pitchFamily="34" charset="-122"/>
                <a:cs typeface="IBM Plex Sans" pitchFamily="34" charset="-120"/>
              </a:rPr>
              <a:t>3 · QUAL É A ESTRATÉGIA?</a:t>
            </a:r>
            <a:endParaRPr lang="en-US" sz="1200" dirty="0"/>
          </a:p>
        </p:txBody>
      </p:sp>
      <p:sp>
        <p:nvSpPr>
          <p:cNvPr id="3" name="Text 1"/>
          <p:cNvSpPr>
            <a:spLocks noGrp="1"/>
          </p:cNvSpPr>
          <p:nvPr>
            <p:ph type="title"/>
          </p:nvPr>
        </p:nvSpPr>
        <p:spPr>
          <a:xfrm>
            <a:off x="812800" y="11277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A solução: programação dinâmica</a:t>
            </a:r>
            <a:endParaRPr lang="en-US" sz="3600" dirty="0"/>
          </a:p>
        </p:txBody>
      </p:sp>
      <p:sp>
        <p:nvSpPr>
          <p:cNvPr id="4" name="Shape 2"/>
          <p:cNvSpPr/>
          <p:nvPr/>
        </p:nvSpPr>
        <p:spPr>
          <a:xfrm>
            <a:off x="812800" y="1986282"/>
            <a:ext cx="3386614" cy="4058920"/>
          </a:xfrm>
          <a:prstGeom prst="roundRect">
            <a:avLst>
              <a:gd name="adj" fmla="val 4500"/>
            </a:avLst>
          </a:prstGeom>
          <a:solidFill>
            <a:srgbClr val="FDFCF9"/>
          </a:solidFill>
          <a:ln/>
        </p:spPr>
        <p:txBody>
          <a:bodyPr/>
          <a:lstStyle/>
          <a:p>
            <a:endParaRPr lang="pt-BR"/>
          </a:p>
        </p:txBody>
      </p:sp>
      <p:pic>
        <p:nvPicPr>
          <p:cNvPr id="5" name="Image 0" descr="Database"/>
          <p:cNvPicPr>
            <a:picLocks noChangeAspect="1"/>
          </p:cNvPicPr>
          <p:nvPr/>
        </p:nvPicPr>
        <p:blipFill>
          <a:blip r:embed="rId3"/>
          <a:srcRect/>
          <a:stretch/>
        </p:blipFill>
        <p:spPr>
          <a:xfrm>
            <a:off x="1117600" y="2291082"/>
            <a:ext cx="406400" cy="406400"/>
          </a:xfrm>
          <a:prstGeom prst="rect">
            <a:avLst/>
          </a:prstGeom>
        </p:spPr>
      </p:pic>
      <p:sp>
        <p:nvSpPr>
          <p:cNvPr id="6" name="Text 3"/>
          <p:cNvSpPr/>
          <p:nvPr/>
        </p:nvSpPr>
        <p:spPr>
          <a:xfrm>
            <a:off x="1117600" y="2849882"/>
            <a:ext cx="2860324"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Subestrutura ótima</a:t>
            </a:r>
            <a:endParaRPr lang="en-US" sz="2200" dirty="0"/>
          </a:p>
        </p:txBody>
      </p:sp>
      <p:sp>
        <p:nvSpPr>
          <p:cNvPr id="7" name="Text 4"/>
          <p:cNvSpPr/>
          <p:nvPr/>
        </p:nvSpPr>
        <p:spPr>
          <a:xfrm>
            <a:off x="1117600" y="3337561"/>
            <a:ext cx="2860324" cy="1163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A resposta para as palavras inteiras é montada a partir das respostas para pedaços menores delas (os prefixos).</a:t>
            </a:r>
            <a:endParaRPr lang="en-US" sz="1600" dirty="0"/>
          </a:p>
        </p:txBody>
      </p:sp>
      <p:sp>
        <p:nvSpPr>
          <p:cNvPr id="8" name="Shape 5"/>
          <p:cNvSpPr/>
          <p:nvPr/>
        </p:nvSpPr>
        <p:spPr>
          <a:xfrm>
            <a:off x="4402614" y="1986282"/>
            <a:ext cx="3386693" cy="4058920"/>
          </a:xfrm>
          <a:prstGeom prst="roundRect">
            <a:avLst>
              <a:gd name="adj" fmla="val 4500"/>
            </a:avLst>
          </a:prstGeom>
          <a:solidFill>
            <a:srgbClr val="FDFCF9"/>
          </a:solidFill>
          <a:ln/>
        </p:spPr>
        <p:txBody>
          <a:bodyPr/>
          <a:lstStyle/>
          <a:p>
            <a:endParaRPr lang="pt-BR"/>
          </a:p>
        </p:txBody>
      </p:sp>
      <p:pic>
        <p:nvPicPr>
          <p:cNvPr id="9" name="Image 1" descr="Link"/>
          <p:cNvPicPr>
            <a:picLocks noChangeAspect="1"/>
          </p:cNvPicPr>
          <p:nvPr/>
        </p:nvPicPr>
        <p:blipFill>
          <a:blip r:embed="rId4"/>
          <a:srcRect/>
          <a:stretch/>
        </p:blipFill>
        <p:spPr>
          <a:xfrm>
            <a:off x="4707414" y="2291082"/>
            <a:ext cx="406400" cy="406400"/>
          </a:xfrm>
          <a:prstGeom prst="rect">
            <a:avLst/>
          </a:prstGeom>
        </p:spPr>
      </p:pic>
      <p:sp>
        <p:nvSpPr>
          <p:cNvPr id="10" name="Text 6"/>
          <p:cNvSpPr/>
          <p:nvPr/>
        </p:nvSpPr>
        <p:spPr>
          <a:xfrm>
            <a:off x="4707414" y="2849882"/>
            <a:ext cx="2860406" cy="6959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Subproblemas repetidos</a:t>
            </a:r>
            <a:endParaRPr lang="en-US" sz="2200" dirty="0"/>
          </a:p>
        </p:txBody>
      </p:sp>
      <p:sp>
        <p:nvSpPr>
          <p:cNvPr id="11" name="Text 7"/>
          <p:cNvSpPr/>
          <p:nvPr/>
        </p:nvSpPr>
        <p:spPr>
          <a:xfrm>
            <a:off x="4707414" y="3672839"/>
            <a:ext cx="2860406" cy="14478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Os mesmos pedaços aparecem várias vezes. Guardamos cada resultado em uma tabela e nunca calculamos de novo.</a:t>
            </a:r>
            <a:endParaRPr lang="en-US" sz="1600" dirty="0"/>
          </a:p>
        </p:txBody>
      </p:sp>
      <p:sp>
        <p:nvSpPr>
          <p:cNvPr id="12" name="Shape 8"/>
          <p:cNvSpPr/>
          <p:nvPr/>
        </p:nvSpPr>
        <p:spPr>
          <a:xfrm>
            <a:off x="7992507" y="1986282"/>
            <a:ext cx="3386693" cy="4058920"/>
          </a:xfrm>
          <a:prstGeom prst="roundRect">
            <a:avLst>
              <a:gd name="adj" fmla="val 4500"/>
            </a:avLst>
          </a:prstGeom>
          <a:solidFill>
            <a:srgbClr val="14213D"/>
          </a:solidFill>
          <a:ln/>
        </p:spPr>
        <p:txBody>
          <a:bodyPr/>
          <a:lstStyle/>
          <a:p>
            <a:endParaRPr lang="pt-BR"/>
          </a:p>
        </p:txBody>
      </p:sp>
      <p:pic>
        <p:nvPicPr>
          <p:cNvPr id="13" name="Image 2" descr="Warning"/>
          <p:cNvPicPr>
            <a:picLocks noChangeAspect="1"/>
          </p:cNvPicPr>
          <p:nvPr/>
        </p:nvPicPr>
        <p:blipFill>
          <a:blip r:embed="rId5"/>
          <a:srcRect/>
          <a:stretch/>
        </p:blipFill>
        <p:spPr>
          <a:xfrm>
            <a:off x="8297307" y="2291082"/>
            <a:ext cx="406400" cy="406400"/>
          </a:xfrm>
          <a:prstGeom prst="rect">
            <a:avLst/>
          </a:prstGeom>
        </p:spPr>
      </p:pic>
      <p:sp>
        <p:nvSpPr>
          <p:cNvPr id="14" name="Text 9"/>
          <p:cNvSpPr/>
          <p:nvPr/>
        </p:nvSpPr>
        <p:spPr>
          <a:xfrm>
            <a:off x="8297307" y="2849882"/>
            <a:ext cx="3081893"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7F5EF"/>
                </a:solidFill>
                <a:latin typeface="Space Grotesk" pitchFamily="34" charset="0"/>
                <a:ea typeface="Space Grotesk" pitchFamily="34" charset="-122"/>
                <a:cs typeface="Space Grotesk" pitchFamily="34" charset="-120"/>
              </a:rPr>
              <a:t>Por que não guloso?</a:t>
            </a:r>
            <a:endParaRPr lang="en-US" sz="2200" dirty="0"/>
          </a:p>
        </p:txBody>
      </p:sp>
      <p:sp>
        <p:nvSpPr>
          <p:cNvPr id="15" name="Text 10"/>
          <p:cNvSpPr/>
          <p:nvPr/>
        </p:nvSpPr>
        <p:spPr>
          <a:xfrm>
            <a:off x="8297307" y="3337561"/>
            <a:ext cx="2860406" cy="1163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FC8D6"/>
                </a:solidFill>
                <a:latin typeface="IBM Plex Sans" pitchFamily="34" charset="0"/>
                <a:ea typeface="IBM Plex Sans" pitchFamily="34" charset="-122"/>
                <a:cs typeface="IBM Plex Sans" pitchFamily="34" charset="-120"/>
              </a:rPr>
              <a:t>Pegar a primeira letra igual pode estragar a resposta mais à frente, e o guloso nunca volta atrás.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541B"/>
                </a:solidFill>
                <a:latin typeface="IBM Plex Sans" pitchFamily="34" charset="0"/>
                <a:ea typeface="IBM Plex Sans" pitchFamily="34" charset="-122"/>
                <a:cs typeface="IBM Plex Sans" pitchFamily="34" charset="-120"/>
              </a:rPr>
              <a:t>4 · COMO O ALGORITMO FUNCIONA?</a:t>
            </a:r>
            <a:endParaRPr lang="en-US" sz="1200" dirty="0"/>
          </a:p>
        </p:txBody>
      </p:sp>
      <p:sp>
        <p:nvSpPr>
          <p:cNvPr id="3" name="Text 1"/>
          <p:cNvSpPr>
            <a:spLocks noGrp="1"/>
          </p:cNvSpPr>
          <p:nvPr>
            <p:ph type="title"/>
          </p:nvPr>
        </p:nvSpPr>
        <p:spPr>
          <a:xfrm>
            <a:off x="812800" y="11277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A ideia: uma tabela de respostas</a:t>
            </a:r>
            <a:endParaRPr lang="en-US" sz="3600" dirty="0"/>
          </a:p>
        </p:txBody>
      </p:sp>
      <p:sp>
        <p:nvSpPr>
          <p:cNvPr id="4" name="Text 2"/>
          <p:cNvSpPr/>
          <p:nvPr/>
        </p:nvSpPr>
        <p:spPr>
          <a:xfrm>
            <a:off x="812800" y="1986279"/>
            <a:ext cx="4028948" cy="1092200"/>
          </a:xfrm>
          <a:prstGeom prst="rect">
            <a:avLst/>
          </a:prstGeom>
          <a:noFill/>
          <a:ln/>
        </p:spPr>
        <p:txBody>
          <a:bodyPr wrap="none" lIns="0" tIns="0" rIns="0" bIns="0" rtlCol="0" anchor="t">
            <a:normAutofit/>
          </a:bodyPr>
          <a:lstStyle/>
          <a:p>
            <a:pPr marL="0" indent="0" algn="l">
              <a:lnSpc>
                <a:spcPts val="8400"/>
              </a:lnSpc>
              <a:buNone/>
            </a:pPr>
            <a:r>
              <a:rPr lang="en-US" sz="6000" b="1" dirty="0">
                <a:solidFill>
                  <a:srgbClr val="B5541B"/>
                </a:solidFill>
                <a:latin typeface="JetBrains Mono" pitchFamily="49" charset="0"/>
                <a:ea typeface="JetBrains Mono" pitchFamily="49" charset="-122"/>
                <a:cs typeface="JetBrains Mono" pitchFamily="49" charset="-120"/>
              </a:rPr>
              <a:t>dp[i][j]</a:t>
            </a:r>
            <a:endParaRPr lang="en-US" sz="6000" dirty="0"/>
          </a:p>
        </p:txBody>
      </p:sp>
      <p:sp>
        <p:nvSpPr>
          <p:cNvPr id="5" name="Text 3"/>
          <p:cNvSpPr/>
          <p:nvPr/>
        </p:nvSpPr>
        <p:spPr>
          <a:xfrm>
            <a:off x="5080000" y="2156464"/>
            <a:ext cx="6488176" cy="75184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14213D"/>
                </a:solidFill>
                <a:latin typeface="IBM Plex Sans" pitchFamily="34" charset="0"/>
                <a:ea typeface="IBM Plex Sans" pitchFamily="34" charset="-122"/>
                <a:cs typeface="IBM Plex Sans" pitchFamily="34" charset="-120"/>
              </a:rPr>
              <a:t>= tamanho da LCS entre as </a:t>
            </a:r>
            <a:r>
              <a:rPr lang="en-US" sz="2200" b="1" dirty="0">
                <a:solidFill>
                  <a:srgbClr val="14213D"/>
                </a:solidFill>
                <a:latin typeface="IBM Plex Sans" pitchFamily="34" charset="0"/>
                <a:ea typeface="IBM Plex Sans" pitchFamily="34" charset="-122"/>
                <a:cs typeface="IBM Plex Sans" pitchFamily="34" charset="-120"/>
              </a:rPr>
              <a:t>i primeiras letras de X</a:t>
            </a:r>
            <a:r>
              <a:rPr lang="en-US" sz="2200" dirty="0">
                <a:solidFill>
                  <a:srgbClr val="14213D"/>
                </a:solidFill>
                <a:latin typeface="IBM Plex Sans" pitchFamily="34" charset="0"/>
                <a:ea typeface="IBM Plex Sans" pitchFamily="34" charset="-122"/>
                <a:cs typeface="IBM Plex Sans" pitchFamily="34" charset="-120"/>
              </a:rPr>
              <a:t> e as </a:t>
            </a:r>
            <a:r>
              <a:rPr lang="en-US" sz="2200" b="1" dirty="0">
                <a:solidFill>
                  <a:srgbClr val="14213D"/>
                </a:solidFill>
                <a:latin typeface="IBM Plex Sans" pitchFamily="34" charset="0"/>
                <a:ea typeface="IBM Plex Sans" pitchFamily="34" charset="-122"/>
                <a:cs typeface="IBM Plex Sans" pitchFamily="34" charset="-120"/>
              </a:rPr>
              <a:t>j primeiras letras de Y</a:t>
            </a:r>
            <a:endParaRPr lang="en-US" sz="2200" dirty="0"/>
          </a:p>
        </p:txBody>
      </p:sp>
      <p:sp>
        <p:nvSpPr>
          <p:cNvPr id="6" name="Shape 4"/>
          <p:cNvSpPr/>
          <p:nvPr/>
        </p:nvSpPr>
        <p:spPr>
          <a:xfrm>
            <a:off x="812800" y="3408679"/>
            <a:ext cx="3386614" cy="2636520"/>
          </a:xfrm>
          <a:prstGeom prst="roundRect">
            <a:avLst>
              <a:gd name="adj" fmla="val 5780"/>
            </a:avLst>
          </a:prstGeom>
          <a:solidFill>
            <a:srgbClr val="FDFCF9"/>
          </a:solidFill>
          <a:ln/>
        </p:spPr>
        <p:txBody>
          <a:bodyPr/>
          <a:lstStyle/>
          <a:p>
            <a:endParaRPr lang="pt-BR"/>
          </a:p>
        </p:txBody>
      </p:sp>
      <p:sp>
        <p:nvSpPr>
          <p:cNvPr id="7" name="Text 5"/>
          <p:cNvSpPr/>
          <p:nvPr/>
        </p:nvSpPr>
        <p:spPr>
          <a:xfrm>
            <a:off x="1066800" y="3662679"/>
            <a:ext cx="2964972"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F6FB0"/>
                </a:solidFill>
                <a:latin typeface="JetBrains Mono" pitchFamily="49" charset="0"/>
                <a:ea typeface="JetBrains Mono" pitchFamily="49" charset="-122"/>
                <a:cs typeface="JetBrains Mono" pitchFamily="49" charset="-120"/>
              </a:rPr>
              <a:t>dp[2][3] = 1</a:t>
            </a:r>
            <a:endParaRPr lang="en-US" sz="2000" dirty="0"/>
          </a:p>
        </p:txBody>
      </p:sp>
      <p:sp>
        <p:nvSpPr>
          <p:cNvPr id="8" name="Text 6"/>
          <p:cNvSpPr/>
          <p:nvPr/>
        </p:nvSpPr>
        <p:spPr>
          <a:xfrm>
            <a:off x="1066800" y="4119879"/>
            <a:ext cx="296497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LCS de “AB” e “BCA” tem 1 letra.</a:t>
            </a:r>
            <a:endParaRPr lang="en-US" sz="1600" dirty="0"/>
          </a:p>
        </p:txBody>
      </p:sp>
      <p:sp>
        <p:nvSpPr>
          <p:cNvPr id="9" name="Shape 7"/>
          <p:cNvSpPr/>
          <p:nvPr/>
        </p:nvSpPr>
        <p:spPr>
          <a:xfrm>
            <a:off x="4402614" y="3408679"/>
            <a:ext cx="3386693" cy="2636520"/>
          </a:xfrm>
          <a:prstGeom prst="roundRect">
            <a:avLst>
              <a:gd name="adj" fmla="val 5780"/>
            </a:avLst>
          </a:prstGeom>
          <a:solidFill>
            <a:srgbClr val="FDFCF9"/>
          </a:solidFill>
          <a:ln/>
        </p:spPr>
        <p:txBody>
          <a:bodyPr/>
          <a:lstStyle/>
          <a:p>
            <a:endParaRPr lang="pt-BR"/>
          </a:p>
        </p:txBody>
      </p:sp>
      <p:sp>
        <p:nvSpPr>
          <p:cNvPr id="10" name="Text 8"/>
          <p:cNvSpPr/>
          <p:nvPr/>
        </p:nvSpPr>
        <p:spPr>
          <a:xfrm>
            <a:off x="4656614" y="3662679"/>
            <a:ext cx="2965054"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F6FB0"/>
                </a:solidFill>
                <a:latin typeface="JetBrains Mono" pitchFamily="49" charset="0"/>
                <a:ea typeface="JetBrains Mono" pitchFamily="49" charset="-122"/>
                <a:cs typeface="JetBrains Mono" pitchFamily="49" charset="-120"/>
              </a:rPr>
              <a:t>dp[0][j] = 0</a:t>
            </a:r>
            <a:endParaRPr lang="en-US" sz="2000" dirty="0"/>
          </a:p>
        </p:txBody>
      </p:sp>
      <p:sp>
        <p:nvSpPr>
          <p:cNvPr id="11" name="Text 9"/>
          <p:cNvSpPr/>
          <p:nvPr/>
        </p:nvSpPr>
        <p:spPr>
          <a:xfrm>
            <a:off x="4656614" y="4119879"/>
            <a:ext cx="2965054"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Linha e coluna 0 são a palavra vazia: LCS sempre 0.</a:t>
            </a:r>
            <a:endParaRPr lang="en-US" sz="1600" dirty="0"/>
          </a:p>
        </p:txBody>
      </p:sp>
      <p:sp>
        <p:nvSpPr>
          <p:cNvPr id="12" name="Shape 10"/>
          <p:cNvSpPr/>
          <p:nvPr/>
        </p:nvSpPr>
        <p:spPr>
          <a:xfrm>
            <a:off x="7992507" y="3408679"/>
            <a:ext cx="3386693" cy="2636520"/>
          </a:xfrm>
          <a:prstGeom prst="roundRect">
            <a:avLst>
              <a:gd name="adj" fmla="val 5780"/>
            </a:avLst>
          </a:prstGeom>
          <a:solidFill>
            <a:srgbClr val="14213D"/>
          </a:solidFill>
          <a:ln/>
        </p:spPr>
        <p:txBody>
          <a:bodyPr/>
          <a:lstStyle/>
          <a:p>
            <a:endParaRPr lang="pt-BR"/>
          </a:p>
        </p:txBody>
      </p:sp>
      <p:sp>
        <p:nvSpPr>
          <p:cNvPr id="13" name="Text 11"/>
          <p:cNvSpPr/>
          <p:nvPr/>
        </p:nvSpPr>
        <p:spPr>
          <a:xfrm>
            <a:off x="8246507" y="3662679"/>
            <a:ext cx="2965054"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2A365"/>
                </a:solidFill>
                <a:latin typeface="JetBrains Mono" pitchFamily="49" charset="0"/>
                <a:ea typeface="JetBrains Mono" pitchFamily="49" charset="-122"/>
                <a:cs typeface="JetBrains Mono" pitchFamily="49" charset="-120"/>
              </a:rPr>
              <a:t>dp[4][4] = 3</a:t>
            </a:r>
            <a:endParaRPr lang="en-US" sz="2000" dirty="0"/>
          </a:p>
        </p:txBody>
      </p:sp>
      <p:sp>
        <p:nvSpPr>
          <p:cNvPr id="14" name="Text 12"/>
          <p:cNvSpPr/>
          <p:nvPr/>
        </p:nvSpPr>
        <p:spPr>
          <a:xfrm>
            <a:off x="8246507" y="4119879"/>
            <a:ext cx="2965054"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FC8D6"/>
                </a:solidFill>
                <a:latin typeface="IBM Plex Sans" pitchFamily="34" charset="0"/>
                <a:ea typeface="IBM Plex Sans" pitchFamily="34" charset="-122"/>
                <a:cs typeface="IBM Plex Sans" pitchFamily="34" charset="-120"/>
              </a:rPr>
              <a:t>O canto inferior direito é a resposta final.</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541B"/>
                </a:solidFill>
                <a:latin typeface="IBM Plex Sans" pitchFamily="34" charset="0"/>
                <a:ea typeface="IBM Plex Sans" pitchFamily="34" charset="-122"/>
                <a:cs typeface="IBM Plex Sans" pitchFamily="34" charset="-120"/>
              </a:rPr>
              <a:t>4 · COMO O ALGORITMO FUNCIONA?</a:t>
            </a:r>
            <a:endParaRPr lang="en-US" sz="1200" dirty="0"/>
          </a:p>
        </p:txBody>
      </p:sp>
      <p:sp>
        <p:nvSpPr>
          <p:cNvPr id="3" name="Text 1"/>
          <p:cNvSpPr>
            <a:spLocks noGrp="1"/>
          </p:cNvSpPr>
          <p:nvPr>
            <p:ph type="title"/>
          </p:nvPr>
        </p:nvSpPr>
        <p:spPr>
          <a:xfrm>
            <a:off x="812800" y="11277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A regra que preenche cada célula</a:t>
            </a:r>
            <a:endParaRPr lang="en-US" sz="3600" dirty="0"/>
          </a:p>
        </p:txBody>
      </p:sp>
      <p:sp>
        <p:nvSpPr>
          <p:cNvPr id="4" name="Shape 2"/>
          <p:cNvSpPr/>
          <p:nvPr/>
        </p:nvSpPr>
        <p:spPr>
          <a:xfrm>
            <a:off x="812800" y="1986279"/>
            <a:ext cx="10566400" cy="1927860"/>
          </a:xfrm>
          <a:prstGeom prst="roundRect">
            <a:avLst>
              <a:gd name="adj" fmla="val 7905"/>
            </a:avLst>
          </a:prstGeom>
          <a:solidFill>
            <a:srgbClr val="FDFCF9"/>
          </a:solidFill>
          <a:ln/>
        </p:spPr>
        <p:txBody>
          <a:bodyPr/>
          <a:lstStyle/>
          <a:p>
            <a:endParaRPr lang="pt-BR"/>
          </a:p>
        </p:txBody>
      </p:sp>
      <p:sp>
        <p:nvSpPr>
          <p:cNvPr id="5" name="Text 3"/>
          <p:cNvSpPr/>
          <p:nvPr/>
        </p:nvSpPr>
        <p:spPr>
          <a:xfrm>
            <a:off x="1117600" y="2315214"/>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BE1CC"/>
          </a:solidFill>
          <a:ln/>
        </p:spPr>
        <p:txBody>
          <a:bodyPr wrap="square" lIns="0" tIns="0" rIns="0" bIns="0" rtlCol="0" anchor="t">
            <a:normAutofit/>
          </a:bodyPr>
          <a:lstStyle/>
          <a:p>
            <a:pPr marL="0" indent="0" algn="ctr">
              <a:lnSpc>
                <a:spcPts val="4800"/>
              </a:lnSpc>
              <a:buNone/>
            </a:pPr>
            <a:r>
              <a:rPr lang="en-US" sz="1200" b="1" dirty="0">
                <a:solidFill>
                  <a:srgbClr val="14213D"/>
                </a:solidFill>
                <a:latin typeface="IBM Plex Sans" pitchFamily="34" charset="0"/>
                <a:ea typeface="IBM Plex Sans" pitchFamily="34" charset="-122"/>
                <a:cs typeface="IBM Plex Sans" pitchFamily="34" charset="-120"/>
              </a:rPr>
              <a:t>diag</a:t>
            </a:r>
            <a:endParaRPr lang="en-US" sz="1200" dirty="0"/>
          </a:p>
        </p:txBody>
      </p:sp>
      <p:sp>
        <p:nvSpPr>
          <p:cNvPr id="6" name="Shape 4"/>
          <p:cNvSpPr/>
          <p:nvPr/>
        </p:nvSpPr>
        <p:spPr>
          <a:xfrm>
            <a:off x="1778000" y="2315214"/>
            <a:ext cx="609600" cy="609600"/>
          </a:xfrm>
          <a:prstGeom prst="roundRect">
            <a:avLst>
              <a:gd name="adj" fmla="val 12500"/>
            </a:avLst>
          </a:prstGeom>
          <a:solidFill>
            <a:srgbClr val="EAE5D9"/>
          </a:solidFill>
          <a:ln/>
        </p:spPr>
        <p:txBody>
          <a:bodyPr/>
          <a:lstStyle/>
          <a:p>
            <a:endParaRPr lang="pt-BR"/>
          </a:p>
        </p:txBody>
      </p:sp>
      <p:sp>
        <p:nvSpPr>
          <p:cNvPr id="7" name="Shape 5"/>
          <p:cNvSpPr/>
          <p:nvPr/>
        </p:nvSpPr>
        <p:spPr>
          <a:xfrm>
            <a:off x="1117600" y="2975614"/>
            <a:ext cx="609600" cy="609600"/>
          </a:xfrm>
          <a:prstGeom prst="roundRect">
            <a:avLst>
              <a:gd name="adj" fmla="val 12500"/>
            </a:avLst>
          </a:prstGeom>
          <a:solidFill>
            <a:srgbClr val="EAE5D9"/>
          </a:solidFill>
          <a:ln/>
        </p:spPr>
        <p:txBody>
          <a:bodyPr/>
          <a:lstStyle/>
          <a:p>
            <a:endParaRPr lang="pt-BR"/>
          </a:p>
        </p:txBody>
      </p:sp>
      <p:sp>
        <p:nvSpPr>
          <p:cNvPr id="8" name="Text 6"/>
          <p:cNvSpPr/>
          <p:nvPr/>
        </p:nvSpPr>
        <p:spPr>
          <a:xfrm>
            <a:off x="1778000" y="2975614"/>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07A2E"/>
          </a:solidFill>
          <a:ln/>
        </p:spPr>
        <p:txBody>
          <a:bodyPr wrap="square" lIns="0" tIns="0" rIns="0" bIns="0" rtlCol="0" anchor="t">
            <a:normAutofit/>
          </a:bodyPr>
          <a:lstStyle/>
          <a:p>
            <a:pPr marL="0" indent="0" algn="ctr">
              <a:lnSpc>
                <a:spcPts val="4800"/>
              </a:lnSpc>
              <a:buNone/>
            </a:pPr>
            <a:r>
              <a:rPr lang="en-US" sz="1200" b="1" dirty="0">
                <a:solidFill>
                  <a:srgbClr val="14213D"/>
                </a:solidFill>
                <a:latin typeface="IBM Plex Sans" pitchFamily="34" charset="0"/>
                <a:ea typeface="IBM Plex Sans" pitchFamily="34" charset="-122"/>
                <a:cs typeface="IBM Plex Sans" pitchFamily="34" charset="-120"/>
              </a:rPr>
              <a:t>+1</a:t>
            </a:r>
            <a:endParaRPr lang="en-US" sz="1200" dirty="0"/>
          </a:p>
        </p:txBody>
      </p:sp>
      <p:sp>
        <p:nvSpPr>
          <p:cNvPr id="9" name="Text 7"/>
          <p:cNvSpPr/>
          <p:nvPr/>
        </p:nvSpPr>
        <p:spPr>
          <a:xfrm>
            <a:off x="2743200" y="2553971"/>
            <a:ext cx="8581136"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Letras iguais → diagonal + 1</a:t>
            </a:r>
            <a:endParaRPr lang="en-US" sz="2200" dirty="0"/>
          </a:p>
        </p:txBody>
      </p:sp>
      <p:sp>
        <p:nvSpPr>
          <p:cNvPr id="10" name="Text 8"/>
          <p:cNvSpPr/>
          <p:nvPr/>
        </p:nvSpPr>
        <p:spPr>
          <a:xfrm>
            <a:off x="2743200" y="2990850"/>
            <a:ext cx="8581136"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5541B"/>
                </a:solidFill>
                <a:latin typeface="JetBrains Mono" pitchFamily="49" charset="0"/>
                <a:ea typeface="JetBrains Mono" pitchFamily="49" charset="-122"/>
                <a:cs typeface="JetBrains Mono" pitchFamily="49" charset="-120"/>
              </a:rPr>
              <a:t>dp[i][j] = dp[i-1][j-1] + 1</a:t>
            </a:r>
            <a:endParaRPr lang="en-US" sz="2000" dirty="0"/>
          </a:p>
        </p:txBody>
      </p:sp>
      <p:sp>
        <p:nvSpPr>
          <p:cNvPr id="11" name="Shape 9"/>
          <p:cNvSpPr/>
          <p:nvPr/>
        </p:nvSpPr>
        <p:spPr>
          <a:xfrm>
            <a:off x="812800" y="4117342"/>
            <a:ext cx="10566400" cy="1927860"/>
          </a:xfrm>
          <a:prstGeom prst="roundRect">
            <a:avLst>
              <a:gd name="adj" fmla="val 7905"/>
            </a:avLst>
          </a:prstGeom>
          <a:solidFill>
            <a:srgbClr val="FDFCF9"/>
          </a:solidFill>
          <a:ln/>
        </p:spPr>
        <p:txBody>
          <a:bodyPr/>
          <a:lstStyle/>
          <a:p>
            <a:endParaRPr lang="pt-BR"/>
          </a:p>
        </p:txBody>
      </p:sp>
      <p:sp>
        <p:nvSpPr>
          <p:cNvPr id="12" name="Shape 10"/>
          <p:cNvSpPr/>
          <p:nvPr/>
        </p:nvSpPr>
        <p:spPr>
          <a:xfrm>
            <a:off x="1117600" y="4446271"/>
            <a:ext cx="609600" cy="609600"/>
          </a:xfrm>
          <a:prstGeom prst="roundRect">
            <a:avLst>
              <a:gd name="adj" fmla="val 12500"/>
            </a:avLst>
          </a:prstGeom>
          <a:solidFill>
            <a:srgbClr val="EAE5D9"/>
          </a:solidFill>
          <a:ln/>
        </p:spPr>
        <p:txBody>
          <a:bodyPr/>
          <a:lstStyle/>
          <a:p>
            <a:endParaRPr lang="pt-BR"/>
          </a:p>
        </p:txBody>
      </p:sp>
      <p:sp>
        <p:nvSpPr>
          <p:cNvPr id="13" name="Text 11"/>
          <p:cNvSpPr/>
          <p:nvPr/>
        </p:nvSpPr>
        <p:spPr>
          <a:xfrm>
            <a:off x="1778000" y="4446271"/>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DCE7F3"/>
          </a:solidFill>
          <a:ln/>
        </p:spPr>
        <p:txBody>
          <a:bodyPr wrap="square" lIns="0" tIns="0" rIns="0" bIns="0" rtlCol="0" anchor="t">
            <a:normAutofit/>
          </a:bodyPr>
          <a:lstStyle/>
          <a:p>
            <a:pPr marL="0" indent="0" algn="ctr">
              <a:lnSpc>
                <a:spcPts val="4800"/>
              </a:lnSpc>
              <a:buNone/>
            </a:pPr>
            <a:r>
              <a:rPr lang="en-US" sz="1200" b="1" dirty="0">
                <a:solidFill>
                  <a:srgbClr val="14213D"/>
                </a:solidFill>
                <a:latin typeface="IBM Plex Sans" pitchFamily="34" charset="0"/>
                <a:ea typeface="IBM Plex Sans" pitchFamily="34" charset="-122"/>
                <a:cs typeface="IBM Plex Sans" pitchFamily="34" charset="-120"/>
              </a:rPr>
              <a:t>cima</a:t>
            </a:r>
            <a:endParaRPr lang="en-US" sz="1200" dirty="0"/>
          </a:p>
        </p:txBody>
      </p:sp>
      <p:sp>
        <p:nvSpPr>
          <p:cNvPr id="14" name="Text 12"/>
          <p:cNvSpPr/>
          <p:nvPr/>
        </p:nvSpPr>
        <p:spPr>
          <a:xfrm>
            <a:off x="1117600" y="5106671"/>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DCE7F3"/>
          </a:solidFill>
          <a:ln/>
        </p:spPr>
        <p:txBody>
          <a:bodyPr wrap="square" lIns="0" tIns="0" rIns="0" bIns="0" rtlCol="0" anchor="t">
            <a:normAutofit/>
          </a:bodyPr>
          <a:lstStyle/>
          <a:p>
            <a:pPr marL="0" indent="0" algn="ctr">
              <a:lnSpc>
                <a:spcPts val="4800"/>
              </a:lnSpc>
              <a:buNone/>
            </a:pPr>
            <a:r>
              <a:rPr lang="en-US" sz="1200" b="1" dirty="0">
                <a:solidFill>
                  <a:srgbClr val="14213D"/>
                </a:solidFill>
                <a:latin typeface="IBM Plex Sans" pitchFamily="34" charset="0"/>
                <a:ea typeface="IBM Plex Sans" pitchFamily="34" charset="-122"/>
                <a:cs typeface="IBM Plex Sans" pitchFamily="34" charset="-120"/>
              </a:rPr>
              <a:t>esq.</a:t>
            </a:r>
            <a:endParaRPr lang="en-US" sz="1200" dirty="0"/>
          </a:p>
        </p:txBody>
      </p:sp>
      <p:sp>
        <p:nvSpPr>
          <p:cNvPr id="15" name="Text 13"/>
          <p:cNvSpPr/>
          <p:nvPr/>
        </p:nvSpPr>
        <p:spPr>
          <a:xfrm>
            <a:off x="1778000" y="5106671"/>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2F6FB0"/>
          </a:solidFill>
          <a:ln/>
        </p:spPr>
        <p:txBody>
          <a:bodyPr wrap="square" lIns="0" tIns="0" rIns="0" bIns="0" rtlCol="0" anchor="t">
            <a:normAutofit/>
          </a:bodyPr>
          <a:lstStyle/>
          <a:p>
            <a:pPr marL="0" indent="0" algn="ctr">
              <a:lnSpc>
                <a:spcPts val="4800"/>
              </a:lnSpc>
              <a:buNone/>
            </a:pPr>
            <a:r>
              <a:rPr lang="en-US" sz="1200" b="1" dirty="0">
                <a:solidFill>
                  <a:srgbClr val="F7F5EF"/>
                </a:solidFill>
                <a:latin typeface="IBM Plex Sans" pitchFamily="34" charset="0"/>
                <a:ea typeface="IBM Plex Sans" pitchFamily="34" charset="-122"/>
                <a:cs typeface="IBM Plex Sans" pitchFamily="34" charset="-120"/>
              </a:rPr>
              <a:t>max</a:t>
            </a:r>
            <a:endParaRPr lang="en-US" sz="1200" dirty="0"/>
          </a:p>
        </p:txBody>
      </p:sp>
      <p:sp>
        <p:nvSpPr>
          <p:cNvPr id="16" name="Text 14"/>
          <p:cNvSpPr/>
          <p:nvPr/>
        </p:nvSpPr>
        <p:spPr>
          <a:xfrm>
            <a:off x="2743200" y="4685029"/>
            <a:ext cx="8581136"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Letras diferentes → maior entre cima e esquerda</a:t>
            </a:r>
            <a:endParaRPr lang="en-US" sz="2200" dirty="0"/>
          </a:p>
        </p:txBody>
      </p:sp>
      <p:sp>
        <p:nvSpPr>
          <p:cNvPr id="17" name="Text 15"/>
          <p:cNvSpPr/>
          <p:nvPr/>
        </p:nvSpPr>
        <p:spPr>
          <a:xfrm>
            <a:off x="2743200" y="5121914"/>
            <a:ext cx="8581136"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F6FB0"/>
                </a:solidFill>
                <a:latin typeface="JetBrains Mono" pitchFamily="49" charset="0"/>
                <a:ea typeface="JetBrains Mono" pitchFamily="49" charset="-122"/>
                <a:cs typeface="JetBrains Mono" pitchFamily="49" charset="-120"/>
              </a:rPr>
              <a:t>dp[i][j] = max(dp[i-1][j], dp[i][j-1])</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541B"/>
                </a:solidFill>
                <a:latin typeface="IBM Plex Sans" pitchFamily="34" charset="0"/>
                <a:ea typeface="IBM Plex Sans" pitchFamily="34" charset="-122"/>
                <a:cs typeface="IBM Plex Sans" pitchFamily="34" charset="-120"/>
              </a:rPr>
              <a:t>4 · COMO O ALGORITMO FUNCIONA?</a:t>
            </a:r>
            <a:endParaRPr lang="en-US" sz="1200" dirty="0"/>
          </a:p>
        </p:txBody>
      </p:sp>
      <p:sp>
        <p:nvSpPr>
          <p:cNvPr id="3" name="Text 1"/>
          <p:cNvSpPr>
            <a:spLocks noGrp="1"/>
          </p:cNvSpPr>
          <p:nvPr>
            <p:ph type="title"/>
          </p:nvPr>
        </p:nvSpPr>
        <p:spPr>
          <a:xfrm>
            <a:off x="812800" y="11277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Pseudocódigo</a:t>
            </a:r>
            <a:endParaRPr lang="en-US" sz="3600" dirty="0"/>
          </a:p>
        </p:txBody>
      </p:sp>
      <p:sp>
        <p:nvSpPr>
          <p:cNvPr id="4" name="Text 2"/>
          <p:cNvSpPr/>
          <p:nvPr/>
        </p:nvSpPr>
        <p:spPr>
          <a:xfrm>
            <a:off x="812800" y="1986279"/>
            <a:ext cx="7620000" cy="4058920"/>
          </a:xfrm>
          <a:prstGeom prst="roundRect">
            <a:avLst>
              <a:gd name="adj" fmla="val 3755"/>
            </a:avLst>
          </a:prstGeom>
          <a:solidFill>
            <a:srgbClr val="14213D"/>
          </a:solidFill>
          <a:ln/>
        </p:spPr>
        <p:txBody>
          <a:bodyPr wrap="square" lIns="260164" tIns="260164" rIns="49852" bIns="260164" rtlCol="0" anchor="t">
            <a:normAutofit/>
          </a:bodyPr>
          <a:lstStyle/>
          <a:p>
            <a:pPr marL="0" indent="0" algn="l">
              <a:lnSpc>
                <a:spcPts val="2480"/>
              </a:lnSpc>
              <a:buNone/>
            </a:pPr>
            <a:r>
              <a:rPr lang="en-US" sz="1600" dirty="0">
                <a:solidFill>
                  <a:srgbClr val="F2A365"/>
                </a:solidFill>
                <a:latin typeface="JetBrains Mono" pitchFamily="49" charset="0"/>
                <a:ea typeface="JetBrains Mono" pitchFamily="49" charset="-122"/>
                <a:cs typeface="JetBrains Mono" pitchFamily="49" charset="-120"/>
              </a:rPr>
              <a:t>LCS</a:t>
            </a:r>
            <a:r>
              <a:rPr lang="en-US" sz="1600" dirty="0">
                <a:solidFill>
                  <a:srgbClr val="E6E9EF"/>
                </a:solidFill>
                <a:latin typeface="JetBrains Mono" pitchFamily="49" charset="0"/>
                <a:ea typeface="JetBrains Mono" pitchFamily="49" charset="-122"/>
                <a:cs typeface="JetBrains Mono" pitchFamily="49" charset="-120"/>
              </a:rPr>
              <a:t>(X, Y):</a:t>
            </a:r>
            <a:endParaRPr lang="en-US" sz="1600" dirty="0"/>
          </a:p>
          <a:p>
            <a:pPr marL="0" indent="0" algn="l">
              <a:lnSpc>
                <a:spcPts val="2480"/>
              </a:lnSpc>
              <a:buNone/>
            </a:pPr>
            <a:r>
              <a:rPr lang="en-US" sz="1600" dirty="0">
                <a:solidFill>
                  <a:srgbClr val="E6E9EF"/>
                </a:solidFill>
                <a:latin typeface="JetBrains Mono" pitchFamily="49" charset="0"/>
                <a:ea typeface="JetBrains Mono" pitchFamily="49" charset="-122"/>
                <a:cs typeface="JetBrains Mono" pitchFamily="49" charset="-120"/>
              </a:rPr>
              <a:t>    m ← tamanho de X;  n ← tamanho de Y</a:t>
            </a:r>
            <a:endParaRPr lang="en-US" sz="1600" dirty="0"/>
          </a:p>
          <a:p>
            <a:pPr marL="0" indent="0" algn="l">
              <a:lnSpc>
                <a:spcPts val="2480"/>
              </a:lnSpc>
              <a:buNone/>
            </a:pPr>
            <a:r>
              <a:rPr lang="en-US" sz="1600" dirty="0">
                <a:solidFill>
                  <a:srgbClr val="E6E9EF"/>
                </a:solidFill>
                <a:latin typeface="JetBrains Mono" pitchFamily="49" charset="0"/>
                <a:ea typeface="JetBrains Mono" pitchFamily="49" charset="-122"/>
                <a:cs typeface="JetBrains Mono" pitchFamily="49" charset="-120"/>
              </a:rPr>
              <a:t>    criar tabela dp (m+1) × (n+1) com zeros</a:t>
            </a:r>
            <a:endParaRPr lang="en-US" sz="1600" dirty="0"/>
          </a:p>
          <a:p>
            <a:pPr marL="0" indent="0" algn="l">
              <a:lnSpc>
                <a:spcPts val="2480"/>
              </a:lnSpc>
              <a:buNone/>
            </a:pPr>
            <a:r>
              <a:rPr lang="en-US" sz="1600" dirty="0">
                <a:solidFill>
                  <a:srgbClr val="E6E9EF"/>
                </a:solidFill>
                <a:latin typeface="JetBrains Mono" pitchFamily="49" charset="0"/>
                <a:ea typeface="JetBrains Mono" pitchFamily="49" charset="-122"/>
                <a:cs typeface="JetBrains Mono" pitchFamily="49" charset="-120"/>
              </a:rPr>
              <a:t>    </a:t>
            </a:r>
            <a:r>
              <a:rPr lang="en-US" sz="1600" dirty="0">
                <a:solidFill>
                  <a:srgbClr val="F2A365"/>
                </a:solidFill>
                <a:latin typeface="JetBrains Mono" pitchFamily="49" charset="0"/>
                <a:ea typeface="JetBrains Mono" pitchFamily="49" charset="-122"/>
                <a:cs typeface="JetBrains Mono" pitchFamily="49" charset="-120"/>
              </a:rPr>
              <a:t>para</a:t>
            </a:r>
            <a:r>
              <a:rPr lang="en-US" sz="1600" dirty="0">
                <a:solidFill>
                  <a:srgbClr val="E6E9EF"/>
                </a:solidFill>
                <a:latin typeface="JetBrains Mono" pitchFamily="49" charset="0"/>
                <a:ea typeface="JetBrains Mono" pitchFamily="49" charset="-122"/>
                <a:cs typeface="JetBrains Mono" pitchFamily="49" charset="-120"/>
              </a:rPr>
              <a:t> i de 1 até m:</a:t>
            </a:r>
            <a:endParaRPr lang="en-US" sz="1600" dirty="0"/>
          </a:p>
          <a:p>
            <a:pPr marL="0" indent="0" algn="l">
              <a:lnSpc>
                <a:spcPts val="2480"/>
              </a:lnSpc>
              <a:buNone/>
            </a:pPr>
            <a:r>
              <a:rPr lang="en-US" sz="1600" dirty="0">
                <a:solidFill>
                  <a:srgbClr val="E6E9EF"/>
                </a:solidFill>
                <a:latin typeface="JetBrains Mono" pitchFamily="49" charset="0"/>
                <a:ea typeface="JetBrains Mono" pitchFamily="49" charset="-122"/>
                <a:cs typeface="JetBrains Mono" pitchFamily="49" charset="-120"/>
              </a:rPr>
              <a:t>        </a:t>
            </a:r>
            <a:r>
              <a:rPr lang="en-US" sz="1600" dirty="0">
                <a:solidFill>
                  <a:srgbClr val="F2A365"/>
                </a:solidFill>
                <a:latin typeface="JetBrains Mono" pitchFamily="49" charset="0"/>
                <a:ea typeface="JetBrains Mono" pitchFamily="49" charset="-122"/>
                <a:cs typeface="JetBrains Mono" pitchFamily="49" charset="-120"/>
              </a:rPr>
              <a:t>para</a:t>
            </a:r>
            <a:r>
              <a:rPr lang="en-US" sz="1600" dirty="0">
                <a:solidFill>
                  <a:srgbClr val="E6E9EF"/>
                </a:solidFill>
                <a:latin typeface="JetBrains Mono" pitchFamily="49" charset="0"/>
                <a:ea typeface="JetBrains Mono" pitchFamily="49" charset="-122"/>
                <a:cs typeface="JetBrains Mono" pitchFamily="49" charset="-120"/>
              </a:rPr>
              <a:t> j de 1 até n:</a:t>
            </a:r>
            <a:endParaRPr lang="en-US" sz="1600" dirty="0"/>
          </a:p>
          <a:p>
            <a:pPr marL="0" indent="0" algn="l">
              <a:lnSpc>
                <a:spcPts val="2480"/>
              </a:lnSpc>
              <a:buNone/>
            </a:pPr>
            <a:r>
              <a:rPr lang="en-US" sz="1600" dirty="0">
                <a:solidFill>
                  <a:srgbClr val="E6E9EF"/>
                </a:solidFill>
                <a:latin typeface="JetBrains Mono" pitchFamily="49" charset="0"/>
                <a:ea typeface="JetBrains Mono" pitchFamily="49" charset="-122"/>
                <a:cs typeface="JetBrains Mono" pitchFamily="49" charset="-120"/>
              </a:rPr>
              <a:t>            </a:t>
            </a:r>
            <a:r>
              <a:rPr lang="en-US" sz="1600" dirty="0">
                <a:solidFill>
                  <a:srgbClr val="F2A365"/>
                </a:solidFill>
                <a:latin typeface="JetBrains Mono" pitchFamily="49" charset="0"/>
                <a:ea typeface="JetBrains Mono" pitchFamily="49" charset="-122"/>
                <a:cs typeface="JetBrains Mono" pitchFamily="49" charset="-120"/>
              </a:rPr>
              <a:t>se</a:t>
            </a:r>
            <a:r>
              <a:rPr lang="en-US" sz="1600" dirty="0">
                <a:solidFill>
                  <a:srgbClr val="E6E9EF"/>
                </a:solidFill>
                <a:latin typeface="JetBrains Mono" pitchFamily="49" charset="0"/>
                <a:ea typeface="JetBrains Mono" pitchFamily="49" charset="-122"/>
                <a:cs typeface="JetBrains Mono" pitchFamily="49" charset="-120"/>
              </a:rPr>
              <a:t> X[i] = Y[j]:</a:t>
            </a:r>
            <a:endParaRPr lang="en-US" sz="1600" dirty="0"/>
          </a:p>
          <a:p>
            <a:pPr marL="0" indent="0" algn="l">
              <a:lnSpc>
                <a:spcPts val="2480"/>
              </a:lnSpc>
              <a:buNone/>
            </a:pPr>
            <a:r>
              <a:rPr lang="en-US" sz="1600" dirty="0">
                <a:solidFill>
                  <a:srgbClr val="E6E9EF"/>
                </a:solidFill>
                <a:latin typeface="JetBrains Mono" pitchFamily="49" charset="0"/>
                <a:ea typeface="JetBrains Mono" pitchFamily="49" charset="-122"/>
                <a:cs typeface="JetBrains Mono" pitchFamily="49" charset="-120"/>
              </a:rPr>
              <a:t>                dp[i][j] ← dp[i-1][j-1] + 1</a:t>
            </a:r>
            <a:endParaRPr lang="en-US" sz="1600" dirty="0"/>
          </a:p>
          <a:p>
            <a:pPr marL="0" indent="0" algn="l">
              <a:lnSpc>
                <a:spcPts val="2480"/>
              </a:lnSpc>
              <a:buNone/>
            </a:pPr>
            <a:r>
              <a:rPr lang="en-US" sz="1600" dirty="0">
                <a:solidFill>
                  <a:srgbClr val="E6E9EF"/>
                </a:solidFill>
                <a:latin typeface="JetBrains Mono" pitchFamily="49" charset="0"/>
                <a:ea typeface="JetBrains Mono" pitchFamily="49" charset="-122"/>
                <a:cs typeface="JetBrains Mono" pitchFamily="49" charset="-120"/>
              </a:rPr>
              <a:t>            </a:t>
            </a:r>
            <a:r>
              <a:rPr lang="en-US" sz="1600" dirty="0">
                <a:solidFill>
                  <a:srgbClr val="F2A365"/>
                </a:solidFill>
                <a:latin typeface="JetBrains Mono" pitchFamily="49" charset="0"/>
                <a:ea typeface="JetBrains Mono" pitchFamily="49" charset="-122"/>
                <a:cs typeface="JetBrains Mono" pitchFamily="49" charset="-120"/>
              </a:rPr>
              <a:t>senão</a:t>
            </a:r>
            <a:r>
              <a:rPr lang="en-US" sz="1600" dirty="0">
                <a:solidFill>
                  <a:srgbClr val="E6E9EF"/>
                </a:solidFill>
                <a:latin typeface="JetBrains Mono" pitchFamily="49" charset="0"/>
                <a:ea typeface="JetBrains Mono" pitchFamily="49" charset="-122"/>
                <a:cs typeface="JetBrains Mono" pitchFamily="49" charset="-120"/>
              </a:rPr>
              <a:t>:</a:t>
            </a:r>
            <a:endParaRPr lang="en-US" sz="1600" dirty="0"/>
          </a:p>
          <a:p>
            <a:pPr marL="0" indent="0" algn="l">
              <a:lnSpc>
                <a:spcPts val="2480"/>
              </a:lnSpc>
              <a:buNone/>
            </a:pPr>
            <a:r>
              <a:rPr lang="en-US" sz="1600" dirty="0">
                <a:solidFill>
                  <a:srgbClr val="E6E9EF"/>
                </a:solidFill>
                <a:latin typeface="JetBrains Mono" pitchFamily="49" charset="0"/>
                <a:ea typeface="JetBrains Mono" pitchFamily="49" charset="-122"/>
                <a:cs typeface="JetBrains Mono" pitchFamily="49" charset="-120"/>
              </a:rPr>
              <a:t>                dp[i][j] ← max(dp[i-1][j], dp[i][j-1])</a:t>
            </a:r>
            <a:endParaRPr lang="en-US" sz="1600" dirty="0"/>
          </a:p>
          <a:p>
            <a:pPr marL="0" indent="0" algn="l">
              <a:lnSpc>
                <a:spcPts val="2480"/>
              </a:lnSpc>
              <a:buNone/>
            </a:pPr>
            <a:r>
              <a:rPr lang="en-US" sz="1600" dirty="0">
                <a:solidFill>
                  <a:srgbClr val="E6E9EF"/>
                </a:solidFill>
                <a:latin typeface="JetBrains Mono" pitchFamily="49" charset="0"/>
                <a:ea typeface="JetBrains Mono" pitchFamily="49" charset="-122"/>
                <a:cs typeface="JetBrains Mono" pitchFamily="49" charset="-120"/>
              </a:rPr>
              <a:t>    </a:t>
            </a:r>
            <a:r>
              <a:rPr lang="en-US" sz="1600" dirty="0">
                <a:solidFill>
                  <a:srgbClr val="F2A365"/>
                </a:solidFill>
                <a:latin typeface="JetBrains Mono" pitchFamily="49" charset="0"/>
                <a:ea typeface="JetBrains Mono" pitchFamily="49" charset="-122"/>
                <a:cs typeface="JetBrains Mono" pitchFamily="49" charset="-120"/>
              </a:rPr>
              <a:t>retornar</a:t>
            </a:r>
            <a:r>
              <a:rPr lang="en-US" sz="1600" dirty="0">
                <a:solidFill>
                  <a:srgbClr val="E6E9EF"/>
                </a:solidFill>
                <a:latin typeface="JetBrains Mono" pitchFamily="49" charset="0"/>
                <a:ea typeface="JetBrains Mono" pitchFamily="49" charset="-122"/>
                <a:cs typeface="JetBrains Mono" pitchFamily="49" charset="-120"/>
              </a:rPr>
              <a:t> dp[m][n]</a:t>
            </a:r>
            <a:endParaRPr lang="en-US" sz="1600" dirty="0"/>
          </a:p>
        </p:txBody>
      </p:sp>
      <p:sp>
        <p:nvSpPr>
          <p:cNvPr id="5" name="Shape 3"/>
          <p:cNvSpPr/>
          <p:nvPr/>
        </p:nvSpPr>
        <p:spPr>
          <a:xfrm>
            <a:off x="8636000" y="1986279"/>
            <a:ext cx="2743200" cy="1343660"/>
          </a:xfrm>
          <a:prstGeom prst="roundRect">
            <a:avLst>
              <a:gd name="adj" fmla="val 11342"/>
            </a:avLst>
          </a:prstGeom>
          <a:solidFill>
            <a:srgbClr val="FDFCF9"/>
          </a:solidFill>
          <a:ln/>
        </p:spPr>
        <p:txBody>
          <a:bodyPr/>
          <a:lstStyle/>
          <a:p>
            <a:endParaRPr lang="pt-BR"/>
          </a:p>
        </p:txBody>
      </p:sp>
      <p:sp>
        <p:nvSpPr>
          <p:cNvPr id="6" name="Text 4"/>
          <p:cNvSpPr/>
          <p:nvPr/>
        </p:nvSpPr>
        <p:spPr>
          <a:xfrm>
            <a:off x="8890000" y="2240279"/>
            <a:ext cx="2302256" cy="232489"/>
          </a:xfrm>
          <a:prstGeom prst="rect">
            <a:avLst/>
          </a:prstGeom>
          <a:noFill/>
          <a:ln/>
        </p:spPr>
        <p:txBody>
          <a:bodyPr wrap="square" lIns="0" tIns="0" rIns="0" bIns="0" rtlCol="0" anchor="t">
            <a:normAutofit/>
          </a:bodyPr>
          <a:lstStyle/>
          <a:p>
            <a:pPr marL="0" indent="0" algn="l">
              <a:lnSpc>
                <a:spcPts val="1675"/>
              </a:lnSpc>
              <a:buNone/>
            </a:pPr>
            <a:r>
              <a:rPr lang="en-US" sz="1196" b="1" kern="0" spc="150" dirty="0">
                <a:solidFill>
                  <a:srgbClr val="2F6FB0"/>
                </a:solidFill>
                <a:latin typeface="IBM Plex Sans" pitchFamily="34" charset="0"/>
                <a:ea typeface="IBM Plex Sans" pitchFamily="34" charset="-122"/>
                <a:cs typeface="IBM Plex Sans" pitchFamily="34" charset="-120"/>
              </a:rPr>
              <a:t>ETAPA 1</a:t>
            </a:r>
            <a:endParaRPr lang="en-US" sz="1196" dirty="0"/>
          </a:p>
        </p:txBody>
      </p:sp>
      <p:sp>
        <p:nvSpPr>
          <p:cNvPr id="7" name="Text 5"/>
          <p:cNvSpPr/>
          <p:nvPr/>
        </p:nvSpPr>
        <p:spPr>
          <a:xfrm>
            <a:off x="8890000" y="2523573"/>
            <a:ext cx="2302256" cy="577771"/>
          </a:xfrm>
          <a:prstGeom prst="rect">
            <a:avLst/>
          </a:prstGeom>
          <a:noFill/>
          <a:ln/>
        </p:spPr>
        <p:txBody>
          <a:bodyPr wrap="square" lIns="0" tIns="0" rIns="0" bIns="0" rtlCol="0" anchor="t">
            <a:normAutofit/>
          </a:bodyPr>
          <a:lstStyle/>
          <a:p>
            <a:pPr marL="0" indent="0" algn="l">
              <a:lnSpc>
                <a:spcPts val="2184"/>
              </a:lnSpc>
              <a:buNone/>
            </a:pPr>
            <a:r>
              <a:rPr lang="en-US" sz="1560" dirty="0">
                <a:solidFill>
                  <a:srgbClr val="14213D"/>
                </a:solidFill>
                <a:latin typeface="IBM Plex Sans" pitchFamily="34" charset="0"/>
                <a:ea typeface="IBM Plex Sans" pitchFamily="34" charset="-122"/>
                <a:cs typeface="IBM Plex Sans" pitchFamily="34" charset="-120"/>
              </a:rPr>
              <a:t>Montar a tabela com zeros.</a:t>
            </a:r>
            <a:endParaRPr lang="en-US" sz="1560" dirty="0"/>
          </a:p>
        </p:txBody>
      </p:sp>
      <p:sp>
        <p:nvSpPr>
          <p:cNvPr id="8" name="Shape 6"/>
          <p:cNvSpPr/>
          <p:nvPr/>
        </p:nvSpPr>
        <p:spPr>
          <a:xfrm>
            <a:off x="8636000" y="3482342"/>
            <a:ext cx="2743200" cy="1066800"/>
          </a:xfrm>
          <a:prstGeom prst="roundRect">
            <a:avLst>
              <a:gd name="adj" fmla="val 14286"/>
            </a:avLst>
          </a:prstGeom>
          <a:solidFill>
            <a:srgbClr val="FDFCF9"/>
          </a:solidFill>
          <a:ln/>
        </p:spPr>
        <p:txBody>
          <a:bodyPr/>
          <a:lstStyle/>
          <a:p>
            <a:endParaRPr lang="pt-BR"/>
          </a:p>
        </p:txBody>
      </p:sp>
      <p:sp>
        <p:nvSpPr>
          <p:cNvPr id="9" name="Text 7"/>
          <p:cNvSpPr/>
          <p:nvPr/>
        </p:nvSpPr>
        <p:spPr>
          <a:xfrm>
            <a:off x="8890000" y="3736342"/>
            <a:ext cx="2302256" cy="232251"/>
          </a:xfrm>
          <a:prstGeom prst="rect">
            <a:avLst/>
          </a:prstGeom>
          <a:noFill/>
          <a:ln/>
        </p:spPr>
        <p:txBody>
          <a:bodyPr wrap="square" lIns="0" tIns="0" rIns="0" bIns="0" rtlCol="0" anchor="t">
            <a:normAutofit/>
          </a:bodyPr>
          <a:lstStyle/>
          <a:p>
            <a:pPr marL="0" indent="0" algn="l">
              <a:lnSpc>
                <a:spcPts val="1675"/>
              </a:lnSpc>
              <a:buNone/>
            </a:pPr>
            <a:r>
              <a:rPr lang="en-US" sz="1196" b="1" kern="0" spc="150" dirty="0">
                <a:solidFill>
                  <a:srgbClr val="2F6FB0"/>
                </a:solidFill>
                <a:latin typeface="IBM Plex Sans" pitchFamily="34" charset="0"/>
                <a:ea typeface="IBM Plex Sans" pitchFamily="34" charset="-122"/>
                <a:cs typeface="IBM Plex Sans" pitchFamily="34" charset="-120"/>
              </a:rPr>
              <a:t>ETAPA 2</a:t>
            </a:r>
            <a:endParaRPr lang="en-US" sz="1196" dirty="0"/>
          </a:p>
        </p:txBody>
      </p:sp>
      <p:sp>
        <p:nvSpPr>
          <p:cNvPr id="10" name="Text 8"/>
          <p:cNvSpPr/>
          <p:nvPr/>
        </p:nvSpPr>
        <p:spPr>
          <a:xfrm>
            <a:off x="8890000" y="4019395"/>
            <a:ext cx="2302256" cy="301149"/>
          </a:xfrm>
          <a:prstGeom prst="rect">
            <a:avLst/>
          </a:prstGeom>
          <a:noFill/>
          <a:ln/>
        </p:spPr>
        <p:txBody>
          <a:bodyPr wrap="square" lIns="0" tIns="0" rIns="0" bIns="0" rtlCol="0" anchor="t">
            <a:normAutofit/>
          </a:bodyPr>
          <a:lstStyle/>
          <a:p>
            <a:pPr marL="0" indent="0" algn="l">
              <a:lnSpc>
                <a:spcPts val="2170"/>
              </a:lnSpc>
              <a:buNone/>
            </a:pPr>
            <a:r>
              <a:rPr lang="en-US" sz="1550" dirty="0">
                <a:solidFill>
                  <a:srgbClr val="14213D"/>
                </a:solidFill>
                <a:latin typeface="IBM Plex Sans" pitchFamily="34" charset="0"/>
                <a:ea typeface="IBM Plex Sans" pitchFamily="34" charset="-122"/>
                <a:cs typeface="IBM Plex Sans" pitchFamily="34" charset="-120"/>
              </a:rPr>
              <a:t>Preencher com a regra.</a:t>
            </a:r>
            <a:endParaRPr lang="en-US" sz="1550" dirty="0"/>
          </a:p>
        </p:txBody>
      </p:sp>
      <p:sp>
        <p:nvSpPr>
          <p:cNvPr id="11" name="Shape 9"/>
          <p:cNvSpPr/>
          <p:nvPr/>
        </p:nvSpPr>
        <p:spPr>
          <a:xfrm>
            <a:off x="8636000" y="4701542"/>
            <a:ext cx="2743200" cy="1343660"/>
          </a:xfrm>
          <a:prstGeom prst="roundRect">
            <a:avLst>
              <a:gd name="adj" fmla="val 11342"/>
            </a:avLst>
          </a:prstGeom>
          <a:solidFill>
            <a:srgbClr val="FDFCF9"/>
          </a:solidFill>
          <a:ln/>
        </p:spPr>
        <p:txBody>
          <a:bodyPr/>
          <a:lstStyle/>
          <a:p>
            <a:endParaRPr lang="pt-BR"/>
          </a:p>
        </p:txBody>
      </p:sp>
      <p:sp>
        <p:nvSpPr>
          <p:cNvPr id="12" name="Text 10"/>
          <p:cNvSpPr/>
          <p:nvPr/>
        </p:nvSpPr>
        <p:spPr>
          <a:xfrm>
            <a:off x="8890000" y="4955542"/>
            <a:ext cx="2302256" cy="232489"/>
          </a:xfrm>
          <a:prstGeom prst="rect">
            <a:avLst/>
          </a:prstGeom>
          <a:noFill/>
          <a:ln/>
        </p:spPr>
        <p:txBody>
          <a:bodyPr wrap="square" lIns="0" tIns="0" rIns="0" bIns="0" rtlCol="0" anchor="t">
            <a:normAutofit/>
          </a:bodyPr>
          <a:lstStyle/>
          <a:p>
            <a:pPr marL="0" indent="0" algn="l">
              <a:lnSpc>
                <a:spcPts val="1675"/>
              </a:lnSpc>
              <a:buNone/>
            </a:pPr>
            <a:r>
              <a:rPr lang="en-US" sz="1196" b="1" kern="0" spc="150" dirty="0">
                <a:solidFill>
                  <a:srgbClr val="2F6FB0"/>
                </a:solidFill>
                <a:latin typeface="IBM Plex Sans" pitchFamily="34" charset="0"/>
                <a:ea typeface="IBM Plex Sans" pitchFamily="34" charset="-122"/>
                <a:cs typeface="IBM Plex Sans" pitchFamily="34" charset="-120"/>
              </a:rPr>
              <a:t>ETAPA 3</a:t>
            </a:r>
            <a:endParaRPr lang="en-US" sz="1196" dirty="0"/>
          </a:p>
        </p:txBody>
      </p:sp>
      <p:sp>
        <p:nvSpPr>
          <p:cNvPr id="13" name="Text 11"/>
          <p:cNvSpPr/>
          <p:nvPr/>
        </p:nvSpPr>
        <p:spPr>
          <a:xfrm>
            <a:off x="8890000" y="5238831"/>
            <a:ext cx="2302256" cy="577771"/>
          </a:xfrm>
          <a:prstGeom prst="rect">
            <a:avLst/>
          </a:prstGeom>
          <a:noFill/>
          <a:ln/>
        </p:spPr>
        <p:txBody>
          <a:bodyPr wrap="square" lIns="0" tIns="0" rIns="0" bIns="0" rtlCol="0" anchor="t">
            <a:normAutofit/>
          </a:bodyPr>
          <a:lstStyle/>
          <a:p>
            <a:pPr marL="0" indent="0" algn="l">
              <a:lnSpc>
                <a:spcPts val="2184"/>
              </a:lnSpc>
              <a:buNone/>
            </a:pPr>
            <a:r>
              <a:rPr lang="en-US" sz="1560" dirty="0">
                <a:solidFill>
                  <a:srgbClr val="14213D"/>
                </a:solidFill>
                <a:latin typeface="IBM Plex Sans" pitchFamily="34" charset="0"/>
                <a:ea typeface="IBM Plex Sans" pitchFamily="34" charset="-122"/>
                <a:cs typeface="IBM Plex Sans" pitchFamily="34" charset="-120"/>
              </a:rPr>
              <a:t>Voltar pela tabela para montar a palavra.</a:t>
            </a:r>
            <a:endParaRPr lang="en-US" sz="156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541B"/>
                </a:solidFill>
                <a:latin typeface="IBM Plex Sans" pitchFamily="34" charset="0"/>
                <a:ea typeface="IBM Plex Sans" pitchFamily="34" charset="-122"/>
                <a:cs typeface="IBM Plex Sans" pitchFamily="34" charset="-120"/>
              </a:rPr>
              <a:t>4 · TABELA PASSO A PASSO</a:t>
            </a:r>
            <a:endParaRPr lang="en-US" sz="1200" dirty="0"/>
          </a:p>
        </p:txBody>
      </p:sp>
      <p:sp>
        <p:nvSpPr>
          <p:cNvPr id="3" name="Text 1"/>
          <p:cNvSpPr>
            <a:spLocks noGrp="1"/>
          </p:cNvSpPr>
          <p:nvPr>
            <p:ph type="title"/>
          </p:nvPr>
        </p:nvSpPr>
        <p:spPr>
          <a:xfrm>
            <a:off x="812800" y="11277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Passo 0: a borda começa com zero</a:t>
            </a:r>
            <a:endParaRPr lang="en-US" sz="3600" dirty="0"/>
          </a:p>
        </p:txBody>
      </p:sp>
      <p:sp>
        <p:nvSpPr>
          <p:cNvPr id="4" name="Text 2"/>
          <p:cNvSpPr/>
          <p:nvPr/>
        </p:nvSpPr>
        <p:spPr>
          <a:xfrm>
            <a:off x="1447800" y="19354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dirty="0">
                <a:solidFill>
                  <a:srgbClr val="8A93A3"/>
                </a:solidFill>
                <a:latin typeface="JetBrains Mono" pitchFamily="49" charset="0"/>
                <a:ea typeface="JetBrains Mono" pitchFamily="49" charset="-122"/>
                <a:cs typeface="JetBrains Mono" pitchFamily="49" charset="-120"/>
              </a:rPr>
              <a:t>∅</a:t>
            </a:r>
            <a:endParaRPr lang="en-US" sz="2000" dirty="0"/>
          </a:p>
        </p:txBody>
      </p:sp>
      <p:sp>
        <p:nvSpPr>
          <p:cNvPr id="5" name="Text 3"/>
          <p:cNvSpPr/>
          <p:nvPr/>
        </p:nvSpPr>
        <p:spPr>
          <a:xfrm>
            <a:off x="2108200" y="19354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B</a:t>
            </a:r>
            <a:endParaRPr lang="en-US" sz="2000" dirty="0"/>
          </a:p>
        </p:txBody>
      </p:sp>
      <p:sp>
        <p:nvSpPr>
          <p:cNvPr id="6" name="Text 4"/>
          <p:cNvSpPr/>
          <p:nvPr/>
        </p:nvSpPr>
        <p:spPr>
          <a:xfrm>
            <a:off x="2768600" y="19354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C</a:t>
            </a:r>
            <a:endParaRPr lang="en-US" sz="2000" dirty="0"/>
          </a:p>
        </p:txBody>
      </p:sp>
      <p:sp>
        <p:nvSpPr>
          <p:cNvPr id="7" name="Text 5"/>
          <p:cNvSpPr/>
          <p:nvPr/>
        </p:nvSpPr>
        <p:spPr>
          <a:xfrm>
            <a:off x="3429000" y="19354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A</a:t>
            </a:r>
            <a:endParaRPr lang="en-US" sz="2000" dirty="0"/>
          </a:p>
        </p:txBody>
      </p:sp>
      <p:sp>
        <p:nvSpPr>
          <p:cNvPr id="8" name="Text 6"/>
          <p:cNvSpPr/>
          <p:nvPr/>
        </p:nvSpPr>
        <p:spPr>
          <a:xfrm>
            <a:off x="4089400" y="19354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B</a:t>
            </a:r>
            <a:endParaRPr lang="en-US" sz="2000" dirty="0"/>
          </a:p>
        </p:txBody>
      </p:sp>
      <p:sp>
        <p:nvSpPr>
          <p:cNvPr id="9" name="Text 7"/>
          <p:cNvSpPr/>
          <p:nvPr/>
        </p:nvSpPr>
        <p:spPr>
          <a:xfrm>
            <a:off x="787400" y="25958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dirty="0">
                <a:solidFill>
                  <a:srgbClr val="8A93A3"/>
                </a:solidFill>
                <a:latin typeface="JetBrains Mono" pitchFamily="49" charset="0"/>
                <a:ea typeface="JetBrains Mono" pitchFamily="49" charset="-122"/>
                <a:cs typeface="JetBrains Mono" pitchFamily="49" charset="-120"/>
              </a:rPr>
              <a:t>∅</a:t>
            </a:r>
            <a:endParaRPr lang="en-US" sz="2000" dirty="0"/>
          </a:p>
        </p:txBody>
      </p:sp>
      <p:sp>
        <p:nvSpPr>
          <p:cNvPr id="10" name="Text 8"/>
          <p:cNvSpPr/>
          <p:nvPr/>
        </p:nvSpPr>
        <p:spPr>
          <a:xfrm>
            <a:off x="1473200" y="25958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1" name="Text 9"/>
          <p:cNvSpPr/>
          <p:nvPr/>
        </p:nvSpPr>
        <p:spPr>
          <a:xfrm>
            <a:off x="2133600" y="25958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2" name="Text 10"/>
          <p:cNvSpPr/>
          <p:nvPr/>
        </p:nvSpPr>
        <p:spPr>
          <a:xfrm>
            <a:off x="2794000" y="25958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3" name="Text 11"/>
          <p:cNvSpPr/>
          <p:nvPr/>
        </p:nvSpPr>
        <p:spPr>
          <a:xfrm>
            <a:off x="3454400" y="25958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4" name="Text 12"/>
          <p:cNvSpPr/>
          <p:nvPr/>
        </p:nvSpPr>
        <p:spPr>
          <a:xfrm>
            <a:off x="4114800" y="25958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5" name="Text 13"/>
          <p:cNvSpPr/>
          <p:nvPr/>
        </p:nvSpPr>
        <p:spPr>
          <a:xfrm>
            <a:off x="787400" y="32562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A</a:t>
            </a:r>
            <a:endParaRPr lang="en-US" sz="2000" dirty="0"/>
          </a:p>
        </p:txBody>
      </p:sp>
      <p:sp>
        <p:nvSpPr>
          <p:cNvPr id="16" name="Text 14"/>
          <p:cNvSpPr/>
          <p:nvPr/>
        </p:nvSpPr>
        <p:spPr>
          <a:xfrm>
            <a:off x="1473200" y="32562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7" name="Shape 15"/>
          <p:cNvSpPr/>
          <p:nvPr/>
        </p:nvSpPr>
        <p:spPr>
          <a:xfrm>
            <a:off x="2133600" y="3256279"/>
            <a:ext cx="609600" cy="609600"/>
          </a:xfrm>
          <a:prstGeom prst="roundRect">
            <a:avLst>
              <a:gd name="adj" fmla="val 12500"/>
            </a:avLst>
          </a:prstGeom>
          <a:solidFill>
            <a:srgbClr val="EAE5D9"/>
          </a:solidFill>
          <a:ln/>
        </p:spPr>
        <p:txBody>
          <a:bodyPr/>
          <a:lstStyle/>
          <a:p>
            <a:endParaRPr lang="pt-BR"/>
          </a:p>
        </p:txBody>
      </p:sp>
      <p:sp>
        <p:nvSpPr>
          <p:cNvPr id="18" name="Shape 16"/>
          <p:cNvSpPr/>
          <p:nvPr/>
        </p:nvSpPr>
        <p:spPr>
          <a:xfrm>
            <a:off x="2794000" y="3256279"/>
            <a:ext cx="609600" cy="609600"/>
          </a:xfrm>
          <a:prstGeom prst="roundRect">
            <a:avLst>
              <a:gd name="adj" fmla="val 12500"/>
            </a:avLst>
          </a:prstGeom>
          <a:solidFill>
            <a:srgbClr val="EAE5D9"/>
          </a:solidFill>
          <a:ln/>
        </p:spPr>
        <p:txBody>
          <a:bodyPr/>
          <a:lstStyle/>
          <a:p>
            <a:endParaRPr lang="pt-BR"/>
          </a:p>
        </p:txBody>
      </p:sp>
      <p:sp>
        <p:nvSpPr>
          <p:cNvPr id="19" name="Shape 17"/>
          <p:cNvSpPr/>
          <p:nvPr/>
        </p:nvSpPr>
        <p:spPr>
          <a:xfrm>
            <a:off x="3454400" y="3256279"/>
            <a:ext cx="609600" cy="609600"/>
          </a:xfrm>
          <a:prstGeom prst="roundRect">
            <a:avLst>
              <a:gd name="adj" fmla="val 12500"/>
            </a:avLst>
          </a:prstGeom>
          <a:solidFill>
            <a:srgbClr val="EAE5D9"/>
          </a:solidFill>
          <a:ln/>
        </p:spPr>
        <p:txBody>
          <a:bodyPr/>
          <a:lstStyle/>
          <a:p>
            <a:endParaRPr lang="pt-BR"/>
          </a:p>
        </p:txBody>
      </p:sp>
      <p:sp>
        <p:nvSpPr>
          <p:cNvPr id="20" name="Shape 18"/>
          <p:cNvSpPr/>
          <p:nvPr/>
        </p:nvSpPr>
        <p:spPr>
          <a:xfrm>
            <a:off x="4114800" y="3256279"/>
            <a:ext cx="609600" cy="609600"/>
          </a:xfrm>
          <a:prstGeom prst="roundRect">
            <a:avLst>
              <a:gd name="adj" fmla="val 12500"/>
            </a:avLst>
          </a:prstGeom>
          <a:solidFill>
            <a:srgbClr val="EAE5D9"/>
          </a:solidFill>
          <a:ln/>
        </p:spPr>
        <p:txBody>
          <a:bodyPr/>
          <a:lstStyle/>
          <a:p>
            <a:endParaRPr lang="pt-BR"/>
          </a:p>
        </p:txBody>
      </p:sp>
      <p:sp>
        <p:nvSpPr>
          <p:cNvPr id="21" name="Text 19"/>
          <p:cNvSpPr/>
          <p:nvPr/>
        </p:nvSpPr>
        <p:spPr>
          <a:xfrm>
            <a:off x="787400" y="39166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B</a:t>
            </a:r>
            <a:endParaRPr lang="en-US" sz="2000" dirty="0"/>
          </a:p>
        </p:txBody>
      </p:sp>
      <p:sp>
        <p:nvSpPr>
          <p:cNvPr id="22" name="Text 20"/>
          <p:cNvSpPr/>
          <p:nvPr/>
        </p:nvSpPr>
        <p:spPr>
          <a:xfrm>
            <a:off x="1473200" y="39166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23" name="Shape 21"/>
          <p:cNvSpPr/>
          <p:nvPr/>
        </p:nvSpPr>
        <p:spPr>
          <a:xfrm>
            <a:off x="2133600" y="3916679"/>
            <a:ext cx="609600" cy="609600"/>
          </a:xfrm>
          <a:prstGeom prst="roundRect">
            <a:avLst>
              <a:gd name="adj" fmla="val 12500"/>
            </a:avLst>
          </a:prstGeom>
          <a:solidFill>
            <a:srgbClr val="EAE5D9"/>
          </a:solidFill>
          <a:ln/>
        </p:spPr>
        <p:txBody>
          <a:bodyPr/>
          <a:lstStyle/>
          <a:p>
            <a:endParaRPr lang="pt-BR"/>
          </a:p>
        </p:txBody>
      </p:sp>
      <p:sp>
        <p:nvSpPr>
          <p:cNvPr id="24" name="Shape 22"/>
          <p:cNvSpPr/>
          <p:nvPr/>
        </p:nvSpPr>
        <p:spPr>
          <a:xfrm>
            <a:off x="2794000" y="3916679"/>
            <a:ext cx="609600" cy="609600"/>
          </a:xfrm>
          <a:prstGeom prst="roundRect">
            <a:avLst>
              <a:gd name="adj" fmla="val 12500"/>
            </a:avLst>
          </a:prstGeom>
          <a:solidFill>
            <a:srgbClr val="EAE5D9"/>
          </a:solidFill>
          <a:ln/>
        </p:spPr>
        <p:txBody>
          <a:bodyPr/>
          <a:lstStyle/>
          <a:p>
            <a:endParaRPr lang="pt-BR"/>
          </a:p>
        </p:txBody>
      </p:sp>
      <p:sp>
        <p:nvSpPr>
          <p:cNvPr id="25" name="Shape 23"/>
          <p:cNvSpPr/>
          <p:nvPr/>
        </p:nvSpPr>
        <p:spPr>
          <a:xfrm>
            <a:off x="3454400" y="3916679"/>
            <a:ext cx="609600" cy="609600"/>
          </a:xfrm>
          <a:prstGeom prst="roundRect">
            <a:avLst>
              <a:gd name="adj" fmla="val 12500"/>
            </a:avLst>
          </a:prstGeom>
          <a:solidFill>
            <a:srgbClr val="EAE5D9"/>
          </a:solidFill>
          <a:ln/>
        </p:spPr>
        <p:txBody>
          <a:bodyPr/>
          <a:lstStyle/>
          <a:p>
            <a:endParaRPr lang="pt-BR"/>
          </a:p>
        </p:txBody>
      </p:sp>
      <p:sp>
        <p:nvSpPr>
          <p:cNvPr id="26" name="Shape 24"/>
          <p:cNvSpPr/>
          <p:nvPr/>
        </p:nvSpPr>
        <p:spPr>
          <a:xfrm>
            <a:off x="4114800" y="3916679"/>
            <a:ext cx="609600" cy="609600"/>
          </a:xfrm>
          <a:prstGeom prst="roundRect">
            <a:avLst>
              <a:gd name="adj" fmla="val 12500"/>
            </a:avLst>
          </a:prstGeom>
          <a:solidFill>
            <a:srgbClr val="EAE5D9"/>
          </a:solidFill>
          <a:ln/>
        </p:spPr>
        <p:txBody>
          <a:bodyPr/>
          <a:lstStyle/>
          <a:p>
            <a:endParaRPr lang="pt-BR"/>
          </a:p>
        </p:txBody>
      </p:sp>
      <p:sp>
        <p:nvSpPr>
          <p:cNvPr id="27" name="Text 25"/>
          <p:cNvSpPr/>
          <p:nvPr/>
        </p:nvSpPr>
        <p:spPr>
          <a:xfrm>
            <a:off x="787400" y="45770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C</a:t>
            </a:r>
            <a:endParaRPr lang="en-US" sz="2000" dirty="0"/>
          </a:p>
        </p:txBody>
      </p:sp>
      <p:sp>
        <p:nvSpPr>
          <p:cNvPr id="28" name="Text 26"/>
          <p:cNvSpPr/>
          <p:nvPr/>
        </p:nvSpPr>
        <p:spPr>
          <a:xfrm>
            <a:off x="1473200" y="45770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29" name="Shape 27"/>
          <p:cNvSpPr/>
          <p:nvPr/>
        </p:nvSpPr>
        <p:spPr>
          <a:xfrm>
            <a:off x="2133600" y="4577079"/>
            <a:ext cx="609600" cy="609600"/>
          </a:xfrm>
          <a:prstGeom prst="roundRect">
            <a:avLst>
              <a:gd name="adj" fmla="val 12500"/>
            </a:avLst>
          </a:prstGeom>
          <a:solidFill>
            <a:srgbClr val="EAE5D9"/>
          </a:solidFill>
          <a:ln/>
        </p:spPr>
        <p:txBody>
          <a:bodyPr/>
          <a:lstStyle/>
          <a:p>
            <a:endParaRPr lang="pt-BR"/>
          </a:p>
        </p:txBody>
      </p:sp>
      <p:sp>
        <p:nvSpPr>
          <p:cNvPr id="30" name="Shape 28"/>
          <p:cNvSpPr/>
          <p:nvPr/>
        </p:nvSpPr>
        <p:spPr>
          <a:xfrm>
            <a:off x="2794000" y="4577079"/>
            <a:ext cx="609600" cy="609600"/>
          </a:xfrm>
          <a:prstGeom prst="roundRect">
            <a:avLst>
              <a:gd name="adj" fmla="val 12500"/>
            </a:avLst>
          </a:prstGeom>
          <a:solidFill>
            <a:srgbClr val="EAE5D9"/>
          </a:solidFill>
          <a:ln/>
        </p:spPr>
        <p:txBody>
          <a:bodyPr/>
          <a:lstStyle/>
          <a:p>
            <a:endParaRPr lang="pt-BR"/>
          </a:p>
        </p:txBody>
      </p:sp>
      <p:sp>
        <p:nvSpPr>
          <p:cNvPr id="31" name="Shape 29"/>
          <p:cNvSpPr/>
          <p:nvPr/>
        </p:nvSpPr>
        <p:spPr>
          <a:xfrm>
            <a:off x="3454400" y="4577079"/>
            <a:ext cx="609600" cy="609600"/>
          </a:xfrm>
          <a:prstGeom prst="roundRect">
            <a:avLst>
              <a:gd name="adj" fmla="val 12500"/>
            </a:avLst>
          </a:prstGeom>
          <a:solidFill>
            <a:srgbClr val="EAE5D9"/>
          </a:solidFill>
          <a:ln/>
        </p:spPr>
        <p:txBody>
          <a:bodyPr/>
          <a:lstStyle/>
          <a:p>
            <a:endParaRPr lang="pt-BR"/>
          </a:p>
        </p:txBody>
      </p:sp>
      <p:sp>
        <p:nvSpPr>
          <p:cNvPr id="32" name="Shape 30"/>
          <p:cNvSpPr/>
          <p:nvPr/>
        </p:nvSpPr>
        <p:spPr>
          <a:xfrm>
            <a:off x="4114800" y="4577079"/>
            <a:ext cx="609600" cy="609600"/>
          </a:xfrm>
          <a:prstGeom prst="roundRect">
            <a:avLst>
              <a:gd name="adj" fmla="val 12500"/>
            </a:avLst>
          </a:prstGeom>
          <a:solidFill>
            <a:srgbClr val="EAE5D9"/>
          </a:solidFill>
          <a:ln/>
        </p:spPr>
        <p:txBody>
          <a:bodyPr/>
          <a:lstStyle/>
          <a:p>
            <a:endParaRPr lang="pt-BR"/>
          </a:p>
        </p:txBody>
      </p:sp>
      <p:sp>
        <p:nvSpPr>
          <p:cNvPr id="33" name="Text 31"/>
          <p:cNvSpPr/>
          <p:nvPr/>
        </p:nvSpPr>
        <p:spPr>
          <a:xfrm>
            <a:off x="787400" y="52374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B</a:t>
            </a:r>
            <a:endParaRPr lang="en-US" sz="2000" dirty="0"/>
          </a:p>
        </p:txBody>
      </p:sp>
      <p:sp>
        <p:nvSpPr>
          <p:cNvPr id="34" name="Text 32"/>
          <p:cNvSpPr/>
          <p:nvPr/>
        </p:nvSpPr>
        <p:spPr>
          <a:xfrm>
            <a:off x="1473200" y="52374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35" name="Shape 33"/>
          <p:cNvSpPr/>
          <p:nvPr/>
        </p:nvSpPr>
        <p:spPr>
          <a:xfrm>
            <a:off x="2133600" y="5237479"/>
            <a:ext cx="609600" cy="609600"/>
          </a:xfrm>
          <a:prstGeom prst="roundRect">
            <a:avLst>
              <a:gd name="adj" fmla="val 12500"/>
            </a:avLst>
          </a:prstGeom>
          <a:solidFill>
            <a:srgbClr val="EAE5D9"/>
          </a:solidFill>
          <a:ln/>
        </p:spPr>
        <p:txBody>
          <a:bodyPr/>
          <a:lstStyle/>
          <a:p>
            <a:endParaRPr lang="pt-BR"/>
          </a:p>
        </p:txBody>
      </p:sp>
      <p:sp>
        <p:nvSpPr>
          <p:cNvPr id="36" name="Shape 34"/>
          <p:cNvSpPr/>
          <p:nvPr/>
        </p:nvSpPr>
        <p:spPr>
          <a:xfrm>
            <a:off x="2794000" y="5237479"/>
            <a:ext cx="609600" cy="609600"/>
          </a:xfrm>
          <a:prstGeom prst="roundRect">
            <a:avLst>
              <a:gd name="adj" fmla="val 12500"/>
            </a:avLst>
          </a:prstGeom>
          <a:solidFill>
            <a:srgbClr val="EAE5D9"/>
          </a:solidFill>
          <a:ln/>
        </p:spPr>
        <p:txBody>
          <a:bodyPr/>
          <a:lstStyle/>
          <a:p>
            <a:endParaRPr lang="pt-BR"/>
          </a:p>
        </p:txBody>
      </p:sp>
      <p:sp>
        <p:nvSpPr>
          <p:cNvPr id="37" name="Shape 35"/>
          <p:cNvSpPr/>
          <p:nvPr/>
        </p:nvSpPr>
        <p:spPr>
          <a:xfrm>
            <a:off x="3454400" y="5237479"/>
            <a:ext cx="609600" cy="609600"/>
          </a:xfrm>
          <a:prstGeom prst="roundRect">
            <a:avLst>
              <a:gd name="adj" fmla="val 12500"/>
            </a:avLst>
          </a:prstGeom>
          <a:solidFill>
            <a:srgbClr val="EAE5D9"/>
          </a:solidFill>
          <a:ln/>
        </p:spPr>
        <p:txBody>
          <a:bodyPr/>
          <a:lstStyle/>
          <a:p>
            <a:endParaRPr lang="pt-BR"/>
          </a:p>
        </p:txBody>
      </p:sp>
      <p:sp>
        <p:nvSpPr>
          <p:cNvPr id="38" name="Shape 36"/>
          <p:cNvSpPr/>
          <p:nvPr/>
        </p:nvSpPr>
        <p:spPr>
          <a:xfrm>
            <a:off x="4114800" y="5237479"/>
            <a:ext cx="609600" cy="609600"/>
          </a:xfrm>
          <a:prstGeom prst="roundRect">
            <a:avLst>
              <a:gd name="adj" fmla="val 12500"/>
            </a:avLst>
          </a:prstGeom>
          <a:solidFill>
            <a:srgbClr val="EAE5D9"/>
          </a:solidFill>
          <a:ln/>
        </p:spPr>
        <p:txBody>
          <a:bodyPr/>
          <a:lstStyle/>
          <a:p>
            <a:endParaRPr lang="pt-BR"/>
          </a:p>
        </p:txBody>
      </p:sp>
      <p:sp>
        <p:nvSpPr>
          <p:cNvPr id="39" name="Shape 37"/>
          <p:cNvSpPr/>
          <p:nvPr/>
        </p:nvSpPr>
        <p:spPr>
          <a:xfrm>
            <a:off x="5130800" y="1935479"/>
            <a:ext cx="6248400" cy="4109720"/>
          </a:xfrm>
          <a:prstGeom prst="roundRect">
            <a:avLst>
              <a:gd name="adj" fmla="val 3708"/>
            </a:avLst>
          </a:prstGeom>
          <a:solidFill>
            <a:srgbClr val="FDFCF9"/>
          </a:solidFill>
          <a:ln/>
        </p:spPr>
        <p:txBody>
          <a:bodyPr/>
          <a:lstStyle/>
          <a:p>
            <a:endParaRPr lang="pt-BR"/>
          </a:p>
        </p:txBody>
      </p:sp>
      <p:sp>
        <p:nvSpPr>
          <p:cNvPr id="40" name="Text 38"/>
          <p:cNvSpPr/>
          <p:nvPr/>
        </p:nvSpPr>
        <p:spPr>
          <a:xfrm>
            <a:off x="5435600" y="2240279"/>
            <a:ext cx="5807964"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Tabela de 5 × 5</a:t>
            </a:r>
            <a:endParaRPr lang="en-US" sz="2200" dirty="0"/>
          </a:p>
        </p:txBody>
      </p:sp>
      <p:sp>
        <p:nvSpPr>
          <p:cNvPr id="41" name="Text 39"/>
          <p:cNvSpPr/>
          <p:nvPr/>
        </p:nvSpPr>
        <p:spPr>
          <a:xfrm>
            <a:off x="5435600" y="2727964"/>
            <a:ext cx="5807964"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X tem 4 letras e Y tem 4 letras, então a tabela tem (4+1) × (4+1) células.</a:t>
            </a:r>
            <a:endParaRPr lang="en-US" sz="1600" dirty="0"/>
          </a:p>
        </p:txBody>
      </p:sp>
      <p:sp>
        <p:nvSpPr>
          <p:cNvPr id="42" name="Text 40"/>
          <p:cNvSpPr/>
          <p:nvPr/>
        </p:nvSpPr>
        <p:spPr>
          <a:xfrm>
            <a:off x="5435600" y="3449321"/>
            <a:ext cx="5807964"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A linha ∅ e a coluna ∅ representam a palavra vazia: a LCS com ela é sempre </a:t>
            </a:r>
            <a:r>
              <a:rPr lang="en-US" sz="1600" b="1" dirty="0">
                <a:solidFill>
                  <a:srgbClr val="14213D"/>
                </a:solidFill>
                <a:latin typeface="IBM Plex Sans" pitchFamily="34" charset="0"/>
                <a:ea typeface="IBM Plex Sans" pitchFamily="34" charset="-122"/>
                <a:cs typeface="IBM Plex Sans" pitchFamily="34" charset="-120"/>
              </a:rPr>
              <a:t>0</a:t>
            </a:r>
            <a:r>
              <a:rPr lang="en-US" sz="1600" dirty="0">
                <a:solidFill>
                  <a:srgbClr val="4A5568"/>
                </a:solidFill>
                <a:latin typeface="IBM Plex Sans" pitchFamily="34" charset="0"/>
                <a:ea typeface="IBM Plex Sans" pitchFamily="34" charset="-122"/>
                <a:cs typeface="IBM Plex Sans" pitchFamily="34" charset="-120"/>
              </a:rPr>
              <a:t>.</a:t>
            </a:r>
            <a:endParaRPr lang="en-US" sz="1600" dirty="0"/>
          </a:p>
        </p:txBody>
      </p:sp>
      <p:sp>
        <p:nvSpPr>
          <p:cNvPr id="43" name="Text 41"/>
          <p:cNvSpPr/>
          <p:nvPr/>
        </p:nvSpPr>
        <p:spPr>
          <a:xfrm>
            <a:off x="5435600" y="4170679"/>
            <a:ext cx="5807964"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Agora preenchemos linha por linha, da esquerda para a direita.</a:t>
            </a:r>
            <a:endParaRPr lang="en-US" sz="1600" dirty="0"/>
          </a:p>
        </p:txBody>
      </p:sp>
      <p:sp>
        <p:nvSpPr>
          <p:cNvPr id="44" name="Shape 42"/>
          <p:cNvSpPr/>
          <p:nvPr/>
        </p:nvSpPr>
        <p:spPr>
          <a:xfrm>
            <a:off x="5435600" y="5532121"/>
            <a:ext cx="203200" cy="203200"/>
          </a:xfrm>
          <a:prstGeom prst="roundRect">
            <a:avLst>
              <a:gd name="adj" fmla="val 25000"/>
            </a:avLst>
          </a:prstGeom>
          <a:solidFill>
            <a:srgbClr val="E1E7EF"/>
          </a:solidFill>
          <a:ln/>
        </p:spPr>
        <p:txBody>
          <a:bodyPr/>
          <a:lstStyle/>
          <a:p>
            <a:endParaRPr lang="pt-BR"/>
          </a:p>
        </p:txBody>
      </p:sp>
      <p:sp>
        <p:nvSpPr>
          <p:cNvPr id="45" name="Text 43"/>
          <p:cNvSpPr/>
          <p:nvPr/>
        </p:nvSpPr>
        <p:spPr>
          <a:xfrm>
            <a:off x="5842000" y="5527042"/>
            <a:ext cx="106108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palavra vazia</a:t>
            </a:r>
            <a:endParaRPr lang="en-US" sz="1200" dirty="0"/>
          </a:p>
        </p:txBody>
      </p:sp>
      <p:sp>
        <p:nvSpPr>
          <p:cNvPr id="46" name="Shape 44"/>
          <p:cNvSpPr/>
          <p:nvPr/>
        </p:nvSpPr>
        <p:spPr>
          <a:xfrm>
            <a:off x="6929438" y="5532121"/>
            <a:ext cx="203200" cy="203200"/>
          </a:xfrm>
          <a:prstGeom prst="roundRect">
            <a:avLst>
              <a:gd name="adj" fmla="val 25000"/>
            </a:avLst>
          </a:prstGeom>
          <a:solidFill>
            <a:srgbClr val="EAE5D9"/>
          </a:solidFill>
          <a:ln/>
        </p:spPr>
        <p:txBody>
          <a:bodyPr/>
          <a:lstStyle/>
          <a:p>
            <a:endParaRPr lang="pt-BR"/>
          </a:p>
        </p:txBody>
      </p:sp>
      <p:sp>
        <p:nvSpPr>
          <p:cNvPr id="47" name="Text 45"/>
          <p:cNvSpPr/>
          <p:nvPr/>
        </p:nvSpPr>
        <p:spPr>
          <a:xfrm>
            <a:off x="7335838" y="5527042"/>
            <a:ext cx="162763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ainda não calculada</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541B"/>
                </a:solidFill>
                <a:latin typeface="IBM Plex Sans" pitchFamily="34" charset="0"/>
                <a:ea typeface="IBM Plex Sans" pitchFamily="34" charset="-122"/>
                <a:cs typeface="IBM Plex Sans" pitchFamily="34" charset="-120"/>
              </a:rPr>
              <a:t>4 · TABELA PASSO A PASSO</a:t>
            </a:r>
            <a:endParaRPr lang="en-US" sz="1200" dirty="0"/>
          </a:p>
        </p:txBody>
      </p:sp>
      <p:sp>
        <p:nvSpPr>
          <p:cNvPr id="3" name="Text 1"/>
          <p:cNvSpPr>
            <a:spLocks noGrp="1"/>
          </p:cNvSpPr>
          <p:nvPr>
            <p:ph type="title"/>
          </p:nvPr>
        </p:nvSpPr>
        <p:spPr>
          <a:xfrm>
            <a:off x="812800" y="11277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Passo 1: linha A</a:t>
            </a:r>
            <a:endParaRPr lang="en-US" sz="3600" dirty="0"/>
          </a:p>
        </p:txBody>
      </p:sp>
      <p:sp>
        <p:nvSpPr>
          <p:cNvPr id="4" name="Text 2"/>
          <p:cNvSpPr/>
          <p:nvPr/>
        </p:nvSpPr>
        <p:spPr>
          <a:xfrm>
            <a:off x="1447800" y="19354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dirty="0">
                <a:solidFill>
                  <a:srgbClr val="8A93A3"/>
                </a:solidFill>
                <a:latin typeface="JetBrains Mono" pitchFamily="49" charset="0"/>
                <a:ea typeface="JetBrains Mono" pitchFamily="49" charset="-122"/>
                <a:cs typeface="JetBrains Mono" pitchFamily="49" charset="-120"/>
              </a:rPr>
              <a:t>∅</a:t>
            </a:r>
            <a:endParaRPr lang="en-US" sz="2000" dirty="0"/>
          </a:p>
        </p:txBody>
      </p:sp>
      <p:sp>
        <p:nvSpPr>
          <p:cNvPr id="5" name="Text 3"/>
          <p:cNvSpPr/>
          <p:nvPr/>
        </p:nvSpPr>
        <p:spPr>
          <a:xfrm>
            <a:off x="2108200" y="19354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B</a:t>
            </a:r>
            <a:endParaRPr lang="en-US" sz="2000" dirty="0"/>
          </a:p>
        </p:txBody>
      </p:sp>
      <p:sp>
        <p:nvSpPr>
          <p:cNvPr id="6" name="Text 4"/>
          <p:cNvSpPr/>
          <p:nvPr/>
        </p:nvSpPr>
        <p:spPr>
          <a:xfrm>
            <a:off x="2768600" y="19354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C</a:t>
            </a:r>
            <a:endParaRPr lang="en-US" sz="2000" dirty="0"/>
          </a:p>
        </p:txBody>
      </p:sp>
      <p:sp>
        <p:nvSpPr>
          <p:cNvPr id="7" name="Text 5"/>
          <p:cNvSpPr/>
          <p:nvPr/>
        </p:nvSpPr>
        <p:spPr>
          <a:xfrm>
            <a:off x="3429000" y="19354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A</a:t>
            </a:r>
            <a:endParaRPr lang="en-US" sz="2000" dirty="0"/>
          </a:p>
        </p:txBody>
      </p:sp>
      <p:sp>
        <p:nvSpPr>
          <p:cNvPr id="8" name="Text 6"/>
          <p:cNvSpPr/>
          <p:nvPr/>
        </p:nvSpPr>
        <p:spPr>
          <a:xfrm>
            <a:off x="4089400" y="19354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B</a:t>
            </a:r>
            <a:endParaRPr lang="en-US" sz="2000" dirty="0"/>
          </a:p>
        </p:txBody>
      </p:sp>
      <p:sp>
        <p:nvSpPr>
          <p:cNvPr id="9" name="Text 7"/>
          <p:cNvSpPr/>
          <p:nvPr/>
        </p:nvSpPr>
        <p:spPr>
          <a:xfrm>
            <a:off x="787400" y="25958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dirty="0">
                <a:solidFill>
                  <a:srgbClr val="8A93A3"/>
                </a:solidFill>
                <a:latin typeface="JetBrains Mono" pitchFamily="49" charset="0"/>
                <a:ea typeface="JetBrains Mono" pitchFamily="49" charset="-122"/>
                <a:cs typeface="JetBrains Mono" pitchFamily="49" charset="-120"/>
              </a:rPr>
              <a:t>∅</a:t>
            </a:r>
            <a:endParaRPr lang="en-US" sz="2000" dirty="0"/>
          </a:p>
        </p:txBody>
      </p:sp>
      <p:sp>
        <p:nvSpPr>
          <p:cNvPr id="10" name="Text 8"/>
          <p:cNvSpPr/>
          <p:nvPr/>
        </p:nvSpPr>
        <p:spPr>
          <a:xfrm>
            <a:off x="1473200" y="25958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1" name="Text 9"/>
          <p:cNvSpPr/>
          <p:nvPr/>
        </p:nvSpPr>
        <p:spPr>
          <a:xfrm>
            <a:off x="2133600" y="25958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2" name="Text 10"/>
          <p:cNvSpPr/>
          <p:nvPr/>
        </p:nvSpPr>
        <p:spPr>
          <a:xfrm>
            <a:off x="2794000" y="25958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BE1CC"/>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0</a:t>
            </a:r>
            <a:endParaRPr lang="en-US" sz="2000" dirty="0"/>
          </a:p>
        </p:txBody>
      </p:sp>
      <p:sp>
        <p:nvSpPr>
          <p:cNvPr id="13" name="Text 11"/>
          <p:cNvSpPr/>
          <p:nvPr/>
        </p:nvSpPr>
        <p:spPr>
          <a:xfrm>
            <a:off x="3454400" y="25958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4" name="Text 12"/>
          <p:cNvSpPr/>
          <p:nvPr/>
        </p:nvSpPr>
        <p:spPr>
          <a:xfrm>
            <a:off x="4114800" y="25958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5" name="Text 13"/>
          <p:cNvSpPr/>
          <p:nvPr/>
        </p:nvSpPr>
        <p:spPr>
          <a:xfrm>
            <a:off x="787400" y="32562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A</a:t>
            </a:r>
            <a:endParaRPr lang="en-US" sz="2000" dirty="0"/>
          </a:p>
        </p:txBody>
      </p:sp>
      <p:sp>
        <p:nvSpPr>
          <p:cNvPr id="16" name="Text 14"/>
          <p:cNvSpPr/>
          <p:nvPr/>
        </p:nvSpPr>
        <p:spPr>
          <a:xfrm>
            <a:off x="1473200" y="32562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7" name="Text 15"/>
          <p:cNvSpPr/>
          <p:nvPr/>
        </p:nvSpPr>
        <p:spPr>
          <a:xfrm>
            <a:off x="2133600" y="32562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0</a:t>
            </a:r>
            <a:endParaRPr lang="en-US" sz="2000" dirty="0"/>
          </a:p>
        </p:txBody>
      </p:sp>
      <p:sp>
        <p:nvSpPr>
          <p:cNvPr id="18" name="Text 16"/>
          <p:cNvSpPr/>
          <p:nvPr/>
        </p:nvSpPr>
        <p:spPr>
          <a:xfrm>
            <a:off x="2794000" y="32562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0</a:t>
            </a:r>
            <a:endParaRPr lang="en-US" sz="2000" dirty="0"/>
          </a:p>
        </p:txBody>
      </p:sp>
      <p:sp>
        <p:nvSpPr>
          <p:cNvPr id="19" name="Text 17"/>
          <p:cNvSpPr/>
          <p:nvPr/>
        </p:nvSpPr>
        <p:spPr>
          <a:xfrm>
            <a:off x="3454400" y="32562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07A2E"/>
          </a:solidFill>
          <a:ln/>
        </p:spPr>
        <p:txBody>
          <a:bodyPr wrap="square" lIns="0" tIns="0" rIns="0" bIns="0" rtlCol="0" anchor="t">
            <a:normAutofit/>
          </a:bodyPr>
          <a:lstStyle/>
          <a:p>
            <a:pPr marL="0" indent="0" algn="ctr">
              <a:lnSpc>
                <a:spcPts val="4800"/>
              </a:lnSpc>
              <a:buNone/>
            </a:pPr>
            <a:r>
              <a:rPr lang="en-US" sz="2000" b="1" dirty="0">
                <a:solidFill>
                  <a:srgbClr val="14213D"/>
                </a:solidFill>
                <a:latin typeface="JetBrains Mono" pitchFamily="49" charset="0"/>
                <a:ea typeface="JetBrains Mono" pitchFamily="49" charset="-122"/>
                <a:cs typeface="JetBrains Mono" pitchFamily="49" charset="-120"/>
              </a:rPr>
              <a:t>1</a:t>
            </a:r>
            <a:endParaRPr lang="en-US" sz="2000" dirty="0"/>
          </a:p>
        </p:txBody>
      </p:sp>
      <p:sp>
        <p:nvSpPr>
          <p:cNvPr id="20" name="Text 18"/>
          <p:cNvSpPr/>
          <p:nvPr/>
        </p:nvSpPr>
        <p:spPr>
          <a:xfrm>
            <a:off x="4114800" y="32562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1</a:t>
            </a:r>
            <a:endParaRPr lang="en-US" sz="2000" dirty="0"/>
          </a:p>
        </p:txBody>
      </p:sp>
      <p:sp>
        <p:nvSpPr>
          <p:cNvPr id="21" name="Text 19"/>
          <p:cNvSpPr/>
          <p:nvPr/>
        </p:nvSpPr>
        <p:spPr>
          <a:xfrm>
            <a:off x="787400" y="39166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B</a:t>
            </a:r>
            <a:endParaRPr lang="en-US" sz="2000" dirty="0"/>
          </a:p>
        </p:txBody>
      </p:sp>
      <p:sp>
        <p:nvSpPr>
          <p:cNvPr id="22" name="Text 20"/>
          <p:cNvSpPr/>
          <p:nvPr/>
        </p:nvSpPr>
        <p:spPr>
          <a:xfrm>
            <a:off x="1473200" y="39166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23" name="Shape 21"/>
          <p:cNvSpPr/>
          <p:nvPr/>
        </p:nvSpPr>
        <p:spPr>
          <a:xfrm>
            <a:off x="2133600" y="3916679"/>
            <a:ext cx="609600" cy="609600"/>
          </a:xfrm>
          <a:prstGeom prst="roundRect">
            <a:avLst>
              <a:gd name="adj" fmla="val 12500"/>
            </a:avLst>
          </a:prstGeom>
          <a:solidFill>
            <a:srgbClr val="EAE5D9"/>
          </a:solidFill>
          <a:ln/>
        </p:spPr>
        <p:txBody>
          <a:bodyPr/>
          <a:lstStyle/>
          <a:p>
            <a:endParaRPr lang="pt-BR"/>
          </a:p>
        </p:txBody>
      </p:sp>
      <p:sp>
        <p:nvSpPr>
          <p:cNvPr id="24" name="Shape 22"/>
          <p:cNvSpPr/>
          <p:nvPr/>
        </p:nvSpPr>
        <p:spPr>
          <a:xfrm>
            <a:off x="2794000" y="3916679"/>
            <a:ext cx="609600" cy="609600"/>
          </a:xfrm>
          <a:prstGeom prst="roundRect">
            <a:avLst>
              <a:gd name="adj" fmla="val 12500"/>
            </a:avLst>
          </a:prstGeom>
          <a:solidFill>
            <a:srgbClr val="EAE5D9"/>
          </a:solidFill>
          <a:ln/>
        </p:spPr>
        <p:txBody>
          <a:bodyPr/>
          <a:lstStyle/>
          <a:p>
            <a:endParaRPr lang="pt-BR"/>
          </a:p>
        </p:txBody>
      </p:sp>
      <p:sp>
        <p:nvSpPr>
          <p:cNvPr id="25" name="Shape 23"/>
          <p:cNvSpPr/>
          <p:nvPr/>
        </p:nvSpPr>
        <p:spPr>
          <a:xfrm>
            <a:off x="3454400" y="3916679"/>
            <a:ext cx="609600" cy="609600"/>
          </a:xfrm>
          <a:prstGeom prst="roundRect">
            <a:avLst>
              <a:gd name="adj" fmla="val 12500"/>
            </a:avLst>
          </a:prstGeom>
          <a:solidFill>
            <a:srgbClr val="EAE5D9"/>
          </a:solidFill>
          <a:ln/>
        </p:spPr>
        <p:txBody>
          <a:bodyPr/>
          <a:lstStyle/>
          <a:p>
            <a:endParaRPr lang="pt-BR"/>
          </a:p>
        </p:txBody>
      </p:sp>
      <p:sp>
        <p:nvSpPr>
          <p:cNvPr id="26" name="Shape 24"/>
          <p:cNvSpPr/>
          <p:nvPr/>
        </p:nvSpPr>
        <p:spPr>
          <a:xfrm>
            <a:off x="4114800" y="3916679"/>
            <a:ext cx="609600" cy="609600"/>
          </a:xfrm>
          <a:prstGeom prst="roundRect">
            <a:avLst>
              <a:gd name="adj" fmla="val 12500"/>
            </a:avLst>
          </a:prstGeom>
          <a:solidFill>
            <a:srgbClr val="EAE5D9"/>
          </a:solidFill>
          <a:ln/>
        </p:spPr>
        <p:txBody>
          <a:bodyPr/>
          <a:lstStyle/>
          <a:p>
            <a:endParaRPr lang="pt-BR"/>
          </a:p>
        </p:txBody>
      </p:sp>
      <p:sp>
        <p:nvSpPr>
          <p:cNvPr id="27" name="Text 25"/>
          <p:cNvSpPr/>
          <p:nvPr/>
        </p:nvSpPr>
        <p:spPr>
          <a:xfrm>
            <a:off x="787400" y="45770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C</a:t>
            </a:r>
            <a:endParaRPr lang="en-US" sz="2000" dirty="0"/>
          </a:p>
        </p:txBody>
      </p:sp>
      <p:sp>
        <p:nvSpPr>
          <p:cNvPr id="28" name="Text 26"/>
          <p:cNvSpPr/>
          <p:nvPr/>
        </p:nvSpPr>
        <p:spPr>
          <a:xfrm>
            <a:off x="1473200" y="45770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29" name="Shape 27"/>
          <p:cNvSpPr/>
          <p:nvPr/>
        </p:nvSpPr>
        <p:spPr>
          <a:xfrm>
            <a:off x="2133600" y="4577079"/>
            <a:ext cx="609600" cy="609600"/>
          </a:xfrm>
          <a:prstGeom prst="roundRect">
            <a:avLst>
              <a:gd name="adj" fmla="val 12500"/>
            </a:avLst>
          </a:prstGeom>
          <a:solidFill>
            <a:srgbClr val="EAE5D9"/>
          </a:solidFill>
          <a:ln/>
        </p:spPr>
        <p:txBody>
          <a:bodyPr/>
          <a:lstStyle/>
          <a:p>
            <a:endParaRPr lang="pt-BR"/>
          </a:p>
        </p:txBody>
      </p:sp>
      <p:sp>
        <p:nvSpPr>
          <p:cNvPr id="30" name="Shape 28"/>
          <p:cNvSpPr/>
          <p:nvPr/>
        </p:nvSpPr>
        <p:spPr>
          <a:xfrm>
            <a:off x="2794000" y="4577079"/>
            <a:ext cx="609600" cy="609600"/>
          </a:xfrm>
          <a:prstGeom prst="roundRect">
            <a:avLst>
              <a:gd name="adj" fmla="val 12500"/>
            </a:avLst>
          </a:prstGeom>
          <a:solidFill>
            <a:srgbClr val="EAE5D9"/>
          </a:solidFill>
          <a:ln/>
        </p:spPr>
        <p:txBody>
          <a:bodyPr/>
          <a:lstStyle/>
          <a:p>
            <a:endParaRPr lang="pt-BR"/>
          </a:p>
        </p:txBody>
      </p:sp>
      <p:sp>
        <p:nvSpPr>
          <p:cNvPr id="31" name="Shape 29"/>
          <p:cNvSpPr/>
          <p:nvPr/>
        </p:nvSpPr>
        <p:spPr>
          <a:xfrm>
            <a:off x="3454400" y="4577079"/>
            <a:ext cx="609600" cy="609600"/>
          </a:xfrm>
          <a:prstGeom prst="roundRect">
            <a:avLst>
              <a:gd name="adj" fmla="val 12500"/>
            </a:avLst>
          </a:prstGeom>
          <a:solidFill>
            <a:srgbClr val="EAE5D9"/>
          </a:solidFill>
          <a:ln/>
        </p:spPr>
        <p:txBody>
          <a:bodyPr/>
          <a:lstStyle/>
          <a:p>
            <a:endParaRPr lang="pt-BR"/>
          </a:p>
        </p:txBody>
      </p:sp>
      <p:sp>
        <p:nvSpPr>
          <p:cNvPr id="32" name="Shape 30"/>
          <p:cNvSpPr/>
          <p:nvPr/>
        </p:nvSpPr>
        <p:spPr>
          <a:xfrm>
            <a:off x="4114800" y="4577079"/>
            <a:ext cx="609600" cy="609600"/>
          </a:xfrm>
          <a:prstGeom prst="roundRect">
            <a:avLst>
              <a:gd name="adj" fmla="val 12500"/>
            </a:avLst>
          </a:prstGeom>
          <a:solidFill>
            <a:srgbClr val="EAE5D9"/>
          </a:solidFill>
          <a:ln/>
        </p:spPr>
        <p:txBody>
          <a:bodyPr/>
          <a:lstStyle/>
          <a:p>
            <a:endParaRPr lang="pt-BR"/>
          </a:p>
        </p:txBody>
      </p:sp>
      <p:sp>
        <p:nvSpPr>
          <p:cNvPr id="33" name="Text 31"/>
          <p:cNvSpPr/>
          <p:nvPr/>
        </p:nvSpPr>
        <p:spPr>
          <a:xfrm>
            <a:off x="787400" y="52374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B</a:t>
            </a:r>
            <a:endParaRPr lang="en-US" sz="2000" dirty="0"/>
          </a:p>
        </p:txBody>
      </p:sp>
      <p:sp>
        <p:nvSpPr>
          <p:cNvPr id="34" name="Text 32"/>
          <p:cNvSpPr/>
          <p:nvPr/>
        </p:nvSpPr>
        <p:spPr>
          <a:xfrm>
            <a:off x="1473200" y="52374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35" name="Shape 33"/>
          <p:cNvSpPr/>
          <p:nvPr/>
        </p:nvSpPr>
        <p:spPr>
          <a:xfrm>
            <a:off x="2133600" y="5237479"/>
            <a:ext cx="609600" cy="609600"/>
          </a:xfrm>
          <a:prstGeom prst="roundRect">
            <a:avLst>
              <a:gd name="adj" fmla="val 12500"/>
            </a:avLst>
          </a:prstGeom>
          <a:solidFill>
            <a:srgbClr val="EAE5D9"/>
          </a:solidFill>
          <a:ln/>
        </p:spPr>
        <p:txBody>
          <a:bodyPr/>
          <a:lstStyle/>
          <a:p>
            <a:endParaRPr lang="pt-BR"/>
          </a:p>
        </p:txBody>
      </p:sp>
      <p:sp>
        <p:nvSpPr>
          <p:cNvPr id="36" name="Shape 34"/>
          <p:cNvSpPr/>
          <p:nvPr/>
        </p:nvSpPr>
        <p:spPr>
          <a:xfrm>
            <a:off x="2794000" y="5237479"/>
            <a:ext cx="609600" cy="609600"/>
          </a:xfrm>
          <a:prstGeom prst="roundRect">
            <a:avLst>
              <a:gd name="adj" fmla="val 12500"/>
            </a:avLst>
          </a:prstGeom>
          <a:solidFill>
            <a:srgbClr val="EAE5D9"/>
          </a:solidFill>
          <a:ln/>
        </p:spPr>
        <p:txBody>
          <a:bodyPr/>
          <a:lstStyle/>
          <a:p>
            <a:endParaRPr lang="pt-BR"/>
          </a:p>
        </p:txBody>
      </p:sp>
      <p:sp>
        <p:nvSpPr>
          <p:cNvPr id="37" name="Shape 35"/>
          <p:cNvSpPr/>
          <p:nvPr/>
        </p:nvSpPr>
        <p:spPr>
          <a:xfrm>
            <a:off x="3454400" y="5237479"/>
            <a:ext cx="609600" cy="609600"/>
          </a:xfrm>
          <a:prstGeom prst="roundRect">
            <a:avLst>
              <a:gd name="adj" fmla="val 12500"/>
            </a:avLst>
          </a:prstGeom>
          <a:solidFill>
            <a:srgbClr val="EAE5D9"/>
          </a:solidFill>
          <a:ln/>
        </p:spPr>
        <p:txBody>
          <a:bodyPr/>
          <a:lstStyle/>
          <a:p>
            <a:endParaRPr lang="pt-BR"/>
          </a:p>
        </p:txBody>
      </p:sp>
      <p:sp>
        <p:nvSpPr>
          <p:cNvPr id="38" name="Shape 36"/>
          <p:cNvSpPr/>
          <p:nvPr/>
        </p:nvSpPr>
        <p:spPr>
          <a:xfrm>
            <a:off x="4114800" y="5237479"/>
            <a:ext cx="609600" cy="609600"/>
          </a:xfrm>
          <a:prstGeom prst="roundRect">
            <a:avLst>
              <a:gd name="adj" fmla="val 12500"/>
            </a:avLst>
          </a:prstGeom>
          <a:solidFill>
            <a:srgbClr val="EAE5D9"/>
          </a:solidFill>
          <a:ln/>
        </p:spPr>
        <p:txBody>
          <a:bodyPr/>
          <a:lstStyle/>
          <a:p>
            <a:endParaRPr lang="pt-BR"/>
          </a:p>
        </p:txBody>
      </p:sp>
      <p:sp>
        <p:nvSpPr>
          <p:cNvPr id="39" name="Shape 37"/>
          <p:cNvSpPr/>
          <p:nvPr/>
        </p:nvSpPr>
        <p:spPr>
          <a:xfrm>
            <a:off x="5130800" y="1935479"/>
            <a:ext cx="6248400" cy="4109720"/>
          </a:xfrm>
          <a:prstGeom prst="roundRect">
            <a:avLst>
              <a:gd name="adj" fmla="val 3708"/>
            </a:avLst>
          </a:prstGeom>
          <a:solidFill>
            <a:srgbClr val="FDFCF9"/>
          </a:solidFill>
          <a:ln/>
        </p:spPr>
        <p:txBody>
          <a:bodyPr/>
          <a:lstStyle/>
          <a:p>
            <a:endParaRPr lang="pt-BR"/>
          </a:p>
        </p:txBody>
      </p:sp>
      <p:sp>
        <p:nvSpPr>
          <p:cNvPr id="40" name="Text 38"/>
          <p:cNvSpPr/>
          <p:nvPr/>
        </p:nvSpPr>
        <p:spPr>
          <a:xfrm>
            <a:off x="5435600" y="2240279"/>
            <a:ext cx="5807964"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A × A: letras iguais</a:t>
            </a:r>
            <a:endParaRPr lang="en-US" sz="2200" dirty="0"/>
          </a:p>
        </p:txBody>
      </p:sp>
      <p:sp>
        <p:nvSpPr>
          <p:cNvPr id="41" name="Text 39"/>
          <p:cNvSpPr/>
          <p:nvPr/>
        </p:nvSpPr>
        <p:spPr>
          <a:xfrm>
            <a:off x="5435600" y="2727964"/>
            <a:ext cx="5807964"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5541B"/>
                </a:solidFill>
                <a:latin typeface="JetBrains Mono" pitchFamily="49" charset="0"/>
                <a:ea typeface="JetBrains Mono" pitchFamily="49" charset="-122"/>
                <a:cs typeface="JetBrains Mono" pitchFamily="49" charset="-120"/>
              </a:rPr>
              <a:t>diagonal + 1 = 0 + 1 = 1</a:t>
            </a:r>
            <a:endParaRPr lang="en-US" sz="1600" dirty="0"/>
          </a:p>
        </p:txBody>
      </p:sp>
      <p:sp>
        <p:nvSpPr>
          <p:cNvPr id="42" name="Text 40"/>
          <p:cNvSpPr/>
          <p:nvPr/>
        </p:nvSpPr>
        <p:spPr>
          <a:xfrm>
            <a:off x="5435600" y="3164842"/>
            <a:ext cx="5807964"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A × B e A × C: diferentes → o maior entre cima e esquerda, que é 0.</a:t>
            </a:r>
            <a:endParaRPr lang="en-US" sz="1600" dirty="0"/>
          </a:p>
        </p:txBody>
      </p:sp>
      <p:sp>
        <p:nvSpPr>
          <p:cNvPr id="43" name="Text 41"/>
          <p:cNvSpPr/>
          <p:nvPr/>
        </p:nvSpPr>
        <p:spPr>
          <a:xfrm>
            <a:off x="5435600" y="3886200"/>
            <a:ext cx="5807964"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A × B (última): diferentes → max(0, 1) = 1.</a:t>
            </a:r>
            <a:endParaRPr lang="en-US" sz="1600" dirty="0"/>
          </a:p>
        </p:txBody>
      </p:sp>
      <p:sp>
        <p:nvSpPr>
          <p:cNvPr id="44" name="Shape 42"/>
          <p:cNvSpPr/>
          <p:nvPr/>
        </p:nvSpPr>
        <p:spPr>
          <a:xfrm>
            <a:off x="5435600" y="5532121"/>
            <a:ext cx="203200" cy="203200"/>
          </a:xfrm>
          <a:prstGeom prst="roundRect">
            <a:avLst>
              <a:gd name="adj" fmla="val 25000"/>
            </a:avLst>
          </a:prstGeom>
          <a:solidFill>
            <a:srgbClr val="E07A2E"/>
          </a:solidFill>
          <a:ln/>
        </p:spPr>
        <p:txBody>
          <a:bodyPr/>
          <a:lstStyle/>
          <a:p>
            <a:endParaRPr lang="pt-BR"/>
          </a:p>
        </p:txBody>
      </p:sp>
      <p:sp>
        <p:nvSpPr>
          <p:cNvPr id="45" name="Text 43"/>
          <p:cNvSpPr/>
          <p:nvPr/>
        </p:nvSpPr>
        <p:spPr>
          <a:xfrm>
            <a:off x="5842000" y="5527042"/>
            <a:ext cx="130476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célula calculada</a:t>
            </a:r>
            <a:endParaRPr lang="en-US" sz="1200" dirty="0"/>
          </a:p>
        </p:txBody>
      </p:sp>
      <p:sp>
        <p:nvSpPr>
          <p:cNvPr id="46" name="Shape 44"/>
          <p:cNvSpPr/>
          <p:nvPr/>
        </p:nvSpPr>
        <p:spPr>
          <a:xfrm>
            <a:off x="7146766" y="5532121"/>
            <a:ext cx="203200" cy="203200"/>
          </a:xfrm>
          <a:prstGeom prst="roundRect">
            <a:avLst>
              <a:gd name="adj" fmla="val 25000"/>
            </a:avLst>
          </a:prstGeom>
          <a:solidFill>
            <a:srgbClr val="FBE1CC"/>
          </a:solidFill>
          <a:ln/>
        </p:spPr>
        <p:txBody>
          <a:bodyPr/>
          <a:lstStyle/>
          <a:p>
            <a:endParaRPr lang="pt-BR"/>
          </a:p>
        </p:txBody>
      </p:sp>
      <p:sp>
        <p:nvSpPr>
          <p:cNvPr id="47" name="Text 45"/>
          <p:cNvSpPr/>
          <p:nvPr/>
        </p:nvSpPr>
        <p:spPr>
          <a:xfrm>
            <a:off x="7553166" y="5527042"/>
            <a:ext cx="16366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de onde veio o valor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541B"/>
                </a:solidFill>
                <a:latin typeface="IBM Plex Sans" pitchFamily="34" charset="0"/>
                <a:ea typeface="IBM Plex Sans" pitchFamily="34" charset="-122"/>
                <a:cs typeface="IBM Plex Sans" pitchFamily="34" charset="-120"/>
              </a:rPr>
              <a:t>4 · TABELA PASSO A PASSO</a:t>
            </a:r>
            <a:endParaRPr lang="en-US" sz="1200" dirty="0"/>
          </a:p>
        </p:txBody>
      </p:sp>
      <p:sp>
        <p:nvSpPr>
          <p:cNvPr id="3" name="Text 1"/>
          <p:cNvSpPr>
            <a:spLocks noGrp="1"/>
          </p:cNvSpPr>
          <p:nvPr>
            <p:ph type="title"/>
          </p:nvPr>
        </p:nvSpPr>
        <p:spPr>
          <a:xfrm>
            <a:off x="812800" y="11277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Passo 2: linha B</a:t>
            </a:r>
            <a:endParaRPr lang="en-US" sz="3600" dirty="0"/>
          </a:p>
        </p:txBody>
      </p:sp>
      <p:sp>
        <p:nvSpPr>
          <p:cNvPr id="4" name="Text 2"/>
          <p:cNvSpPr/>
          <p:nvPr/>
        </p:nvSpPr>
        <p:spPr>
          <a:xfrm>
            <a:off x="1447800" y="19354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dirty="0">
                <a:solidFill>
                  <a:srgbClr val="8A93A3"/>
                </a:solidFill>
                <a:latin typeface="JetBrains Mono" pitchFamily="49" charset="0"/>
                <a:ea typeface="JetBrains Mono" pitchFamily="49" charset="-122"/>
                <a:cs typeface="JetBrains Mono" pitchFamily="49" charset="-120"/>
              </a:rPr>
              <a:t>∅</a:t>
            </a:r>
            <a:endParaRPr lang="en-US" sz="2000" dirty="0"/>
          </a:p>
        </p:txBody>
      </p:sp>
      <p:sp>
        <p:nvSpPr>
          <p:cNvPr id="5" name="Text 3"/>
          <p:cNvSpPr/>
          <p:nvPr/>
        </p:nvSpPr>
        <p:spPr>
          <a:xfrm>
            <a:off x="2108200" y="19354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B</a:t>
            </a:r>
            <a:endParaRPr lang="en-US" sz="2000" dirty="0"/>
          </a:p>
        </p:txBody>
      </p:sp>
      <p:sp>
        <p:nvSpPr>
          <p:cNvPr id="6" name="Text 4"/>
          <p:cNvSpPr/>
          <p:nvPr/>
        </p:nvSpPr>
        <p:spPr>
          <a:xfrm>
            <a:off x="2768600" y="19354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C</a:t>
            </a:r>
            <a:endParaRPr lang="en-US" sz="2000" dirty="0"/>
          </a:p>
        </p:txBody>
      </p:sp>
      <p:sp>
        <p:nvSpPr>
          <p:cNvPr id="7" name="Text 5"/>
          <p:cNvSpPr/>
          <p:nvPr/>
        </p:nvSpPr>
        <p:spPr>
          <a:xfrm>
            <a:off x="3429000" y="19354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A</a:t>
            </a:r>
            <a:endParaRPr lang="en-US" sz="2000" dirty="0"/>
          </a:p>
        </p:txBody>
      </p:sp>
      <p:sp>
        <p:nvSpPr>
          <p:cNvPr id="8" name="Text 6"/>
          <p:cNvSpPr/>
          <p:nvPr/>
        </p:nvSpPr>
        <p:spPr>
          <a:xfrm>
            <a:off x="4089400" y="19354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B</a:t>
            </a:r>
            <a:endParaRPr lang="en-US" sz="2000" dirty="0"/>
          </a:p>
        </p:txBody>
      </p:sp>
      <p:sp>
        <p:nvSpPr>
          <p:cNvPr id="9" name="Text 7"/>
          <p:cNvSpPr/>
          <p:nvPr/>
        </p:nvSpPr>
        <p:spPr>
          <a:xfrm>
            <a:off x="787400" y="25958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dirty="0">
                <a:solidFill>
                  <a:srgbClr val="8A93A3"/>
                </a:solidFill>
                <a:latin typeface="JetBrains Mono" pitchFamily="49" charset="0"/>
                <a:ea typeface="JetBrains Mono" pitchFamily="49" charset="-122"/>
                <a:cs typeface="JetBrains Mono" pitchFamily="49" charset="-120"/>
              </a:rPr>
              <a:t>∅</a:t>
            </a:r>
            <a:endParaRPr lang="en-US" sz="2000" dirty="0"/>
          </a:p>
        </p:txBody>
      </p:sp>
      <p:sp>
        <p:nvSpPr>
          <p:cNvPr id="10" name="Text 8"/>
          <p:cNvSpPr/>
          <p:nvPr/>
        </p:nvSpPr>
        <p:spPr>
          <a:xfrm>
            <a:off x="1473200" y="25958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1" name="Text 9"/>
          <p:cNvSpPr/>
          <p:nvPr/>
        </p:nvSpPr>
        <p:spPr>
          <a:xfrm>
            <a:off x="2133600" y="25958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2" name="Text 10"/>
          <p:cNvSpPr/>
          <p:nvPr/>
        </p:nvSpPr>
        <p:spPr>
          <a:xfrm>
            <a:off x="2794000" y="25958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3" name="Text 11"/>
          <p:cNvSpPr/>
          <p:nvPr/>
        </p:nvSpPr>
        <p:spPr>
          <a:xfrm>
            <a:off x="3454400" y="25958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4" name="Text 12"/>
          <p:cNvSpPr/>
          <p:nvPr/>
        </p:nvSpPr>
        <p:spPr>
          <a:xfrm>
            <a:off x="4114800" y="25958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5" name="Text 13"/>
          <p:cNvSpPr/>
          <p:nvPr/>
        </p:nvSpPr>
        <p:spPr>
          <a:xfrm>
            <a:off x="787400" y="32562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A</a:t>
            </a:r>
            <a:endParaRPr lang="en-US" sz="2000" dirty="0"/>
          </a:p>
        </p:txBody>
      </p:sp>
      <p:sp>
        <p:nvSpPr>
          <p:cNvPr id="16" name="Text 14"/>
          <p:cNvSpPr/>
          <p:nvPr/>
        </p:nvSpPr>
        <p:spPr>
          <a:xfrm>
            <a:off x="1473200" y="32562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7" name="Text 15"/>
          <p:cNvSpPr/>
          <p:nvPr/>
        </p:nvSpPr>
        <p:spPr>
          <a:xfrm>
            <a:off x="2133600" y="32562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0</a:t>
            </a:r>
            <a:endParaRPr lang="en-US" sz="2000" dirty="0"/>
          </a:p>
        </p:txBody>
      </p:sp>
      <p:sp>
        <p:nvSpPr>
          <p:cNvPr id="18" name="Text 16"/>
          <p:cNvSpPr/>
          <p:nvPr/>
        </p:nvSpPr>
        <p:spPr>
          <a:xfrm>
            <a:off x="2794000" y="32562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0</a:t>
            </a:r>
            <a:endParaRPr lang="en-US" sz="2000" dirty="0"/>
          </a:p>
        </p:txBody>
      </p:sp>
      <p:sp>
        <p:nvSpPr>
          <p:cNvPr id="19" name="Text 17"/>
          <p:cNvSpPr/>
          <p:nvPr/>
        </p:nvSpPr>
        <p:spPr>
          <a:xfrm>
            <a:off x="3454400" y="32562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BE1CC"/>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1</a:t>
            </a:r>
            <a:endParaRPr lang="en-US" sz="2000" dirty="0"/>
          </a:p>
        </p:txBody>
      </p:sp>
      <p:sp>
        <p:nvSpPr>
          <p:cNvPr id="20" name="Text 18"/>
          <p:cNvSpPr/>
          <p:nvPr/>
        </p:nvSpPr>
        <p:spPr>
          <a:xfrm>
            <a:off x="4114800" y="32562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1</a:t>
            </a:r>
            <a:endParaRPr lang="en-US" sz="2000" dirty="0"/>
          </a:p>
        </p:txBody>
      </p:sp>
      <p:sp>
        <p:nvSpPr>
          <p:cNvPr id="21" name="Text 19"/>
          <p:cNvSpPr/>
          <p:nvPr/>
        </p:nvSpPr>
        <p:spPr>
          <a:xfrm>
            <a:off x="787400" y="39166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B</a:t>
            </a:r>
            <a:endParaRPr lang="en-US" sz="2000" dirty="0"/>
          </a:p>
        </p:txBody>
      </p:sp>
      <p:sp>
        <p:nvSpPr>
          <p:cNvPr id="22" name="Text 20"/>
          <p:cNvSpPr/>
          <p:nvPr/>
        </p:nvSpPr>
        <p:spPr>
          <a:xfrm>
            <a:off x="1473200" y="39166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23" name="Text 21"/>
          <p:cNvSpPr/>
          <p:nvPr/>
        </p:nvSpPr>
        <p:spPr>
          <a:xfrm>
            <a:off x="2133600" y="39166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1</a:t>
            </a:r>
            <a:endParaRPr lang="en-US" sz="2000" dirty="0"/>
          </a:p>
        </p:txBody>
      </p:sp>
      <p:sp>
        <p:nvSpPr>
          <p:cNvPr id="24" name="Text 22"/>
          <p:cNvSpPr/>
          <p:nvPr/>
        </p:nvSpPr>
        <p:spPr>
          <a:xfrm>
            <a:off x="2794000" y="39166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1</a:t>
            </a:r>
            <a:endParaRPr lang="en-US" sz="2000" dirty="0"/>
          </a:p>
        </p:txBody>
      </p:sp>
      <p:sp>
        <p:nvSpPr>
          <p:cNvPr id="25" name="Text 23"/>
          <p:cNvSpPr/>
          <p:nvPr/>
        </p:nvSpPr>
        <p:spPr>
          <a:xfrm>
            <a:off x="3454400" y="39166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1</a:t>
            </a:r>
            <a:endParaRPr lang="en-US" sz="2000" dirty="0"/>
          </a:p>
        </p:txBody>
      </p:sp>
      <p:sp>
        <p:nvSpPr>
          <p:cNvPr id="26" name="Text 24"/>
          <p:cNvSpPr/>
          <p:nvPr/>
        </p:nvSpPr>
        <p:spPr>
          <a:xfrm>
            <a:off x="4114800" y="39166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07A2E"/>
          </a:solidFill>
          <a:ln/>
        </p:spPr>
        <p:txBody>
          <a:bodyPr wrap="square" lIns="0" tIns="0" rIns="0" bIns="0" rtlCol="0" anchor="t">
            <a:normAutofit/>
          </a:bodyPr>
          <a:lstStyle/>
          <a:p>
            <a:pPr marL="0" indent="0" algn="ctr">
              <a:lnSpc>
                <a:spcPts val="4800"/>
              </a:lnSpc>
              <a:buNone/>
            </a:pPr>
            <a:r>
              <a:rPr lang="en-US" sz="2000" b="1" dirty="0">
                <a:solidFill>
                  <a:srgbClr val="14213D"/>
                </a:solidFill>
                <a:latin typeface="JetBrains Mono" pitchFamily="49" charset="0"/>
                <a:ea typeface="JetBrains Mono" pitchFamily="49" charset="-122"/>
                <a:cs typeface="JetBrains Mono" pitchFamily="49" charset="-120"/>
              </a:rPr>
              <a:t>2</a:t>
            </a:r>
            <a:endParaRPr lang="en-US" sz="2000" dirty="0"/>
          </a:p>
        </p:txBody>
      </p:sp>
      <p:sp>
        <p:nvSpPr>
          <p:cNvPr id="27" name="Text 25"/>
          <p:cNvSpPr/>
          <p:nvPr/>
        </p:nvSpPr>
        <p:spPr>
          <a:xfrm>
            <a:off x="787400" y="45770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C</a:t>
            </a:r>
            <a:endParaRPr lang="en-US" sz="2000" dirty="0"/>
          </a:p>
        </p:txBody>
      </p:sp>
      <p:sp>
        <p:nvSpPr>
          <p:cNvPr id="28" name="Text 26"/>
          <p:cNvSpPr/>
          <p:nvPr/>
        </p:nvSpPr>
        <p:spPr>
          <a:xfrm>
            <a:off x="1473200" y="45770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29" name="Shape 27"/>
          <p:cNvSpPr/>
          <p:nvPr/>
        </p:nvSpPr>
        <p:spPr>
          <a:xfrm>
            <a:off x="2133600" y="4577079"/>
            <a:ext cx="609600" cy="609600"/>
          </a:xfrm>
          <a:prstGeom prst="roundRect">
            <a:avLst>
              <a:gd name="adj" fmla="val 12500"/>
            </a:avLst>
          </a:prstGeom>
          <a:solidFill>
            <a:srgbClr val="EAE5D9"/>
          </a:solidFill>
          <a:ln/>
        </p:spPr>
        <p:txBody>
          <a:bodyPr/>
          <a:lstStyle/>
          <a:p>
            <a:endParaRPr lang="pt-BR"/>
          </a:p>
        </p:txBody>
      </p:sp>
      <p:sp>
        <p:nvSpPr>
          <p:cNvPr id="30" name="Shape 28"/>
          <p:cNvSpPr/>
          <p:nvPr/>
        </p:nvSpPr>
        <p:spPr>
          <a:xfrm>
            <a:off x="2794000" y="4577079"/>
            <a:ext cx="609600" cy="609600"/>
          </a:xfrm>
          <a:prstGeom prst="roundRect">
            <a:avLst>
              <a:gd name="adj" fmla="val 12500"/>
            </a:avLst>
          </a:prstGeom>
          <a:solidFill>
            <a:srgbClr val="EAE5D9"/>
          </a:solidFill>
          <a:ln/>
        </p:spPr>
        <p:txBody>
          <a:bodyPr/>
          <a:lstStyle/>
          <a:p>
            <a:endParaRPr lang="pt-BR"/>
          </a:p>
        </p:txBody>
      </p:sp>
      <p:sp>
        <p:nvSpPr>
          <p:cNvPr id="31" name="Shape 29"/>
          <p:cNvSpPr/>
          <p:nvPr/>
        </p:nvSpPr>
        <p:spPr>
          <a:xfrm>
            <a:off x="3454400" y="4577079"/>
            <a:ext cx="609600" cy="609600"/>
          </a:xfrm>
          <a:prstGeom prst="roundRect">
            <a:avLst>
              <a:gd name="adj" fmla="val 12500"/>
            </a:avLst>
          </a:prstGeom>
          <a:solidFill>
            <a:srgbClr val="EAE5D9"/>
          </a:solidFill>
          <a:ln/>
        </p:spPr>
        <p:txBody>
          <a:bodyPr/>
          <a:lstStyle/>
          <a:p>
            <a:endParaRPr lang="pt-BR"/>
          </a:p>
        </p:txBody>
      </p:sp>
      <p:sp>
        <p:nvSpPr>
          <p:cNvPr id="32" name="Shape 30"/>
          <p:cNvSpPr/>
          <p:nvPr/>
        </p:nvSpPr>
        <p:spPr>
          <a:xfrm>
            <a:off x="4114800" y="4577079"/>
            <a:ext cx="609600" cy="609600"/>
          </a:xfrm>
          <a:prstGeom prst="roundRect">
            <a:avLst>
              <a:gd name="adj" fmla="val 12500"/>
            </a:avLst>
          </a:prstGeom>
          <a:solidFill>
            <a:srgbClr val="EAE5D9"/>
          </a:solidFill>
          <a:ln/>
        </p:spPr>
        <p:txBody>
          <a:bodyPr/>
          <a:lstStyle/>
          <a:p>
            <a:endParaRPr lang="pt-BR"/>
          </a:p>
        </p:txBody>
      </p:sp>
      <p:sp>
        <p:nvSpPr>
          <p:cNvPr id="33" name="Text 31"/>
          <p:cNvSpPr/>
          <p:nvPr/>
        </p:nvSpPr>
        <p:spPr>
          <a:xfrm>
            <a:off x="787400" y="52374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B</a:t>
            </a:r>
            <a:endParaRPr lang="en-US" sz="2000" dirty="0"/>
          </a:p>
        </p:txBody>
      </p:sp>
      <p:sp>
        <p:nvSpPr>
          <p:cNvPr id="34" name="Text 32"/>
          <p:cNvSpPr/>
          <p:nvPr/>
        </p:nvSpPr>
        <p:spPr>
          <a:xfrm>
            <a:off x="1473200" y="52374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35" name="Shape 33"/>
          <p:cNvSpPr/>
          <p:nvPr/>
        </p:nvSpPr>
        <p:spPr>
          <a:xfrm>
            <a:off x="2133600" y="5237479"/>
            <a:ext cx="609600" cy="609600"/>
          </a:xfrm>
          <a:prstGeom prst="roundRect">
            <a:avLst>
              <a:gd name="adj" fmla="val 12500"/>
            </a:avLst>
          </a:prstGeom>
          <a:solidFill>
            <a:srgbClr val="EAE5D9"/>
          </a:solidFill>
          <a:ln/>
        </p:spPr>
        <p:txBody>
          <a:bodyPr/>
          <a:lstStyle/>
          <a:p>
            <a:endParaRPr lang="pt-BR"/>
          </a:p>
        </p:txBody>
      </p:sp>
      <p:sp>
        <p:nvSpPr>
          <p:cNvPr id="36" name="Shape 34"/>
          <p:cNvSpPr/>
          <p:nvPr/>
        </p:nvSpPr>
        <p:spPr>
          <a:xfrm>
            <a:off x="2794000" y="5237479"/>
            <a:ext cx="609600" cy="609600"/>
          </a:xfrm>
          <a:prstGeom prst="roundRect">
            <a:avLst>
              <a:gd name="adj" fmla="val 12500"/>
            </a:avLst>
          </a:prstGeom>
          <a:solidFill>
            <a:srgbClr val="EAE5D9"/>
          </a:solidFill>
          <a:ln/>
        </p:spPr>
        <p:txBody>
          <a:bodyPr/>
          <a:lstStyle/>
          <a:p>
            <a:endParaRPr lang="pt-BR"/>
          </a:p>
        </p:txBody>
      </p:sp>
      <p:sp>
        <p:nvSpPr>
          <p:cNvPr id="37" name="Shape 35"/>
          <p:cNvSpPr/>
          <p:nvPr/>
        </p:nvSpPr>
        <p:spPr>
          <a:xfrm>
            <a:off x="3454400" y="5237479"/>
            <a:ext cx="609600" cy="609600"/>
          </a:xfrm>
          <a:prstGeom prst="roundRect">
            <a:avLst>
              <a:gd name="adj" fmla="val 12500"/>
            </a:avLst>
          </a:prstGeom>
          <a:solidFill>
            <a:srgbClr val="EAE5D9"/>
          </a:solidFill>
          <a:ln/>
        </p:spPr>
        <p:txBody>
          <a:bodyPr/>
          <a:lstStyle/>
          <a:p>
            <a:endParaRPr lang="pt-BR"/>
          </a:p>
        </p:txBody>
      </p:sp>
      <p:sp>
        <p:nvSpPr>
          <p:cNvPr id="38" name="Shape 36"/>
          <p:cNvSpPr/>
          <p:nvPr/>
        </p:nvSpPr>
        <p:spPr>
          <a:xfrm>
            <a:off x="4114800" y="5237479"/>
            <a:ext cx="609600" cy="609600"/>
          </a:xfrm>
          <a:prstGeom prst="roundRect">
            <a:avLst>
              <a:gd name="adj" fmla="val 12500"/>
            </a:avLst>
          </a:prstGeom>
          <a:solidFill>
            <a:srgbClr val="EAE5D9"/>
          </a:solidFill>
          <a:ln/>
        </p:spPr>
        <p:txBody>
          <a:bodyPr/>
          <a:lstStyle/>
          <a:p>
            <a:endParaRPr lang="pt-BR"/>
          </a:p>
        </p:txBody>
      </p:sp>
      <p:sp>
        <p:nvSpPr>
          <p:cNvPr id="39" name="Shape 37"/>
          <p:cNvSpPr/>
          <p:nvPr/>
        </p:nvSpPr>
        <p:spPr>
          <a:xfrm>
            <a:off x="5130800" y="1935479"/>
            <a:ext cx="6248400" cy="4109720"/>
          </a:xfrm>
          <a:prstGeom prst="roundRect">
            <a:avLst>
              <a:gd name="adj" fmla="val 3708"/>
            </a:avLst>
          </a:prstGeom>
          <a:solidFill>
            <a:srgbClr val="FDFCF9"/>
          </a:solidFill>
          <a:ln/>
        </p:spPr>
        <p:txBody>
          <a:bodyPr/>
          <a:lstStyle/>
          <a:p>
            <a:endParaRPr lang="pt-BR"/>
          </a:p>
        </p:txBody>
      </p:sp>
      <p:sp>
        <p:nvSpPr>
          <p:cNvPr id="40" name="Text 38"/>
          <p:cNvSpPr/>
          <p:nvPr/>
        </p:nvSpPr>
        <p:spPr>
          <a:xfrm>
            <a:off x="5435600" y="2240279"/>
            <a:ext cx="5807964"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B × B (última): iguais</a:t>
            </a:r>
            <a:endParaRPr lang="en-US" sz="2200" dirty="0"/>
          </a:p>
        </p:txBody>
      </p:sp>
      <p:sp>
        <p:nvSpPr>
          <p:cNvPr id="41" name="Text 39"/>
          <p:cNvSpPr/>
          <p:nvPr/>
        </p:nvSpPr>
        <p:spPr>
          <a:xfrm>
            <a:off x="5435600" y="2727964"/>
            <a:ext cx="5807964"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5541B"/>
                </a:solidFill>
                <a:latin typeface="JetBrains Mono" pitchFamily="49" charset="0"/>
                <a:ea typeface="JetBrains Mono" pitchFamily="49" charset="-122"/>
                <a:cs typeface="JetBrains Mono" pitchFamily="49" charset="-120"/>
              </a:rPr>
              <a:t>diagonal + 1 = 1 + 1 = 2</a:t>
            </a:r>
            <a:endParaRPr lang="en-US" sz="1600" dirty="0"/>
          </a:p>
        </p:txBody>
      </p:sp>
      <p:sp>
        <p:nvSpPr>
          <p:cNvPr id="42" name="Text 40"/>
          <p:cNvSpPr/>
          <p:nvPr/>
        </p:nvSpPr>
        <p:spPr>
          <a:xfrm>
            <a:off x="5435600" y="3164842"/>
            <a:ext cx="5807964"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B × B (primeira): iguais → 0 + 1 = 1.</a:t>
            </a:r>
            <a:endParaRPr lang="en-US" sz="1600" dirty="0"/>
          </a:p>
        </p:txBody>
      </p:sp>
      <p:sp>
        <p:nvSpPr>
          <p:cNvPr id="43" name="Text 41"/>
          <p:cNvSpPr/>
          <p:nvPr/>
        </p:nvSpPr>
        <p:spPr>
          <a:xfrm>
            <a:off x="5435600" y="3601721"/>
            <a:ext cx="5807964"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B × C e B × A: diferentes → repetem o maior vizinho, 1.</a:t>
            </a:r>
            <a:endParaRPr lang="en-US" sz="1600" dirty="0"/>
          </a:p>
        </p:txBody>
      </p:sp>
      <p:sp>
        <p:nvSpPr>
          <p:cNvPr id="44" name="Shape 42"/>
          <p:cNvSpPr/>
          <p:nvPr/>
        </p:nvSpPr>
        <p:spPr>
          <a:xfrm>
            <a:off x="5435600" y="5532121"/>
            <a:ext cx="203200" cy="203200"/>
          </a:xfrm>
          <a:prstGeom prst="roundRect">
            <a:avLst>
              <a:gd name="adj" fmla="val 25000"/>
            </a:avLst>
          </a:prstGeom>
          <a:solidFill>
            <a:srgbClr val="E07A2E"/>
          </a:solidFill>
          <a:ln/>
        </p:spPr>
        <p:txBody>
          <a:bodyPr/>
          <a:lstStyle/>
          <a:p>
            <a:endParaRPr lang="pt-BR"/>
          </a:p>
        </p:txBody>
      </p:sp>
      <p:sp>
        <p:nvSpPr>
          <p:cNvPr id="45" name="Text 43"/>
          <p:cNvSpPr/>
          <p:nvPr/>
        </p:nvSpPr>
        <p:spPr>
          <a:xfrm>
            <a:off x="5842000" y="5527042"/>
            <a:ext cx="130476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célula calculada</a:t>
            </a:r>
            <a:endParaRPr lang="en-US" sz="1200" dirty="0"/>
          </a:p>
        </p:txBody>
      </p:sp>
      <p:sp>
        <p:nvSpPr>
          <p:cNvPr id="46" name="Shape 44"/>
          <p:cNvSpPr/>
          <p:nvPr/>
        </p:nvSpPr>
        <p:spPr>
          <a:xfrm>
            <a:off x="7146766" y="5532121"/>
            <a:ext cx="203200" cy="203200"/>
          </a:xfrm>
          <a:prstGeom prst="roundRect">
            <a:avLst>
              <a:gd name="adj" fmla="val 25000"/>
            </a:avLst>
          </a:prstGeom>
          <a:solidFill>
            <a:srgbClr val="FBE1CC"/>
          </a:solidFill>
          <a:ln/>
        </p:spPr>
        <p:txBody>
          <a:bodyPr/>
          <a:lstStyle/>
          <a:p>
            <a:endParaRPr lang="pt-BR"/>
          </a:p>
        </p:txBody>
      </p:sp>
      <p:sp>
        <p:nvSpPr>
          <p:cNvPr id="47" name="Text 45"/>
          <p:cNvSpPr/>
          <p:nvPr/>
        </p:nvSpPr>
        <p:spPr>
          <a:xfrm>
            <a:off x="7553166" y="5527042"/>
            <a:ext cx="16366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de onde veio o valor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541B"/>
                </a:solidFill>
                <a:latin typeface="IBM Plex Sans" pitchFamily="34" charset="0"/>
                <a:ea typeface="IBM Plex Sans" pitchFamily="34" charset="-122"/>
                <a:cs typeface="IBM Plex Sans" pitchFamily="34" charset="-120"/>
              </a:rPr>
              <a:t>4 · TABELA PASSO A PASSO</a:t>
            </a:r>
            <a:endParaRPr lang="en-US" sz="1200" dirty="0"/>
          </a:p>
        </p:txBody>
      </p:sp>
      <p:sp>
        <p:nvSpPr>
          <p:cNvPr id="3" name="Text 1"/>
          <p:cNvSpPr>
            <a:spLocks noGrp="1"/>
          </p:cNvSpPr>
          <p:nvPr>
            <p:ph type="title"/>
          </p:nvPr>
        </p:nvSpPr>
        <p:spPr>
          <a:xfrm>
            <a:off x="812800" y="11277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Passo 3: linha C</a:t>
            </a:r>
            <a:endParaRPr lang="en-US" sz="3600" dirty="0"/>
          </a:p>
        </p:txBody>
      </p:sp>
      <p:sp>
        <p:nvSpPr>
          <p:cNvPr id="4" name="Text 2"/>
          <p:cNvSpPr/>
          <p:nvPr/>
        </p:nvSpPr>
        <p:spPr>
          <a:xfrm>
            <a:off x="1447800" y="19354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dirty="0">
                <a:solidFill>
                  <a:srgbClr val="8A93A3"/>
                </a:solidFill>
                <a:latin typeface="JetBrains Mono" pitchFamily="49" charset="0"/>
                <a:ea typeface="JetBrains Mono" pitchFamily="49" charset="-122"/>
                <a:cs typeface="JetBrains Mono" pitchFamily="49" charset="-120"/>
              </a:rPr>
              <a:t>∅</a:t>
            </a:r>
            <a:endParaRPr lang="en-US" sz="2000" dirty="0"/>
          </a:p>
        </p:txBody>
      </p:sp>
      <p:sp>
        <p:nvSpPr>
          <p:cNvPr id="5" name="Text 3"/>
          <p:cNvSpPr/>
          <p:nvPr/>
        </p:nvSpPr>
        <p:spPr>
          <a:xfrm>
            <a:off x="2108200" y="19354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B</a:t>
            </a:r>
            <a:endParaRPr lang="en-US" sz="2000" dirty="0"/>
          </a:p>
        </p:txBody>
      </p:sp>
      <p:sp>
        <p:nvSpPr>
          <p:cNvPr id="6" name="Text 4"/>
          <p:cNvSpPr/>
          <p:nvPr/>
        </p:nvSpPr>
        <p:spPr>
          <a:xfrm>
            <a:off x="2768600" y="19354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C</a:t>
            </a:r>
            <a:endParaRPr lang="en-US" sz="2000" dirty="0"/>
          </a:p>
        </p:txBody>
      </p:sp>
      <p:sp>
        <p:nvSpPr>
          <p:cNvPr id="7" name="Text 5"/>
          <p:cNvSpPr/>
          <p:nvPr/>
        </p:nvSpPr>
        <p:spPr>
          <a:xfrm>
            <a:off x="3429000" y="19354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A</a:t>
            </a:r>
            <a:endParaRPr lang="en-US" sz="2000" dirty="0"/>
          </a:p>
        </p:txBody>
      </p:sp>
      <p:sp>
        <p:nvSpPr>
          <p:cNvPr id="8" name="Text 6"/>
          <p:cNvSpPr/>
          <p:nvPr/>
        </p:nvSpPr>
        <p:spPr>
          <a:xfrm>
            <a:off x="4089400" y="19354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B</a:t>
            </a:r>
            <a:endParaRPr lang="en-US" sz="2000" dirty="0"/>
          </a:p>
        </p:txBody>
      </p:sp>
      <p:sp>
        <p:nvSpPr>
          <p:cNvPr id="9" name="Text 7"/>
          <p:cNvSpPr/>
          <p:nvPr/>
        </p:nvSpPr>
        <p:spPr>
          <a:xfrm>
            <a:off x="787400" y="25958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dirty="0">
                <a:solidFill>
                  <a:srgbClr val="8A93A3"/>
                </a:solidFill>
                <a:latin typeface="JetBrains Mono" pitchFamily="49" charset="0"/>
                <a:ea typeface="JetBrains Mono" pitchFamily="49" charset="-122"/>
                <a:cs typeface="JetBrains Mono" pitchFamily="49" charset="-120"/>
              </a:rPr>
              <a:t>∅</a:t>
            </a:r>
            <a:endParaRPr lang="en-US" sz="2000" dirty="0"/>
          </a:p>
        </p:txBody>
      </p:sp>
      <p:sp>
        <p:nvSpPr>
          <p:cNvPr id="10" name="Text 8"/>
          <p:cNvSpPr/>
          <p:nvPr/>
        </p:nvSpPr>
        <p:spPr>
          <a:xfrm>
            <a:off x="1473200" y="25958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1" name="Text 9"/>
          <p:cNvSpPr/>
          <p:nvPr/>
        </p:nvSpPr>
        <p:spPr>
          <a:xfrm>
            <a:off x="2133600" y="25958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2" name="Text 10"/>
          <p:cNvSpPr/>
          <p:nvPr/>
        </p:nvSpPr>
        <p:spPr>
          <a:xfrm>
            <a:off x="2794000" y="25958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3" name="Text 11"/>
          <p:cNvSpPr/>
          <p:nvPr/>
        </p:nvSpPr>
        <p:spPr>
          <a:xfrm>
            <a:off x="3454400" y="25958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4" name="Text 12"/>
          <p:cNvSpPr/>
          <p:nvPr/>
        </p:nvSpPr>
        <p:spPr>
          <a:xfrm>
            <a:off x="4114800" y="25958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5" name="Text 13"/>
          <p:cNvSpPr/>
          <p:nvPr/>
        </p:nvSpPr>
        <p:spPr>
          <a:xfrm>
            <a:off x="787400" y="32562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A</a:t>
            </a:r>
            <a:endParaRPr lang="en-US" sz="2000" dirty="0"/>
          </a:p>
        </p:txBody>
      </p:sp>
      <p:sp>
        <p:nvSpPr>
          <p:cNvPr id="16" name="Text 14"/>
          <p:cNvSpPr/>
          <p:nvPr/>
        </p:nvSpPr>
        <p:spPr>
          <a:xfrm>
            <a:off x="1473200" y="32562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7" name="Text 15"/>
          <p:cNvSpPr/>
          <p:nvPr/>
        </p:nvSpPr>
        <p:spPr>
          <a:xfrm>
            <a:off x="2133600" y="32562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0</a:t>
            </a:r>
            <a:endParaRPr lang="en-US" sz="2000" dirty="0"/>
          </a:p>
        </p:txBody>
      </p:sp>
      <p:sp>
        <p:nvSpPr>
          <p:cNvPr id="18" name="Text 16"/>
          <p:cNvSpPr/>
          <p:nvPr/>
        </p:nvSpPr>
        <p:spPr>
          <a:xfrm>
            <a:off x="2794000" y="32562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0</a:t>
            </a:r>
            <a:endParaRPr lang="en-US" sz="2000" dirty="0"/>
          </a:p>
        </p:txBody>
      </p:sp>
      <p:sp>
        <p:nvSpPr>
          <p:cNvPr id="19" name="Text 17"/>
          <p:cNvSpPr/>
          <p:nvPr/>
        </p:nvSpPr>
        <p:spPr>
          <a:xfrm>
            <a:off x="3454400" y="32562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1</a:t>
            </a:r>
            <a:endParaRPr lang="en-US" sz="2000" dirty="0"/>
          </a:p>
        </p:txBody>
      </p:sp>
      <p:sp>
        <p:nvSpPr>
          <p:cNvPr id="20" name="Text 18"/>
          <p:cNvSpPr/>
          <p:nvPr/>
        </p:nvSpPr>
        <p:spPr>
          <a:xfrm>
            <a:off x="4114800" y="32562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1</a:t>
            </a:r>
            <a:endParaRPr lang="en-US" sz="2000" dirty="0"/>
          </a:p>
        </p:txBody>
      </p:sp>
      <p:sp>
        <p:nvSpPr>
          <p:cNvPr id="21" name="Text 19"/>
          <p:cNvSpPr/>
          <p:nvPr/>
        </p:nvSpPr>
        <p:spPr>
          <a:xfrm>
            <a:off x="787400" y="39166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B</a:t>
            </a:r>
            <a:endParaRPr lang="en-US" sz="2000" dirty="0"/>
          </a:p>
        </p:txBody>
      </p:sp>
      <p:sp>
        <p:nvSpPr>
          <p:cNvPr id="22" name="Text 20"/>
          <p:cNvSpPr/>
          <p:nvPr/>
        </p:nvSpPr>
        <p:spPr>
          <a:xfrm>
            <a:off x="1473200" y="39166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23" name="Text 21"/>
          <p:cNvSpPr/>
          <p:nvPr/>
        </p:nvSpPr>
        <p:spPr>
          <a:xfrm>
            <a:off x="2133600" y="39166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1</a:t>
            </a:r>
            <a:endParaRPr lang="en-US" sz="2000" dirty="0"/>
          </a:p>
        </p:txBody>
      </p:sp>
      <p:sp>
        <p:nvSpPr>
          <p:cNvPr id="24" name="Text 22"/>
          <p:cNvSpPr/>
          <p:nvPr/>
        </p:nvSpPr>
        <p:spPr>
          <a:xfrm>
            <a:off x="2794000" y="39166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1</a:t>
            </a:r>
            <a:endParaRPr lang="en-US" sz="2000" dirty="0"/>
          </a:p>
        </p:txBody>
      </p:sp>
      <p:sp>
        <p:nvSpPr>
          <p:cNvPr id="25" name="Text 23"/>
          <p:cNvSpPr/>
          <p:nvPr/>
        </p:nvSpPr>
        <p:spPr>
          <a:xfrm>
            <a:off x="3454400" y="39166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BE1CC"/>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1</a:t>
            </a:r>
            <a:endParaRPr lang="en-US" sz="2000" dirty="0"/>
          </a:p>
        </p:txBody>
      </p:sp>
      <p:sp>
        <p:nvSpPr>
          <p:cNvPr id="26" name="Text 24"/>
          <p:cNvSpPr/>
          <p:nvPr/>
        </p:nvSpPr>
        <p:spPr>
          <a:xfrm>
            <a:off x="4114800" y="39166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2</a:t>
            </a:r>
            <a:endParaRPr lang="en-US" sz="2000" dirty="0"/>
          </a:p>
        </p:txBody>
      </p:sp>
      <p:sp>
        <p:nvSpPr>
          <p:cNvPr id="27" name="Text 25"/>
          <p:cNvSpPr/>
          <p:nvPr/>
        </p:nvSpPr>
        <p:spPr>
          <a:xfrm>
            <a:off x="787400" y="45770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C</a:t>
            </a:r>
            <a:endParaRPr lang="en-US" sz="2000" dirty="0"/>
          </a:p>
        </p:txBody>
      </p:sp>
      <p:sp>
        <p:nvSpPr>
          <p:cNvPr id="28" name="Text 26"/>
          <p:cNvSpPr/>
          <p:nvPr/>
        </p:nvSpPr>
        <p:spPr>
          <a:xfrm>
            <a:off x="1473200" y="45770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29" name="Text 27"/>
          <p:cNvSpPr/>
          <p:nvPr/>
        </p:nvSpPr>
        <p:spPr>
          <a:xfrm>
            <a:off x="2133600" y="45770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1</a:t>
            </a:r>
            <a:endParaRPr lang="en-US" sz="2000" dirty="0"/>
          </a:p>
        </p:txBody>
      </p:sp>
      <p:sp>
        <p:nvSpPr>
          <p:cNvPr id="30" name="Text 28"/>
          <p:cNvSpPr/>
          <p:nvPr/>
        </p:nvSpPr>
        <p:spPr>
          <a:xfrm>
            <a:off x="2794000" y="45770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BE1CC"/>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2</a:t>
            </a:r>
            <a:endParaRPr lang="en-US" sz="2000" dirty="0"/>
          </a:p>
        </p:txBody>
      </p:sp>
      <p:sp>
        <p:nvSpPr>
          <p:cNvPr id="31" name="Text 29"/>
          <p:cNvSpPr/>
          <p:nvPr/>
        </p:nvSpPr>
        <p:spPr>
          <a:xfrm>
            <a:off x="3454400" y="45770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07A2E"/>
          </a:solidFill>
          <a:ln/>
        </p:spPr>
        <p:txBody>
          <a:bodyPr wrap="square" lIns="0" tIns="0" rIns="0" bIns="0" rtlCol="0" anchor="t">
            <a:normAutofit/>
          </a:bodyPr>
          <a:lstStyle/>
          <a:p>
            <a:pPr marL="0" indent="0" algn="ctr">
              <a:lnSpc>
                <a:spcPts val="4800"/>
              </a:lnSpc>
              <a:buNone/>
            </a:pPr>
            <a:r>
              <a:rPr lang="en-US" sz="2000" b="1" dirty="0">
                <a:solidFill>
                  <a:srgbClr val="14213D"/>
                </a:solidFill>
                <a:latin typeface="JetBrains Mono" pitchFamily="49" charset="0"/>
                <a:ea typeface="JetBrains Mono" pitchFamily="49" charset="-122"/>
                <a:cs typeface="JetBrains Mono" pitchFamily="49" charset="-120"/>
              </a:rPr>
              <a:t>2</a:t>
            </a:r>
            <a:endParaRPr lang="en-US" sz="2000" dirty="0"/>
          </a:p>
        </p:txBody>
      </p:sp>
      <p:sp>
        <p:nvSpPr>
          <p:cNvPr id="32" name="Text 30"/>
          <p:cNvSpPr/>
          <p:nvPr/>
        </p:nvSpPr>
        <p:spPr>
          <a:xfrm>
            <a:off x="4114800" y="45770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2</a:t>
            </a:r>
            <a:endParaRPr lang="en-US" sz="2000" dirty="0"/>
          </a:p>
        </p:txBody>
      </p:sp>
      <p:sp>
        <p:nvSpPr>
          <p:cNvPr id="33" name="Text 31"/>
          <p:cNvSpPr/>
          <p:nvPr/>
        </p:nvSpPr>
        <p:spPr>
          <a:xfrm>
            <a:off x="787400" y="5237479"/>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B</a:t>
            </a:r>
            <a:endParaRPr lang="en-US" sz="2000" dirty="0"/>
          </a:p>
        </p:txBody>
      </p:sp>
      <p:sp>
        <p:nvSpPr>
          <p:cNvPr id="34" name="Text 32"/>
          <p:cNvSpPr/>
          <p:nvPr/>
        </p:nvSpPr>
        <p:spPr>
          <a:xfrm>
            <a:off x="1473200" y="5237479"/>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35" name="Shape 33"/>
          <p:cNvSpPr/>
          <p:nvPr/>
        </p:nvSpPr>
        <p:spPr>
          <a:xfrm>
            <a:off x="2133600" y="5237479"/>
            <a:ext cx="609600" cy="609600"/>
          </a:xfrm>
          <a:prstGeom prst="roundRect">
            <a:avLst>
              <a:gd name="adj" fmla="val 12500"/>
            </a:avLst>
          </a:prstGeom>
          <a:solidFill>
            <a:srgbClr val="EAE5D9"/>
          </a:solidFill>
          <a:ln/>
        </p:spPr>
        <p:txBody>
          <a:bodyPr/>
          <a:lstStyle/>
          <a:p>
            <a:endParaRPr lang="pt-BR"/>
          </a:p>
        </p:txBody>
      </p:sp>
      <p:sp>
        <p:nvSpPr>
          <p:cNvPr id="36" name="Shape 34"/>
          <p:cNvSpPr/>
          <p:nvPr/>
        </p:nvSpPr>
        <p:spPr>
          <a:xfrm>
            <a:off x="2794000" y="5237479"/>
            <a:ext cx="609600" cy="609600"/>
          </a:xfrm>
          <a:prstGeom prst="roundRect">
            <a:avLst>
              <a:gd name="adj" fmla="val 12500"/>
            </a:avLst>
          </a:prstGeom>
          <a:solidFill>
            <a:srgbClr val="EAE5D9"/>
          </a:solidFill>
          <a:ln/>
        </p:spPr>
        <p:txBody>
          <a:bodyPr/>
          <a:lstStyle/>
          <a:p>
            <a:endParaRPr lang="pt-BR"/>
          </a:p>
        </p:txBody>
      </p:sp>
      <p:sp>
        <p:nvSpPr>
          <p:cNvPr id="37" name="Shape 35"/>
          <p:cNvSpPr/>
          <p:nvPr/>
        </p:nvSpPr>
        <p:spPr>
          <a:xfrm>
            <a:off x="3454400" y="5237479"/>
            <a:ext cx="609600" cy="609600"/>
          </a:xfrm>
          <a:prstGeom prst="roundRect">
            <a:avLst>
              <a:gd name="adj" fmla="val 12500"/>
            </a:avLst>
          </a:prstGeom>
          <a:solidFill>
            <a:srgbClr val="EAE5D9"/>
          </a:solidFill>
          <a:ln/>
        </p:spPr>
        <p:txBody>
          <a:bodyPr/>
          <a:lstStyle/>
          <a:p>
            <a:endParaRPr lang="pt-BR"/>
          </a:p>
        </p:txBody>
      </p:sp>
      <p:sp>
        <p:nvSpPr>
          <p:cNvPr id="38" name="Shape 36"/>
          <p:cNvSpPr/>
          <p:nvPr/>
        </p:nvSpPr>
        <p:spPr>
          <a:xfrm>
            <a:off x="4114800" y="5237479"/>
            <a:ext cx="609600" cy="609600"/>
          </a:xfrm>
          <a:prstGeom prst="roundRect">
            <a:avLst>
              <a:gd name="adj" fmla="val 12500"/>
            </a:avLst>
          </a:prstGeom>
          <a:solidFill>
            <a:srgbClr val="EAE5D9"/>
          </a:solidFill>
          <a:ln/>
        </p:spPr>
        <p:txBody>
          <a:bodyPr/>
          <a:lstStyle/>
          <a:p>
            <a:endParaRPr lang="pt-BR"/>
          </a:p>
        </p:txBody>
      </p:sp>
      <p:sp>
        <p:nvSpPr>
          <p:cNvPr id="39" name="Shape 37"/>
          <p:cNvSpPr/>
          <p:nvPr/>
        </p:nvSpPr>
        <p:spPr>
          <a:xfrm>
            <a:off x="5130800" y="1935479"/>
            <a:ext cx="6248400" cy="4109720"/>
          </a:xfrm>
          <a:prstGeom prst="roundRect">
            <a:avLst>
              <a:gd name="adj" fmla="val 3708"/>
            </a:avLst>
          </a:prstGeom>
          <a:solidFill>
            <a:srgbClr val="FDFCF9"/>
          </a:solidFill>
          <a:ln/>
        </p:spPr>
        <p:txBody>
          <a:bodyPr/>
          <a:lstStyle/>
          <a:p>
            <a:endParaRPr lang="pt-BR"/>
          </a:p>
        </p:txBody>
      </p:sp>
      <p:sp>
        <p:nvSpPr>
          <p:cNvPr id="40" name="Text 38"/>
          <p:cNvSpPr/>
          <p:nvPr/>
        </p:nvSpPr>
        <p:spPr>
          <a:xfrm>
            <a:off x="5435600" y="2240279"/>
            <a:ext cx="5807964"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C × A: letras diferentes</a:t>
            </a:r>
            <a:endParaRPr lang="en-US" sz="2200" dirty="0"/>
          </a:p>
        </p:txBody>
      </p:sp>
      <p:sp>
        <p:nvSpPr>
          <p:cNvPr id="41" name="Text 39"/>
          <p:cNvSpPr/>
          <p:nvPr/>
        </p:nvSpPr>
        <p:spPr>
          <a:xfrm>
            <a:off x="5435600" y="2727964"/>
            <a:ext cx="5807964"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5541B"/>
                </a:solidFill>
                <a:latin typeface="JetBrains Mono" pitchFamily="49" charset="0"/>
                <a:ea typeface="JetBrains Mono" pitchFamily="49" charset="-122"/>
                <a:cs typeface="JetBrains Mono" pitchFamily="49" charset="-120"/>
              </a:rPr>
              <a:t>max(cima 1, esquerda 2) = 2</a:t>
            </a:r>
            <a:endParaRPr lang="en-US" sz="1600" dirty="0"/>
          </a:p>
        </p:txBody>
      </p:sp>
      <p:sp>
        <p:nvSpPr>
          <p:cNvPr id="42" name="Text 40"/>
          <p:cNvSpPr/>
          <p:nvPr/>
        </p:nvSpPr>
        <p:spPr>
          <a:xfrm>
            <a:off x="5435600" y="3164842"/>
            <a:ext cx="5807964"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C × B: diferentes → max(1, 0) = 1.</a:t>
            </a:r>
            <a:endParaRPr lang="en-US" sz="1600" dirty="0"/>
          </a:p>
        </p:txBody>
      </p:sp>
      <p:sp>
        <p:nvSpPr>
          <p:cNvPr id="43" name="Text 41"/>
          <p:cNvSpPr/>
          <p:nvPr/>
        </p:nvSpPr>
        <p:spPr>
          <a:xfrm>
            <a:off x="5435600" y="3601721"/>
            <a:ext cx="5807964"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C × C: iguais → diagonal 1 + 1 = 2.</a:t>
            </a:r>
            <a:endParaRPr lang="en-US" sz="1600" dirty="0"/>
          </a:p>
        </p:txBody>
      </p:sp>
      <p:sp>
        <p:nvSpPr>
          <p:cNvPr id="44" name="Text 42"/>
          <p:cNvSpPr/>
          <p:nvPr/>
        </p:nvSpPr>
        <p:spPr>
          <a:xfrm>
            <a:off x="5435600" y="4038600"/>
            <a:ext cx="5807964"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C × B (última): diferentes → max(2, 2) = 2.</a:t>
            </a:r>
            <a:endParaRPr lang="en-US" sz="1600" dirty="0"/>
          </a:p>
        </p:txBody>
      </p:sp>
      <p:sp>
        <p:nvSpPr>
          <p:cNvPr id="45" name="Shape 43"/>
          <p:cNvSpPr/>
          <p:nvPr/>
        </p:nvSpPr>
        <p:spPr>
          <a:xfrm>
            <a:off x="5435600" y="5532121"/>
            <a:ext cx="203200" cy="203200"/>
          </a:xfrm>
          <a:prstGeom prst="roundRect">
            <a:avLst>
              <a:gd name="adj" fmla="val 25000"/>
            </a:avLst>
          </a:prstGeom>
          <a:solidFill>
            <a:srgbClr val="E07A2E"/>
          </a:solidFill>
          <a:ln/>
        </p:spPr>
        <p:txBody>
          <a:bodyPr/>
          <a:lstStyle/>
          <a:p>
            <a:endParaRPr lang="pt-BR"/>
          </a:p>
        </p:txBody>
      </p:sp>
      <p:sp>
        <p:nvSpPr>
          <p:cNvPr id="46" name="Text 44"/>
          <p:cNvSpPr/>
          <p:nvPr/>
        </p:nvSpPr>
        <p:spPr>
          <a:xfrm>
            <a:off x="5842000" y="5527042"/>
            <a:ext cx="130476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célula calculada</a:t>
            </a:r>
            <a:endParaRPr lang="en-US" sz="1200" dirty="0"/>
          </a:p>
        </p:txBody>
      </p:sp>
      <p:sp>
        <p:nvSpPr>
          <p:cNvPr id="47" name="Shape 45"/>
          <p:cNvSpPr/>
          <p:nvPr/>
        </p:nvSpPr>
        <p:spPr>
          <a:xfrm>
            <a:off x="7146766" y="5532121"/>
            <a:ext cx="203200" cy="203200"/>
          </a:xfrm>
          <a:prstGeom prst="roundRect">
            <a:avLst>
              <a:gd name="adj" fmla="val 25000"/>
            </a:avLst>
          </a:prstGeom>
          <a:solidFill>
            <a:srgbClr val="FBE1CC"/>
          </a:solidFill>
          <a:ln/>
        </p:spPr>
        <p:txBody>
          <a:bodyPr/>
          <a:lstStyle/>
          <a:p>
            <a:endParaRPr lang="pt-BR"/>
          </a:p>
        </p:txBody>
      </p:sp>
      <p:sp>
        <p:nvSpPr>
          <p:cNvPr id="48" name="Text 46"/>
          <p:cNvSpPr/>
          <p:nvPr/>
        </p:nvSpPr>
        <p:spPr>
          <a:xfrm>
            <a:off x="7553166" y="5527042"/>
            <a:ext cx="16366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de onde veio o valor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541B"/>
                </a:solidFill>
                <a:latin typeface="IBM Plex Sans" pitchFamily="34" charset="0"/>
                <a:ea typeface="IBM Plex Sans" pitchFamily="34" charset="-122"/>
                <a:cs typeface="IBM Plex Sans" pitchFamily="34" charset="-120"/>
              </a:rPr>
              <a:t>4 · TABELA PASSO A PASSO</a:t>
            </a:r>
            <a:endParaRPr lang="en-US" sz="1200" dirty="0"/>
          </a:p>
        </p:txBody>
      </p:sp>
      <p:sp>
        <p:nvSpPr>
          <p:cNvPr id="3" name="Text 1"/>
          <p:cNvSpPr>
            <a:spLocks noGrp="1"/>
          </p:cNvSpPr>
          <p:nvPr>
            <p:ph type="title"/>
          </p:nvPr>
        </p:nvSpPr>
        <p:spPr>
          <a:xfrm>
            <a:off x="812800" y="11277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Passo 4: última linha B</a:t>
            </a:r>
            <a:endParaRPr lang="en-US" sz="3600" dirty="0"/>
          </a:p>
        </p:txBody>
      </p:sp>
      <p:sp>
        <p:nvSpPr>
          <p:cNvPr id="4" name="Text 2"/>
          <p:cNvSpPr/>
          <p:nvPr/>
        </p:nvSpPr>
        <p:spPr>
          <a:xfrm>
            <a:off x="1447800" y="1935485"/>
            <a:ext cx="660400" cy="635000"/>
          </a:xfrm>
          <a:prstGeom prst="rect">
            <a:avLst/>
          </a:prstGeom>
          <a:noFill/>
          <a:ln/>
        </p:spPr>
        <p:txBody>
          <a:bodyPr wrap="square" lIns="0" tIns="0" rIns="0" bIns="0" rtlCol="0" anchor="t">
            <a:normAutofit/>
          </a:bodyPr>
          <a:lstStyle/>
          <a:p>
            <a:pPr marL="0" indent="0" algn="ctr">
              <a:lnSpc>
                <a:spcPts val="4800"/>
              </a:lnSpc>
              <a:buNone/>
            </a:pPr>
            <a:r>
              <a:rPr lang="en-US" sz="2000" dirty="0">
                <a:solidFill>
                  <a:srgbClr val="8A93A3"/>
                </a:solidFill>
                <a:latin typeface="JetBrains Mono" pitchFamily="49" charset="0"/>
                <a:ea typeface="JetBrains Mono" pitchFamily="49" charset="-122"/>
                <a:cs typeface="JetBrains Mono" pitchFamily="49" charset="-120"/>
              </a:rPr>
              <a:t>∅</a:t>
            </a:r>
            <a:endParaRPr lang="en-US" sz="2000" dirty="0"/>
          </a:p>
        </p:txBody>
      </p:sp>
      <p:sp>
        <p:nvSpPr>
          <p:cNvPr id="5" name="Text 3"/>
          <p:cNvSpPr/>
          <p:nvPr/>
        </p:nvSpPr>
        <p:spPr>
          <a:xfrm>
            <a:off x="2108200" y="1935485"/>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B</a:t>
            </a:r>
            <a:endParaRPr lang="en-US" sz="2000" dirty="0"/>
          </a:p>
        </p:txBody>
      </p:sp>
      <p:sp>
        <p:nvSpPr>
          <p:cNvPr id="6" name="Text 4"/>
          <p:cNvSpPr/>
          <p:nvPr/>
        </p:nvSpPr>
        <p:spPr>
          <a:xfrm>
            <a:off x="2768600" y="1935485"/>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C</a:t>
            </a:r>
            <a:endParaRPr lang="en-US" sz="2000" dirty="0"/>
          </a:p>
        </p:txBody>
      </p:sp>
      <p:sp>
        <p:nvSpPr>
          <p:cNvPr id="7" name="Text 5"/>
          <p:cNvSpPr/>
          <p:nvPr/>
        </p:nvSpPr>
        <p:spPr>
          <a:xfrm>
            <a:off x="3429000" y="1935485"/>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A</a:t>
            </a:r>
            <a:endParaRPr lang="en-US" sz="2000" dirty="0"/>
          </a:p>
        </p:txBody>
      </p:sp>
      <p:sp>
        <p:nvSpPr>
          <p:cNvPr id="8" name="Text 6"/>
          <p:cNvSpPr/>
          <p:nvPr/>
        </p:nvSpPr>
        <p:spPr>
          <a:xfrm>
            <a:off x="4089400" y="1935485"/>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B</a:t>
            </a:r>
            <a:endParaRPr lang="en-US" sz="2000" dirty="0"/>
          </a:p>
        </p:txBody>
      </p:sp>
      <p:sp>
        <p:nvSpPr>
          <p:cNvPr id="9" name="Text 7"/>
          <p:cNvSpPr/>
          <p:nvPr/>
        </p:nvSpPr>
        <p:spPr>
          <a:xfrm>
            <a:off x="787400" y="2595885"/>
            <a:ext cx="660400" cy="635000"/>
          </a:xfrm>
          <a:prstGeom prst="rect">
            <a:avLst/>
          </a:prstGeom>
          <a:noFill/>
          <a:ln/>
        </p:spPr>
        <p:txBody>
          <a:bodyPr wrap="square" lIns="0" tIns="0" rIns="0" bIns="0" rtlCol="0" anchor="t">
            <a:normAutofit/>
          </a:bodyPr>
          <a:lstStyle/>
          <a:p>
            <a:pPr marL="0" indent="0" algn="ctr">
              <a:lnSpc>
                <a:spcPts val="4800"/>
              </a:lnSpc>
              <a:buNone/>
            </a:pPr>
            <a:r>
              <a:rPr lang="en-US" sz="2000" dirty="0">
                <a:solidFill>
                  <a:srgbClr val="8A93A3"/>
                </a:solidFill>
                <a:latin typeface="JetBrains Mono" pitchFamily="49" charset="0"/>
                <a:ea typeface="JetBrains Mono" pitchFamily="49" charset="-122"/>
                <a:cs typeface="JetBrains Mono" pitchFamily="49" charset="-120"/>
              </a:rPr>
              <a:t>∅</a:t>
            </a:r>
            <a:endParaRPr lang="en-US" sz="2000" dirty="0"/>
          </a:p>
        </p:txBody>
      </p:sp>
      <p:sp>
        <p:nvSpPr>
          <p:cNvPr id="10" name="Text 8"/>
          <p:cNvSpPr/>
          <p:nvPr/>
        </p:nvSpPr>
        <p:spPr>
          <a:xfrm>
            <a:off x="1473200" y="25958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1" name="Text 9"/>
          <p:cNvSpPr/>
          <p:nvPr/>
        </p:nvSpPr>
        <p:spPr>
          <a:xfrm>
            <a:off x="2133600" y="25958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2" name="Text 10"/>
          <p:cNvSpPr/>
          <p:nvPr/>
        </p:nvSpPr>
        <p:spPr>
          <a:xfrm>
            <a:off x="2794000" y="25958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3" name="Text 11"/>
          <p:cNvSpPr/>
          <p:nvPr/>
        </p:nvSpPr>
        <p:spPr>
          <a:xfrm>
            <a:off x="3454400" y="25958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4" name="Text 12"/>
          <p:cNvSpPr/>
          <p:nvPr/>
        </p:nvSpPr>
        <p:spPr>
          <a:xfrm>
            <a:off x="4114800" y="25958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5" name="Text 13"/>
          <p:cNvSpPr/>
          <p:nvPr/>
        </p:nvSpPr>
        <p:spPr>
          <a:xfrm>
            <a:off x="787400" y="3256285"/>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A</a:t>
            </a:r>
            <a:endParaRPr lang="en-US" sz="2000" dirty="0"/>
          </a:p>
        </p:txBody>
      </p:sp>
      <p:sp>
        <p:nvSpPr>
          <p:cNvPr id="16" name="Text 14"/>
          <p:cNvSpPr/>
          <p:nvPr/>
        </p:nvSpPr>
        <p:spPr>
          <a:xfrm>
            <a:off x="1473200" y="32562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7" name="Text 15"/>
          <p:cNvSpPr/>
          <p:nvPr/>
        </p:nvSpPr>
        <p:spPr>
          <a:xfrm>
            <a:off x="2133600" y="32562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0</a:t>
            </a:r>
            <a:endParaRPr lang="en-US" sz="2000" dirty="0"/>
          </a:p>
        </p:txBody>
      </p:sp>
      <p:sp>
        <p:nvSpPr>
          <p:cNvPr id="18" name="Text 16"/>
          <p:cNvSpPr/>
          <p:nvPr/>
        </p:nvSpPr>
        <p:spPr>
          <a:xfrm>
            <a:off x="2794000" y="32562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0</a:t>
            </a:r>
            <a:endParaRPr lang="en-US" sz="2000" dirty="0"/>
          </a:p>
        </p:txBody>
      </p:sp>
      <p:sp>
        <p:nvSpPr>
          <p:cNvPr id="19" name="Text 17"/>
          <p:cNvSpPr/>
          <p:nvPr/>
        </p:nvSpPr>
        <p:spPr>
          <a:xfrm>
            <a:off x="3454400" y="32562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1</a:t>
            </a:r>
            <a:endParaRPr lang="en-US" sz="2000" dirty="0"/>
          </a:p>
        </p:txBody>
      </p:sp>
      <p:sp>
        <p:nvSpPr>
          <p:cNvPr id="20" name="Text 18"/>
          <p:cNvSpPr/>
          <p:nvPr/>
        </p:nvSpPr>
        <p:spPr>
          <a:xfrm>
            <a:off x="4114800" y="32562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1</a:t>
            </a:r>
            <a:endParaRPr lang="en-US" sz="2000" dirty="0"/>
          </a:p>
        </p:txBody>
      </p:sp>
      <p:sp>
        <p:nvSpPr>
          <p:cNvPr id="21" name="Text 19"/>
          <p:cNvSpPr/>
          <p:nvPr/>
        </p:nvSpPr>
        <p:spPr>
          <a:xfrm>
            <a:off x="787400" y="3916685"/>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B</a:t>
            </a:r>
            <a:endParaRPr lang="en-US" sz="2000" dirty="0"/>
          </a:p>
        </p:txBody>
      </p:sp>
      <p:sp>
        <p:nvSpPr>
          <p:cNvPr id="22" name="Text 20"/>
          <p:cNvSpPr/>
          <p:nvPr/>
        </p:nvSpPr>
        <p:spPr>
          <a:xfrm>
            <a:off x="1473200" y="39166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23" name="Text 21"/>
          <p:cNvSpPr/>
          <p:nvPr/>
        </p:nvSpPr>
        <p:spPr>
          <a:xfrm>
            <a:off x="2133600" y="39166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1</a:t>
            </a:r>
            <a:endParaRPr lang="en-US" sz="2000" dirty="0"/>
          </a:p>
        </p:txBody>
      </p:sp>
      <p:sp>
        <p:nvSpPr>
          <p:cNvPr id="24" name="Text 22"/>
          <p:cNvSpPr/>
          <p:nvPr/>
        </p:nvSpPr>
        <p:spPr>
          <a:xfrm>
            <a:off x="2794000" y="39166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1</a:t>
            </a:r>
            <a:endParaRPr lang="en-US" sz="2000" dirty="0"/>
          </a:p>
        </p:txBody>
      </p:sp>
      <p:sp>
        <p:nvSpPr>
          <p:cNvPr id="25" name="Text 23"/>
          <p:cNvSpPr/>
          <p:nvPr/>
        </p:nvSpPr>
        <p:spPr>
          <a:xfrm>
            <a:off x="3454400" y="39166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1</a:t>
            </a:r>
            <a:endParaRPr lang="en-US" sz="2000" dirty="0"/>
          </a:p>
        </p:txBody>
      </p:sp>
      <p:sp>
        <p:nvSpPr>
          <p:cNvPr id="26" name="Text 24"/>
          <p:cNvSpPr/>
          <p:nvPr/>
        </p:nvSpPr>
        <p:spPr>
          <a:xfrm>
            <a:off x="4114800" y="39166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2</a:t>
            </a:r>
            <a:endParaRPr lang="en-US" sz="2000" dirty="0"/>
          </a:p>
        </p:txBody>
      </p:sp>
      <p:sp>
        <p:nvSpPr>
          <p:cNvPr id="27" name="Text 25"/>
          <p:cNvSpPr/>
          <p:nvPr/>
        </p:nvSpPr>
        <p:spPr>
          <a:xfrm>
            <a:off x="787400" y="4577085"/>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C</a:t>
            </a:r>
            <a:endParaRPr lang="en-US" sz="2000" dirty="0"/>
          </a:p>
        </p:txBody>
      </p:sp>
      <p:sp>
        <p:nvSpPr>
          <p:cNvPr id="28" name="Text 26"/>
          <p:cNvSpPr/>
          <p:nvPr/>
        </p:nvSpPr>
        <p:spPr>
          <a:xfrm>
            <a:off x="1473200" y="45770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29" name="Text 27"/>
          <p:cNvSpPr/>
          <p:nvPr/>
        </p:nvSpPr>
        <p:spPr>
          <a:xfrm>
            <a:off x="2133600" y="45770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1</a:t>
            </a:r>
            <a:endParaRPr lang="en-US" sz="2000" dirty="0"/>
          </a:p>
        </p:txBody>
      </p:sp>
      <p:sp>
        <p:nvSpPr>
          <p:cNvPr id="30" name="Text 28"/>
          <p:cNvSpPr/>
          <p:nvPr/>
        </p:nvSpPr>
        <p:spPr>
          <a:xfrm>
            <a:off x="2794000" y="45770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2</a:t>
            </a:r>
            <a:endParaRPr lang="en-US" sz="2000" dirty="0"/>
          </a:p>
        </p:txBody>
      </p:sp>
      <p:sp>
        <p:nvSpPr>
          <p:cNvPr id="31" name="Text 29"/>
          <p:cNvSpPr/>
          <p:nvPr/>
        </p:nvSpPr>
        <p:spPr>
          <a:xfrm>
            <a:off x="3454400" y="45770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BE1CC"/>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2</a:t>
            </a:r>
            <a:endParaRPr lang="en-US" sz="2000" dirty="0"/>
          </a:p>
        </p:txBody>
      </p:sp>
      <p:sp>
        <p:nvSpPr>
          <p:cNvPr id="32" name="Text 30"/>
          <p:cNvSpPr/>
          <p:nvPr/>
        </p:nvSpPr>
        <p:spPr>
          <a:xfrm>
            <a:off x="4114800" y="45770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2</a:t>
            </a:r>
            <a:endParaRPr lang="en-US" sz="2000" dirty="0"/>
          </a:p>
        </p:txBody>
      </p:sp>
      <p:sp>
        <p:nvSpPr>
          <p:cNvPr id="33" name="Text 31"/>
          <p:cNvSpPr/>
          <p:nvPr/>
        </p:nvSpPr>
        <p:spPr>
          <a:xfrm>
            <a:off x="787400" y="5237485"/>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B</a:t>
            </a:r>
            <a:endParaRPr lang="en-US" sz="2000" dirty="0"/>
          </a:p>
        </p:txBody>
      </p:sp>
      <p:sp>
        <p:nvSpPr>
          <p:cNvPr id="34" name="Text 32"/>
          <p:cNvSpPr/>
          <p:nvPr/>
        </p:nvSpPr>
        <p:spPr>
          <a:xfrm>
            <a:off x="1473200" y="52374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35" name="Text 33"/>
          <p:cNvSpPr/>
          <p:nvPr/>
        </p:nvSpPr>
        <p:spPr>
          <a:xfrm>
            <a:off x="2133600" y="52374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1</a:t>
            </a:r>
            <a:endParaRPr lang="en-US" sz="2000" dirty="0"/>
          </a:p>
        </p:txBody>
      </p:sp>
      <p:sp>
        <p:nvSpPr>
          <p:cNvPr id="36" name="Text 34"/>
          <p:cNvSpPr/>
          <p:nvPr/>
        </p:nvSpPr>
        <p:spPr>
          <a:xfrm>
            <a:off x="2794000" y="52374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2</a:t>
            </a:r>
            <a:endParaRPr lang="en-US" sz="2000" dirty="0"/>
          </a:p>
        </p:txBody>
      </p:sp>
      <p:sp>
        <p:nvSpPr>
          <p:cNvPr id="37" name="Text 35"/>
          <p:cNvSpPr/>
          <p:nvPr/>
        </p:nvSpPr>
        <p:spPr>
          <a:xfrm>
            <a:off x="3454400" y="52374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2</a:t>
            </a:r>
            <a:endParaRPr lang="en-US" sz="2000" dirty="0"/>
          </a:p>
        </p:txBody>
      </p:sp>
      <p:sp>
        <p:nvSpPr>
          <p:cNvPr id="38" name="Text 36"/>
          <p:cNvSpPr/>
          <p:nvPr/>
        </p:nvSpPr>
        <p:spPr>
          <a:xfrm>
            <a:off x="4114800" y="52374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07A2E"/>
          </a:solidFill>
          <a:ln/>
        </p:spPr>
        <p:txBody>
          <a:bodyPr wrap="square" lIns="0" tIns="0" rIns="0" bIns="0" rtlCol="0" anchor="t">
            <a:normAutofit/>
          </a:bodyPr>
          <a:lstStyle/>
          <a:p>
            <a:pPr marL="0" indent="0" algn="ctr">
              <a:lnSpc>
                <a:spcPts val="4800"/>
              </a:lnSpc>
              <a:buNone/>
            </a:pPr>
            <a:r>
              <a:rPr lang="en-US" sz="2000" b="1" dirty="0">
                <a:solidFill>
                  <a:srgbClr val="14213D"/>
                </a:solidFill>
                <a:latin typeface="JetBrains Mono" pitchFamily="49" charset="0"/>
                <a:ea typeface="JetBrains Mono" pitchFamily="49" charset="-122"/>
                <a:cs typeface="JetBrains Mono" pitchFamily="49" charset="-120"/>
              </a:rPr>
              <a:t>3</a:t>
            </a:r>
            <a:endParaRPr lang="en-US" sz="2000" dirty="0"/>
          </a:p>
        </p:txBody>
      </p:sp>
      <p:sp>
        <p:nvSpPr>
          <p:cNvPr id="39" name="Shape 37"/>
          <p:cNvSpPr/>
          <p:nvPr/>
        </p:nvSpPr>
        <p:spPr>
          <a:xfrm>
            <a:off x="5130800" y="1935485"/>
            <a:ext cx="6248400" cy="4109720"/>
          </a:xfrm>
          <a:prstGeom prst="roundRect">
            <a:avLst>
              <a:gd name="adj" fmla="val 3708"/>
            </a:avLst>
          </a:prstGeom>
          <a:solidFill>
            <a:srgbClr val="FDFCF9"/>
          </a:solidFill>
          <a:ln/>
        </p:spPr>
        <p:txBody>
          <a:bodyPr/>
          <a:lstStyle/>
          <a:p>
            <a:endParaRPr lang="pt-BR"/>
          </a:p>
        </p:txBody>
      </p:sp>
      <p:sp>
        <p:nvSpPr>
          <p:cNvPr id="40" name="Text 38"/>
          <p:cNvSpPr/>
          <p:nvPr/>
        </p:nvSpPr>
        <p:spPr>
          <a:xfrm>
            <a:off x="5435600" y="2240285"/>
            <a:ext cx="5807964"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B × B: iguais → resposta</a:t>
            </a:r>
            <a:endParaRPr lang="en-US" sz="2200" dirty="0"/>
          </a:p>
        </p:txBody>
      </p:sp>
      <p:sp>
        <p:nvSpPr>
          <p:cNvPr id="41" name="Text 39"/>
          <p:cNvSpPr/>
          <p:nvPr/>
        </p:nvSpPr>
        <p:spPr>
          <a:xfrm>
            <a:off x="5435600" y="2727958"/>
            <a:ext cx="5807964"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5541B"/>
                </a:solidFill>
                <a:latin typeface="JetBrains Mono" pitchFamily="49" charset="0"/>
                <a:ea typeface="JetBrains Mono" pitchFamily="49" charset="-122"/>
                <a:cs typeface="JetBrains Mono" pitchFamily="49" charset="-120"/>
              </a:rPr>
              <a:t>diagonal + 1 = 2 + 1 = 3</a:t>
            </a:r>
            <a:endParaRPr lang="en-US" sz="1600" dirty="0"/>
          </a:p>
        </p:txBody>
      </p:sp>
      <p:sp>
        <p:nvSpPr>
          <p:cNvPr id="42" name="Text 40"/>
          <p:cNvSpPr/>
          <p:nvPr/>
        </p:nvSpPr>
        <p:spPr>
          <a:xfrm>
            <a:off x="5435600" y="3164842"/>
            <a:ext cx="5807964"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B × B (primeira): iguais → 0 + 1 = 1.</a:t>
            </a:r>
            <a:endParaRPr lang="en-US" sz="1600" dirty="0"/>
          </a:p>
        </p:txBody>
      </p:sp>
      <p:sp>
        <p:nvSpPr>
          <p:cNvPr id="43" name="Text 41"/>
          <p:cNvSpPr/>
          <p:nvPr/>
        </p:nvSpPr>
        <p:spPr>
          <a:xfrm>
            <a:off x="5435600" y="3601727"/>
            <a:ext cx="5807964"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B × C e B × A: diferentes → 2.</a:t>
            </a:r>
            <a:endParaRPr lang="en-US" sz="1600" dirty="0"/>
          </a:p>
        </p:txBody>
      </p:sp>
      <p:sp>
        <p:nvSpPr>
          <p:cNvPr id="44" name="Shape 42"/>
          <p:cNvSpPr/>
          <p:nvPr/>
        </p:nvSpPr>
        <p:spPr>
          <a:xfrm>
            <a:off x="5435600" y="4678685"/>
            <a:ext cx="5638800" cy="1061720"/>
          </a:xfrm>
          <a:prstGeom prst="roundRect">
            <a:avLst>
              <a:gd name="adj" fmla="val 9569"/>
            </a:avLst>
          </a:prstGeom>
          <a:solidFill>
            <a:srgbClr val="14213D"/>
          </a:solidFill>
          <a:ln/>
        </p:spPr>
        <p:txBody>
          <a:bodyPr/>
          <a:lstStyle/>
          <a:p>
            <a:endParaRPr lang="pt-BR"/>
          </a:p>
        </p:txBody>
      </p:sp>
      <p:sp>
        <p:nvSpPr>
          <p:cNvPr id="45" name="Text 43"/>
          <p:cNvSpPr/>
          <p:nvPr/>
        </p:nvSpPr>
        <p:spPr>
          <a:xfrm>
            <a:off x="5638800" y="4881885"/>
            <a:ext cx="5389372"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2A365"/>
                </a:solidFill>
                <a:latin typeface="JetBrains Mono" pitchFamily="49" charset="0"/>
                <a:ea typeface="JetBrains Mono" pitchFamily="49" charset="-122"/>
                <a:cs typeface="JetBrains Mono" pitchFamily="49" charset="-120"/>
              </a:rPr>
              <a:t>dp[4][4] = 3</a:t>
            </a:r>
            <a:endParaRPr lang="en-US" sz="2000" dirty="0"/>
          </a:p>
        </p:txBody>
      </p:sp>
      <p:sp>
        <p:nvSpPr>
          <p:cNvPr id="46" name="Text 44"/>
          <p:cNvSpPr/>
          <p:nvPr/>
        </p:nvSpPr>
        <p:spPr>
          <a:xfrm>
            <a:off x="5638800" y="5288285"/>
            <a:ext cx="538937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8D6"/>
                </a:solidFill>
                <a:latin typeface="IBM Plex Sans" pitchFamily="34" charset="0"/>
                <a:ea typeface="IBM Plex Sans" pitchFamily="34" charset="-122"/>
                <a:cs typeface="IBM Plex Sans" pitchFamily="34" charset="-120"/>
              </a:rPr>
              <a:t>A LCS de “ABCB” e “BCAB” tem 3 letras.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541B"/>
                </a:solidFill>
                <a:latin typeface="IBM Plex Sans" pitchFamily="34" charset="0"/>
                <a:ea typeface="IBM Plex Sans" pitchFamily="34" charset="-122"/>
                <a:cs typeface="IBM Plex Sans" pitchFamily="34" charset="-120"/>
              </a:rPr>
              <a:t>4 · TABELA PASSO A PASSO</a:t>
            </a:r>
            <a:endParaRPr lang="en-US" sz="1200" dirty="0"/>
          </a:p>
        </p:txBody>
      </p:sp>
      <p:sp>
        <p:nvSpPr>
          <p:cNvPr id="3" name="Text 1"/>
          <p:cNvSpPr>
            <a:spLocks noGrp="1"/>
          </p:cNvSpPr>
          <p:nvPr>
            <p:ph type="title"/>
          </p:nvPr>
        </p:nvSpPr>
        <p:spPr>
          <a:xfrm>
            <a:off x="812800" y="11277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Passo 5: voltar pela tabela</a:t>
            </a:r>
            <a:endParaRPr lang="en-US" sz="3600" dirty="0"/>
          </a:p>
        </p:txBody>
      </p:sp>
      <p:sp>
        <p:nvSpPr>
          <p:cNvPr id="4" name="Text 2"/>
          <p:cNvSpPr/>
          <p:nvPr/>
        </p:nvSpPr>
        <p:spPr>
          <a:xfrm>
            <a:off x="1447800" y="1935485"/>
            <a:ext cx="660400" cy="635000"/>
          </a:xfrm>
          <a:prstGeom prst="rect">
            <a:avLst/>
          </a:prstGeom>
          <a:noFill/>
          <a:ln/>
        </p:spPr>
        <p:txBody>
          <a:bodyPr wrap="square" lIns="0" tIns="0" rIns="0" bIns="0" rtlCol="0" anchor="t">
            <a:normAutofit/>
          </a:bodyPr>
          <a:lstStyle/>
          <a:p>
            <a:pPr marL="0" indent="0" algn="ctr">
              <a:lnSpc>
                <a:spcPts val="4800"/>
              </a:lnSpc>
              <a:buNone/>
            </a:pPr>
            <a:r>
              <a:rPr lang="en-US" sz="2000" dirty="0">
                <a:solidFill>
                  <a:srgbClr val="8A93A3"/>
                </a:solidFill>
                <a:latin typeface="JetBrains Mono" pitchFamily="49" charset="0"/>
                <a:ea typeface="JetBrains Mono" pitchFamily="49" charset="-122"/>
                <a:cs typeface="JetBrains Mono" pitchFamily="49" charset="-120"/>
              </a:rPr>
              <a:t>∅</a:t>
            </a:r>
            <a:endParaRPr lang="en-US" sz="2000" dirty="0"/>
          </a:p>
        </p:txBody>
      </p:sp>
      <p:sp>
        <p:nvSpPr>
          <p:cNvPr id="5" name="Text 3"/>
          <p:cNvSpPr/>
          <p:nvPr/>
        </p:nvSpPr>
        <p:spPr>
          <a:xfrm>
            <a:off x="2108200" y="1935485"/>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B</a:t>
            </a:r>
            <a:endParaRPr lang="en-US" sz="2000" dirty="0"/>
          </a:p>
        </p:txBody>
      </p:sp>
      <p:sp>
        <p:nvSpPr>
          <p:cNvPr id="6" name="Text 4"/>
          <p:cNvSpPr/>
          <p:nvPr/>
        </p:nvSpPr>
        <p:spPr>
          <a:xfrm>
            <a:off x="2768600" y="1935485"/>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C</a:t>
            </a:r>
            <a:endParaRPr lang="en-US" sz="2000" dirty="0"/>
          </a:p>
        </p:txBody>
      </p:sp>
      <p:sp>
        <p:nvSpPr>
          <p:cNvPr id="7" name="Text 5"/>
          <p:cNvSpPr/>
          <p:nvPr/>
        </p:nvSpPr>
        <p:spPr>
          <a:xfrm>
            <a:off x="3429000" y="1935485"/>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A</a:t>
            </a:r>
            <a:endParaRPr lang="en-US" sz="2000" dirty="0"/>
          </a:p>
        </p:txBody>
      </p:sp>
      <p:sp>
        <p:nvSpPr>
          <p:cNvPr id="8" name="Text 6"/>
          <p:cNvSpPr/>
          <p:nvPr/>
        </p:nvSpPr>
        <p:spPr>
          <a:xfrm>
            <a:off x="4089400" y="1935485"/>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B</a:t>
            </a:r>
            <a:endParaRPr lang="en-US" sz="2000" dirty="0"/>
          </a:p>
        </p:txBody>
      </p:sp>
      <p:sp>
        <p:nvSpPr>
          <p:cNvPr id="9" name="Text 7"/>
          <p:cNvSpPr/>
          <p:nvPr/>
        </p:nvSpPr>
        <p:spPr>
          <a:xfrm>
            <a:off x="787400" y="2595885"/>
            <a:ext cx="660400" cy="635000"/>
          </a:xfrm>
          <a:prstGeom prst="rect">
            <a:avLst/>
          </a:prstGeom>
          <a:noFill/>
          <a:ln/>
        </p:spPr>
        <p:txBody>
          <a:bodyPr wrap="square" lIns="0" tIns="0" rIns="0" bIns="0" rtlCol="0" anchor="t">
            <a:normAutofit/>
          </a:bodyPr>
          <a:lstStyle/>
          <a:p>
            <a:pPr marL="0" indent="0" algn="ctr">
              <a:lnSpc>
                <a:spcPts val="4800"/>
              </a:lnSpc>
              <a:buNone/>
            </a:pPr>
            <a:r>
              <a:rPr lang="en-US" sz="2000" dirty="0">
                <a:solidFill>
                  <a:srgbClr val="8A93A3"/>
                </a:solidFill>
                <a:latin typeface="JetBrains Mono" pitchFamily="49" charset="0"/>
                <a:ea typeface="JetBrains Mono" pitchFamily="49" charset="-122"/>
                <a:cs typeface="JetBrains Mono" pitchFamily="49" charset="-120"/>
              </a:rPr>
              <a:t>∅</a:t>
            </a:r>
            <a:endParaRPr lang="en-US" sz="2000" dirty="0"/>
          </a:p>
        </p:txBody>
      </p:sp>
      <p:sp>
        <p:nvSpPr>
          <p:cNvPr id="10" name="Text 8"/>
          <p:cNvSpPr/>
          <p:nvPr/>
        </p:nvSpPr>
        <p:spPr>
          <a:xfrm>
            <a:off x="1473200" y="25958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1" name="Text 9"/>
          <p:cNvSpPr/>
          <p:nvPr/>
        </p:nvSpPr>
        <p:spPr>
          <a:xfrm>
            <a:off x="2133600" y="25958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2" name="Text 10"/>
          <p:cNvSpPr/>
          <p:nvPr/>
        </p:nvSpPr>
        <p:spPr>
          <a:xfrm>
            <a:off x="2794000" y="25958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3" name="Text 11"/>
          <p:cNvSpPr/>
          <p:nvPr/>
        </p:nvSpPr>
        <p:spPr>
          <a:xfrm>
            <a:off x="3454400" y="25958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4" name="Text 12"/>
          <p:cNvSpPr/>
          <p:nvPr/>
        </p:nvSpPr>
        <p:spPr>
          <a:xfrm>
            <a:off x="4114800" y="25958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5" name="Text 13"/>
          <p:cNvSpPr/>
          <p:nvPr/>
        </p:nvSpPr>
        <p:spPr>
          <a:xfrm>
            <a:off x="787400" y="3256285"/>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A</a:t>
            </a:r>
            <a:endParaRPr lang="en-US" sz="2000" dirty="0"/>
          </a:p>
        </p:txBody>
      </p:sp>
      <p:sp>
        <p:nvSpPr>
          <p:cNvPr id="16" name="Text 14"/>
          <p:cNvSpPr/>
          <p:nvPr/>
        </p:nvSpPr>
        <p:spPr>
          <a:xfrm>
            <a:off x="1473200" y="32562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17" name="Text 15"/>
          <p:cNvSpPr/>
          <p:nvPr/>
        </p:nvSpPr>
        <p:spPr>
          <a:xfrm>
            <a:off x="2133600" y="32562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0</a:t>
            </a:r>
            <a:endParaRPr lang="en-US" sz="2000" dirty="0"/>
          </a:p>
        </p:txBody>
      </p:sp>
      <p:sp>
        <p:nvSpPr>
          <p:cNvPr id="18" name="Text 16"/>
          <p:cNvSpPr/>
          <p:nvPr/>
        </p:nvSpPr>
        <p:spPr>
          <a:xfrm>
            <a:off x="2794000" y="32562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0</a:t>
            </a:r>
            <a:endParaRPr lang="en-US" sz="2000" dirty="0"/>
          </a:p>
        </p:txBody>
      </p:sp>
      <p:sp>
        <p:nvSpPr>
          <p:cNvPr id="19" name="Text 17"/>
          <p:cNvSpPr/>
          <p:nvPr/>
        </p:nvSpPr>
        <p:spPr>
          <a:xfrm>
            <a:off x="3454400" y="32562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1</a:t>
            </a:r>
            <a:endParaRPr lang="en-US" sz="2000" dirty="0"/>
          </a:p>
        </p:txBody>
      </p:sp>
      <p:sp>
        <p:nvSpPr>
          <p:cNvPr id="20" name="Text 18"/>
          <p:cNvSpPr/>
          <p:nvPr/>
        </p:nvSpPr>
        <p:spPr>
          <a:xfrm>
            <a:off x="4114800" y="32562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1</a:t>
            </a:r>
            <a:endParaRPr lang="en-US" sz="2000" dirty="0"/>
          </a:p>
        </p:txBody>
      </p:sp>
      <p:sp>
        <p:nvSpPr>
          <p:cNvPr id="21" name="Text 19"/>
          <p:cNvSpPr/>
          <p:nvPr/>
        </p:nvSpPr>
        <p:spPr>
          <a:xfrm>
            <a:off x="787400" y="3916685"/>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B</a:t>
            </a:r>
            <a:endParaRPr lang="en-US" sz="2000" dirty="0"/>
          </a:p>
        </p:txBody>
      </p:sp>
      <p:sp>
        <p:nvSpPr>
          <p:cNvPr id="22" name="Text 20"/>
          <p:cNvSpPr/>
          <p:nvPr/>
        </p:nvSpPr>
        <p:spPr>
          <a:xfrm>
            <a:off x="1473200" y="39166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23" name="Text 21"/>
          <p:cNvSpPr/>
          <p:nvPr/>
        </p:nvSpPr>
        <p:spPr>
          <a:xfrm>
            <a:off x="2133600" y="39166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2F6FB0"/>
          </a:solidFill>
          <a:ln/>
        </p:spPr>
        <p:txBody>
          <a:bodyPr wrap="square" lIns="0" tIns="0" rIns="0" bIns="0" rtlCol="0" anchor="t">
            <a:normAutofit/>
          </a:bodyPr>
          <a:lstStyle/>
          <a:p>
            <a:pPr marL="0" indent="0" algn="ctr">
              <a:lnSpc>
                <a:spcPts val="4800"/>
              </a:lnSpc>
              <a:buNone/>
            </a:pPr>
            <a:r>
              <a:rPr lang="en-US" sz="2000" b="1" dirty="0">
                <a:solidFill>
                  <a:srgbClr val="F7F5EF"/>
                </a:solidFill>
                <a:latin typeface="JetBrains Mono" pitchFamily="49" charset="0"/>
                <a:ea typeface="JetBrains Mono" pitchFamily="49" charset="-122"/>
                <a:cs typeface="JetBrains Mono" pitchFamily="49" charset="-120"/>
              </a:rPr>
              <a:t>1</a:t>
            </a:r>
            <a:endParaRPr lang="en-US" sz="2000" dirty="0"/>
          </a:p>
        </p:txBody>
      </p:sp>
      <p:sp>
        <p:nvSpPr>
          <p:cNvPr id="24" name="Text 22"/>
          <p:cNvSpPr/>
          <p:nvPr/>
        </p:nvSpPr>
        <p:spPr>
          <a:xfrm>
            <a:off x="2794000" y="39166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1</a:t>
            </a:r>
            <a:endParaRPr lang="en-US" sz="2000" dirty="0"/>
          </a:p>
        </p:txBody>
      </p:sp>
      <p:sp>
        <p:nvSpPr>
          <p:cNvPr id="25" name="Text 23"/>
          <p:cNvSpPr/>
          <p:nvPr/>
        </p:nvSpPr>
        <p:spPr>
          <a:xfrm>
            <a:off x="3454400" y="39166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1</a:t>
            </a:r>
            <a:endParaRPr lang="en-US" sz="2000" dirty="0"/>
          </a:p>
        </p:txBody>
      </p:sp>
      <p:sp>
        <p:nvSpPr>
          <p:cNvPr id="26" name="Text 24"/>
          <p:cNvSpPr/>
          <p:nvPr/>
        </p:nvSpPr>
        <p:spPr>
          <a:xfrm>
            <a:off x="4114800" y="39166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2</a:t>
            </a:r>
            <a:endParaRPr lang="en-US" sz="2000" dirty="0"/>
          </a:p>
        </p:txBody>
      </p:sp>
      <p:sp>
        <p:nvSpPr>
          <p:cNvPr id="27" name="Text 25"/>
          <p:cNvSpPr/>
          <p:nvPr/>
        </p:nvSpPr>
        <p:spPr>
          <a:xfrm>
            <a:off x="787400" y="4577085"/>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C</a:t>
            </a:r>
            <a:endParaRPr lang="en-US" sz="2000" dirty="0"/>
          </a:p>
        </p:txBody>
      </p:sp>
      <p:sp>
        <p:nvSpPr>
          <p:cNvPr id="28" name="Text 26"/>
          <p:cNvSpPr/>
          <p:nvPr/>
        </p:nvSpPr>
        <p:spPr>
          <a:xfrm>
            <a:off x="1473200" y="45770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29" name="Text 27"/>
          <p:cNvSpPr/>
          <p:nvPr/>
        </p:nvSpPr>
        <p:spPr>
          <a:xfrm>
            <a:off x="2133600" y="45770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1</a:t>
            </a:r>
            <a:endParaRPr lang="en-US" sz="2000" dirty="0"/>
          </a:p>
        </p:txBody>
      </p:sp>
      <p:sp>
        <p:nvSpPr>
          <p:cNvPr id="30" name="Text 28"/>
          <p:cNvSpPr/>
          <p:nvPr/>
        </p:nvSpPr>
        <p:spPr>
          <a:xfrm>
            <a:off x="2794000" y="45770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2F6FB0"/>
          </a:solidFill>
          <a:ln/>
        </p:spPr>
        <p:txBody>
          <a:bodyPr wrap="square" lIns="0" tIns="0" rIns="0" bIns="0" rtlCol="0" anchor="t">
            <a:normAutofit/>
          </a:bodyPr>
          <a:lstStyle/>
          <a:p>
            <a:pPr marL="0" indent="0" algn="ctr">
              <a:lnSpc>
                <a:spcPts val="4800"/>
              </a:lnSpc>
              <a:buNone/>
            </a:pPr>
            <a:r>
              <a:rPr lang="en-US" sz="2000" b="1" dirty="0">
                <a:solidFill>
                  <a:srgbClr val="F7F5EF"/>
                </a:solidFill>
                <a:latin typeface="JetBrains Mono" pitchFamily="49" charset="0"/>
                <a:ea typeface="JetBrains Mono" pitchFamily="49" charset="-122"/>
                <a:cs typeface="JetBrains Mono" pitchFamily="49" charset="-120"/>
              </a:rPr>
              <a:t>2</a:t>
            </a:r>
            <a:endParaRPr lang="en-US" sz="2000" dirty="0"/>
          </a:p>
        </p:txBody>
      </p:sp>
      <p:sp>
        <p:nvSpPr>
          <p:cNvPr id="31" name="Text 29"/>
          <p:cNvSpPr/>
          <p:nvPr/>
        </p:nvSpPr>
        <p:spPr>
          <a:xfrm>
            <a:off x="3454400" y="45770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DCE7F3"/>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2</a:t>
            </a:r>
            <a:endParaRPr lang="en-US" sz="2000" dirty="0"/>
          </a:p>
        </p:txBody>
      </p:sp>
      <p:sp>
        <p:nvSpPr>
          <p:cNvPr id="32" name="Text 30"/>
          <p:cNvSpPr/>
          <p:nvPr/>
        </p:nvSpPr>
        <p:spPr>
          <a:xfrm>
            <a:off x="4114800" y="45770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2</a:t>
            </a:r>
            <a:endParaRPr lang="en-US" sz="2000" dirty="0"/>
          </a:p>
        </p:txBody>
      </p:sp>
      <p:sp>
        <p:nvSpPr>
          <p:cNvPr id="33" name="Text 31"/>
          <p:cNvSpPr/>
          <p:nvPr/>
        </p:nvSpPr>
        <p:spPr>
          <a:xfrm>
            <a:off x="787400" y="5237485"/>
            <a:ext cx="660400" cy="635000"/>
          </a:xfrm>
          <a:prstGeom prst="rect">
            <a:avLst/>
          </a:prstGeom>
          <a:noFill/>
          <a:ln/>
        </p:spPr>
        <p:txBody>
          <a:bodyPr wrap="square" lIns="0" tIns="0" rIns="0" bIns="0" rtlCol="0" anchor="t">
            <a:normAutofit/>
          </a:bodyPr>
          <a:lstStyle/>
          <a:p>
            <a:pPr marL="0" indent="0" algn="ctr">
              <a:lnSpc>
                <a:spcPts val="4800"/>
              </a:lnSpc>
              <a:buNone/>
            </a:pPr>
            <a:r>
              <a:rPr lang="en-US" sz="2000" b="1" dirty="0">
                <a:solidFill>
                  <a:srgbClr val="2F6FB0"/>
                </a:solidFill>
                <a:latin typeface="JetBrains Mono" pitchFamily="49" charset="0"/>
                <a:ea typeface="JetBrains Mono" pitchFamily="49" charset="-122"/>
                <a:cs typeface="JetBrains Mono" pitchFamily="49" charset="-120"/>
              </a:rPr>
              <a:t>B</a:t>
            </a:r>
            <a:endParaRPr lang="en-US" sz="2000" dirty="0"/>
          </a:p>
        </p:txBody>
      </p:sp>
      <p:sp>
        <p:nvSpPr>
          <p:cNvPr id="34" name="Text 32"/>
          <p:cNvSpPr/>
          <p:nvPr/>
        </p:nvSpPr>
        <p:spPr>
          <a:xfrm>
            <a:off x="1473200" y="52374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E1E7EF"/>
          </a:solidFill>
          <a:ln/>
        </p:spPr>
        <p:txBody>
          <a:bodyPr wrap="square" lIns="0" tIns="0" rIns="0" bIns="0" rtlCol="0" anchor="t">
            <a:normAutofit/>
          </a:bodyPr>
          <a:lstStyle/>
          <a:p>
            <a:pPr marL="0" indent="0" algn="ctr">
              <a:lnSpc>
                <a:spcPts val="4800"/>
              </a:lnSpc>
              <a:buNone/>
            </a:pPr>
            <a:r>
              <a:rPr lang="en-US" sz="2000" dirty="0">
                <a:solidFill>
                  <a:srgbClr val="5A6474"/>
                </a:solidFill>
                <a:latin typeface="JetBrains Mono" pitchFamily="49" charset="0"/>
                <a:ea typeface="JetBrains Mono" pitchFamily="49" charset="-122"/>
                <a:cs typeface="JetBrains Mono" pitchFamily="49" charset="-120"/>
              </a:rPr>
              <a:t>0</a:t>
            </a:r>
            <a:endParaRPr lang="en-US" sz="2000" dirty="0"/>
          </a:p>
        </p:txBody>
      </p:sp>
      <p:sp>
        <p:nvSpPr>
          <p:cNvPr id="35" name="Text 33"/>
          <p:cNvSpPr/>
          <p:nvPr/>
        </p:nvSpPr>
        <p:spPr>
          <a:xfrm>
            <a:off x="2133600" y="52374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1</a:t>
            </a:r>
            <a:endParaRPr lang="en-US" sz="2000" dirty="0"/>
          </a:p>
        </p:txBody>
      </p:sp>
      <p:sp>
        <p:nvSpPr>
          <p:cNvPr id="36" name="Text 34"/>
          <p:cNvSpPr/>
          <p:nvPr/>
        </p:nvSpPr>
        <p:spPr>
          <a:xfrm>
            <a:off x="2794000" y="52374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2</a:t>
            </a:r>
            <a:endParaRPr lang="en-US" sz="2000" dirty="0"/>
          </a:p>
        </p:txBody>
      </p:sp>
      <p:sp>
        <p:nvSpPr>
          <p:cNvPr id="37" name="Text 35"/>
          <p:cNvSpPr/>
          <p:nvPr/>
        </p:nvSpPr>
        <p:spPr>
          <a:xfrm>
            <a:off x="3454400" y="52374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FDFCF9"/>
          </a:solidFill>
          <a:ln/>
        </p:spPr>
        <p:txBody>
          <a:bodyPr wrap="square" lIns="0" tIns="0" rIns="0" bIns="0" rtlCol="0" anchor="t">
            <a:normAutofit/>
          </a:bodyPr>
          <a:lstStyle/>
          <a:p>
            <a:pPr marL="0" indent="0" algn="ctr">
              <a:lnSpc>
                <a:spcPts val="4800"/>
              </a:lnSpc>
              <a:buNone/>
            </a:pPr>
            <a:r>
              <a:rPr lang="en-US" sz="2000" dirty="0">
                <a:solidFill>
                  <a:srgbClr val="14213D"/>
                </a:solidFill>
                <a:latin typeface="JetBrains Mono" pitchFamily="49" charset="0"/>
                <a:ea typeface="JetBrains Mono" pitchFamily="49" charset="-122"/>
                <a:cs typeface="JetBrains Mono" pitchFamily="49" charset="-120"/>
              </a:rPr>
              <a:t>2</a:t>
            </a:r>
            <a:endParaRPr lang="en-US" sz="2000" dirty="0"/>
          </a:p>
        </p:txBody>
      </p:sp>
      <p:sp>
        <p:nvSpPr>
          <p:cNvPr id="38" name="Text 36"/>
          <p:cNvSpPr/>
          <p:nvPr/>
        </p:nvSpPr>
        <p:spPr>
          <a:xfrm>
            <a:off x="4114800" y="5237485"/>
            <a:ext cx="609600" cy="609600"/>
          </a:xfrm>
          <a:custGeom>
            <a:avLst/>
            <a:gdLst/>
            <a:ahLst/>
            <a:cxnLst/>
            <a:rect l="l" t="t" r="r" b="b"/>
            <a:pathLst>
              <a:path w="609600" h="609600">
                <a:moveTo>
                  <a:pt x="76200" y="0"/>
                </a:moveTo>
                <a:lnTo>
                  <a:pt x="533400" y="0"/>
                </a:lnTo>
                <a:arcTo wR="76200" hR="76200" stAng="16200000" swAng="5400000"/>
                <a:lnTo>
                  <a:pt x="609600" y="533400"/>
                </a:lnTo>
                <a:arcTo wR="76200" hR="76200" stAng="0" swAng="5400000"/>
                <a:lnTo>
                  <a:pt x="76200" y="609600"/>
                </a:lnTo>
                <a:arcTo wR="76200" hR="76200" stAng="5400000" swAng="5400000"/>
                <a:lnTo>
                  <a:pt x="0" y="76200"/>
                </a:lnTo>
                <a:arcTo wR="76200" hR="76200" stAng="10800000" swAng="5400000"/>
                <a:close/>
              </a:path>
            </a:pathLst>
          </a:custGeom>
          <a:solidFill>
            <a:srgbClr val="2F6FB0"/>
          </a:solidFill>
          <a:ln/>
        </p:spPr>
        <p:txBody>
          <a:bodyPr wrap="square" lIns="0" tIns="0" rIns="0" bIns="0" rtlCol="0" anchor="t">
            <a:normAutofit/>
          </a:bodyPr>
          <a:lstStyle/>
          <a:p>
            <a:pPr marL="0" indent="0" algn="ctr">
              <a:lnSpc>
                <a:spcPts val="4800"/>
              </a:lnSpc>
              <a:buNone/>
            </a:pPr>
            <a:r>
              <a:rPr lang="en-US" sz="2000" b="1" dirty="0">
                <a:solidFill>
                  <a:srgbClr val="F7F5EF"/>
                </a:solidFill>
                <a:latin typeface="JetBrains Mono" pitchFamily="49" charset="0"/>
                <a:ea typeface="JetBrains Mono" pitchFamily="49" charset="-122"/>
                <a:cs typeface="JetBrains Mono" pitchFamily="49" charset="-120"/>
              </a:rPr>
              <a:t>3</a:t>
            </a:r>
            <a:endParaRPr lang="en-US" sz="2000" dirty="0"/>
          </a:p>
        </p:txBody>
      </p:sp>
      <p:sp>
        <p:nvSpPr>
          <p:cNvPr id="39" name="Shape 37"/>
          <p:cNvSpPr/>
          <p:nvPr/>
        </p:nvSpPr>
        <p:spPr>
          <a:xfrm>
            <a:off x="5130800" y="1935485"/>
            <a:ext cx="6248400" cy="4109720"/>
          </a:xfrm>
          <a:prstGeom prst="roundRect">
            <a:avLst>
              <a:gd name="adj" fmla="val 3708"/>
            </a:avLst>
          </a:prstGeom>
          <a:solidFill>
            <a:srgbClr val="FDFCF9"/>
          </a:solidFill>
          <a:ln/>
        </p:spPr>
        <p:txBody>
          <a:bodyPr/>
          <a:lstStyle/>
          <a:p>
            <a:endParaRPr lang="pt-BR"/>
          </a:p>
        </p:txBody>
      </p:sp>
      <p:sp>
        <p:nvSpPr>
          <p:cNvPr id="40" name="Text 38"/>
          <p:cNvSpPr/>
          <p:nvPr/>
        </p:nvSpPr>
        <p:spPr>
          <a:xfrm>
            <a:off x="5435600" y="2240285"/>
            <a:ext cx="5807964"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Do canto até a borda</a:t>
            </a:r>
            <a:endParaRPr lang="en-US" sz="2200" dirty="0"/>
          </a:p>
        </p:txBody>
      </p:sp>
      <p:sp>
        <p:nvSpPr>
          <p:cNvPr id="41" name="Text 39"/>
          <p:cNvSpPr/>
          <p:nvPr/>
        </p:nvSpPr>
        <p:spPr>
          <a:xfrm>
            <a:off x="5435600" y="2702558"/>
            <a:ext cx="5807964"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1.</a:t>
            </a:r>
            <a:r>
              <a:rPr lang="en-US" sz="1500" dirty="0">
                <a:solidFill>
                  <a:srgbClr val="4A5568"/>
                </a:solidFill>
                <a:latin typeface="IBM Plex Sans" pitchFamily="34" charset="0"/>
                <a:ea typeface="IBM Plex Sans" pitchFamily="34" charset="-122"/>
                <a:cs typeface="IBM Plex Sans" pitchFamily="34" charset="-120"/>
              </a:rPr>
              <a:t> B = B → guarda </a:t>
            </a:r>
            <a:r>
              <a:rPr lang="en-US" sz="1500" b="1" dirty="0">
                <a:solidFill>
                  <a:srgbClr val="2F6FB0"/>
                </a:solidFill>
                <a:latin typeface="IBM Plex Sans" pitchFamily="34" charset="0"/>
                <a:ea typeface="IBM Plex Sans" pitchFamily="34" charset="-122"/>
                <a:cs typeface="IBM Plex Sans" pitchFamily="34" charset="-120"/>
              </a:rPr>
              <a:t>B</a:t>
            </a:r>
            <a:r>
              <a:rPr lang="en-US" sz="1500" dirty="0">
                <a:solidFill>
                  <a:srgbClr val="4A5568"/>
                </a:solidFill>
                <a:latin typeface="IBM Plex Sans" pitchFamily="34" charset="0"/>
                <a:ea typeface="IBM Plex Sans" pitchFamily="34" charset="-122"/>
                <a:cs typeface="IBM Plex Sans" pitchFamily="34" charset="-120"/>
              </a:rPr>
              <a:t>, anda na diagonal.</a:t>
            </a:r>
            <a:endParaRPr lang="en-US" sz="1500" dirty="0"/>
          </a:p>
        </p:txBody>
      </p:sp>
      <p:sp>
        <p:nvSpPr>
          <p:cNvPr id="42" name="Text 40"/>
          <p:cNvSpPr/>
          <p:nvPr/>
        </p:nvSpPr>
        <p:spPr>
          <a:xfrm>
            <a:off x="5435600" y="3086733"/>
            <a:ext cx="5807964"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2.</a:t>
            </a:r>
            <a:r>
              <a:rPr lang="en-US" sz="1500" dirty="0">
                <a:solidFill>
                  <a:srgbClr val="4A5568"/>
                </a:solidFill>
                <a:latin typeface="IBM Plex Sans" pitchFamily="34" charset="0"/>
                <a:ea typeface="IBM Plex Sans" pitchFamily="34" charset="-122"/>
                <a:cs typeface="IBM Plex Sans" pitchFamily="34" charset="-120"/>
              </a:rPr>
              <a:t> C ≠ A → vai para o vizinho maior (esquerda, 2).</a:t>
            </a:r>
            <a:endParaRPr lang="en-US" sz="1500" dirty="0"/>
          </a:p>
        </p:txBody>
      </p:sp>
      <p:sp>
        <p:nvSpPr>
          <p:cNvPr id="43" name="Text 41"/>
          <p:cNvSpPr/>
          <p:nvPr/>
        </p:nvSpPr>
        <p:spPr>
          <a:xfrm>
            <a:off x="5435600" y="3470908"/>
            <a:ext cx="5807964"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3.</a:t>
            </a:r>
            <a:r>
              <a:rPr lang="en-US" sz="1500" dirty="0">
                <a:solidFill>
                  <a:srgbClr val="4A5568"/>
                </a:solidFill>
                <a:latin typeface="IBM Plex Sans" pitchFamily="34" charset="0"/>
                <a:ea typeface="IBM Plex Sans" pitchFamily="34" charset="-122"/>
                <a:cs typeface="IBM Plex Sans" pitchFamily="34" charset="-120"/>
              </a:rPr>
              <a:t> C = C → guarda </a:t>
            </a:r>
            <a:r>
              <a:rPr lang="en-US" sz="1500" b="1" dirty="0">
                <a:solidFill>
                  <a:srgbClr val="2F6FB0"/>
                </a:solidFill>
                <a:latin typeface="IBM Plex Sans" pitchFamily="34" charset="0"/>
                <a:ea typeface="IBM Plex Sans" pitchFamily="34" charset="-122"/>
                <a:cs typeface="IBM Plex Sans" pitchFamily="34" charset="-120"/>
              </a:rPr>
              <a:t>C</a:t>
            </a:r>
            <a:r>
              <a:rPr lang="en-US" sz="1500" dirty="0">
                <a:solidFill>
                  <a:srgbClr val="4A5568"/>
                </a:solidFill>
                <a:latin typeface="IBM Plex Sans" pitchFamily="34" charset="0"/>
                <a:ea typeface="IBM Plex Sans" pitchFamily="34" charset="-122"/>
                <a:cs typeface="IBM Plex Sans" pitchFamily="34" charset="-120"/>
              </a:rPr>
              <a:t>, diagonal.</a:t>
            </a:r>
            <a:endParaRPr lang="en-US" sz="1500" dirty="0"/>
          </a:p>
        </p:txBody>
      </p:sp>
      <p:sp>
        <p:nvSpPr>
          <p:cNvPr id="44" name="Text 42"/>
          <p:cNvSpPr/>
          <p:nvPr/>
        </p:nvSpPr>
        <p:spPr>
          <a:xfrm>
            <a:off x="5435600" y="3855083"/>
            <a:ext cx="5807964"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14213D"/>
                </a:solidFill>
                <a:latin typeface="IBM Plex Sans" pitchFamily="34" charset="0"/>
                <a:ea typeface="IBM Plex Sans" pitchFamily="34" charset="-122"/>
                <a:cs typeface="IBM Plex Sans" pitchFamily="34" charset="-120"/>
              </a:rPr>
              <a:t>4.</a:t>
            </a:r>
            <a:r>
              <a:rPr lang="en-US" sz="1500" dirty="0">
                <a:solidFill>
                  <a:srgbClr val="4A5568"/>
                </a:solidFill>
                <a:latin typeface="IBM Plex Sans" pitchFamily="34" charset="0"/>
                <a:ea typeface="IBM Plex Sans" pitchFamily="34" charset="-122"/>
                <a:cs typeface="IBM Plex Sans" pitchFamily="34" charset="-120"/>
              </a:rPr>
              <a:t> B = B → guarda </a:t>
            </a:r>
            <a:r>
              <a:rPr lang="en-US" sz="1500" b="1" dirty="0">
                <a:solidFill>
                  <a:srgbClr val="2F6FB0"/>
                </a:solidFill>
                <a:latin typeface="IBM Plex Sans" pitchFamily="34" charset="0"/>
                <a:ea typeface="IBM Plex Sans" pitchFamily="34" charset="-122"/>
                <a:cs typeface="IBM Plex Sans" pitchFamily="34" charset="-120"/>
              </a:rPr>
              <a:t>B</a:t>
            </a:r>
            <a:r>
              <a:rPr lang="en-US" sz="1500" dirty="0">
                <a:solidFill>
                  <a:srgbClr val="4A5568"/>
                </a:solidFill>
                <a:latin typeface="IBM Plex Sans" pitchFamily="34" charset="0"/>
                <a:ea typeface="IBM Plex Sans" pitchFamily="34" charset="-122"/>
                <a:cs typeface="IBM Plex Sans" pitchFamily="34" charset="-120"/>
              </a:rPr>
              <a:t>, chegou na borda.</a:t>
            </a:r>
            <a:endParaRPr lang="en-US" sz="1500" dirty="0"/>
          </a:p>
        </p:txBody>
      </p:sp>
      <p:sp>
        <p:nvSpPr>
          <p:cNvPr id="45" name="Text 43"/>
          <p:cNvSpPr/>
          <p:nvPr/>
        </p:nvSpPr>
        <p:spPr>
          <a:xfrm>
            <a:off x="5435600" y="5369558"/>
            <a:ext cx="248539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Lido ao contrário:</a:t>
            </a:r>
            <a:endParaRPr lang="en-US" sz="1600" dirty="0"/>
          </a:p>
        </p:txBody>
      </p:sp>
      <p:sp>
        <p:nvSpPr>
          <p:cNvPr id="46" name="Text 44"/>
          <p:cNvSpPr/>
          <p:nvPr/>
        </p:nvSpPr>
        <p:spPr>
          <a:xfrm>
            <a:off x="7950200" y="5283200"/>
            <a:ext cx="508000" cy="457200"/>
          </a:xfrm>
          <a:custGeom>
            <a:avLst/>
            <a:gdLst/>
            <a:ahLst/>
            <a:cxnLst/>
            <a:rect l="l" t="t" r="r" b="b"/>
            <a:pathLst>
              <a:path w="508000" h="457200">
                <a:moveTo>
                  <a:pt x="76200" y="0"/>
                </a:moveTo>
                <a:lnTo>
                  <a:pt x="431800" y="0"/>
                </a:lnTo>
                <a:arcTo wR="76200" hR="76200" stAng="16200000" swAng="5400000"/>
                <a:lnTo>
                  <a:pt x="508000" y="381000"/>
                </a:lnTo>
                <a:arcTo wR="76200" hR="76200" stAng="0" swAng="5400000"/>
                <a:lnTo>
                  <a:pt x="76200" y="457200"/>
                </a:lnTo>
                <a:arcTo wR="76200" hR="76200" stAng="5400000" swAng="5400000"/>
                <a:lnTo>
                  <a:pt x="0" y="76200"/>
                </a:lnTo>
                <a:arcTo wR="76200" hR="76200" stAng="10800000" swAng="5400000"/>
                <a:close/>
              </a:path>
            </a:pathLst>
          </a:custGeom>
          <a:solidFill>
            <a:srgbClr val="2F6FB0"/>
          </a:solidFill>
          <a:ln/>
        </p:spPr>
        <p:txBody>
          <a:bodyPr wrap="square" lIns="0" tIns="0" rIns="0" bIns="0" rtlCol="0" anchor="t">
            <a:normAutofit/>
          </a:bodyPr>
          <a:lstStyle/>
          <a:p>
            <a:pPr marL="0" indent="0" algn="ctr">
              <a:lnSpc>
                <a:spcPts val="3600"/>
              </a:lnSpc>
              <a:buNone/>
            </a:pPr>
            <a:r>
              <a:rPr lang="en-US" sz="2000" b="1" dirty="0">
                <a:solidFill>
                  <a:srgbClr val="F7F5EF"/>
                </a:solidFill>
                <a:latin typeface="JetBrains Mono" pitchFamily="49" charset="0"/>
                <a:ea typeface="JetBrains Mono" pitchFamily="49" charset="-122"/>
                <a:cs typeface="JetBrains Mono" pitchFamily="49" charset="-120"/>
              </a:rPr>
              <a:t>B</a:t>
            </a:r>
            <a:endParaRPr lang="en-US" sz="2000" dirty="0"/>
          </a:p>
        </p:txBody>
      </p:sp>
      <p:sp>
        <p:nvSpPr>
          <p:cNvPr id="47" name="Text 45"/>
          <p:cNvSpPr/>
          <p:nvPr/>
        </p:nvSpPr>
        <p:spPr>
          <a:xfrm>
            <a:off x="8559800" y="5283200"/>
            <a:ext cx="508000" cy="457200"/>
          </a:xfrm>
          <a:custGeom>
            <a:avLst/>
            <a:gdLst/>
            <a:ahLst/>
            <a:cxnLst/>
            <a:rect l="l" t="t" r="r" b="b"/>
            <a:pathLst>
              <a:path w="508000" h="457200">
                <a:moveTo>
                  <a:pt x="76200" y="0"/>
                </a:moveTo>
                <a:lnTo>
                  <a:pt x="431800" y="0"/>
                </a:lnTo>
                <a:arcTo wR="76200" hR="76200" stAng="16200000" swAng="5400000"/>
                <a:lnTo>
                  <a:pt x="508000" y="381000"/>
                </a:lnTo>
                <a:arcTo wR="76200" hR="76200" stAng="0" swAng="5400000"/>
                <a:lnTo>
                  <a:pt x="76200" y="457200"/>
                </a:lnTo>
                <a:arcTo wR="76200" hR="76200" stAng="5400000" swAng="5400000"/>
                <a:lnTo>
                  <a:pt x="0" y="76200"/>
                </a:lnTo>
                <a:arcTo wR="76200" hR="76200" stAng="10800000" swAng="5400000"/>
                <a:close/>
              </a:path>
            </a:pathLst>
          </a:custGeom>
          <a:solidFill>
            <a:srgbClr val="2F6FB0"/>
          </a:solidFill>
          <a:ln/>
        </p:spPr>
        <p:txBody>
          <a:bodyPr wrap="square" lIns="0" tIns="0" rIns="0" bIns="0" rtlCol="0" anchor="t">
            <a:normAutofit/>
          </a:bodyPr>
          <a:lstStyle/>
          <a:p>
            <a:pPr marL="0" indent="0" algn="ctr">
              <a:lnSpc>
                <a:spcPts val="3600"/>
              </a:lnSpc>
              <a:buNone/>
            </a:pPr>
            <a:r>
              <a:rPr lang="en-US" sz="2000" b="1" dirty="0">
                <a:solidFill>
                  <a:srgbClr val="F7F5EF"/>
                </a:solidFill>
                <a:latin typeface="JetBrains Mono" pitchFamily="49" charset="0"/>
                <a:ea typeface="JetBrains Mono" pitchFamily="49" charset="-122"/>
                <a:cs typeface="JetBrains Mono" pitchFamily="49" charset="-120"/>
              </a:rPr>
              <a:t>C</a:t>
            </a:r>
            <a:endParaRPr lang="en-US" sz="2000" dirty="0"/>
          </a:p>
        </p:txBody>
      </p:sp>
      <p:sp>
        <p:nvSpPr>
          <p:cNvPr id="48" name="Text 46"/>
          <p:cNvSpPr/>
          <p:nvPr/>
        </p:nvSpPr>
        <p:spPr>
          <a:xfrm>
            <a:off x="9169400" y="5283200"/>
            <a:ext cx="508000" cy="457200"/>
          </a:xfrm>
          <a:custGeom>
            <a:avLst/>
            <a:gdLst/>
            <a:ahLst/>
            <a:cxnLst/>
            <a:rect l="l" t="t" r="r" b="b"/>
            <a:pathLst>
              <a:path w="508000" h="457200">
                <a:moveTo>
                  <a:pt x="76200" y="0"/>
                </a:moveTo>
                <a:lnTo>
                  <a:pt x="431800" y="0"/>
                </a:lnTo>
                <a:arcTo wR="76200" hR="76200" stAng="16200000" swAng="5400000"/>
                <a:lnTo>
                  <a:pt x="508000" y="381000"/>
                </a:lnTo>
                <a:arcTo wR="76200" hR="76200" stAng="0" swAng="5400000"/>
                <a:lnTo>
                  <a:pt x="76200" y="457200"/>
                </a:lnTo>
                <a:arcTo wR="76200" hR="76200" stAng="5400000" swAng="5400000"/>
                <a:lnTo>
                  <a:pt x="0" y="76200"/>
                </a:lnTo>
                <a:arcTo wR="76200" hR="76200" stAng="10800000" swAng="5400000"/>
                <a:close/>
              </a:path>
            </a:pathLst>
          </a:custGeom>
          <a:solidFill>
            <a:srgbClr val="2F6FB0"/>
          </a:solidFill>
          <a:ln/>
        </p:spPr>
        <p:txBody>
          <a:bodyPr wrap="square" lIns="0" tIns="0" rIns="0" bIns="0" rtlCol="0" anchor="t">
            <a:normAutofit/>
          </a:bodyPr>
          <a:lstStyle/>
          <a:p>
            <a:pPr marL="0" indent="0" algn="ctr">
              <a:lnSpc>
                <a:spcPts val="3600"/>
              </a:lnSpc>
              <a:buNone/>
            </a:pPr>
            <a:r>
              <a:rPr lang="en-US" sz="2000" b="1" dirty="0">
                <a:solidFill>
                  <a:srgbClr val="F7F5EF"/>
                </a:solidFill>
                <a:latin typeface="JetBrains Mono" pitchFamily="49" charset="0"/>
                <a:ea typeface="JetBrains Mono" pitchFamily="49" charset="-122"/>
                <a:cs typeface="JetBrains Mono" pitchFamily="49" charset="-120"/>
              </a:rPr>
              <a:t>B</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541B"/>
                </a:solidFill>
                <a:latin typeface="IBM Plex Sans" pitchFamily="34" charset="0"/>
                <a:ea typeface="IBM Plex Sans" pitchFamily="34" charset="-122"/>
                <a:cs typeface="IBM Plex Sans" pitchFamily="34" charset="-120"/>
              </a:rPr>
              <a:t>5 · TESTE</a:t>
            </a:r>
            <a:endParaRPr lang="en-US" sz="1200" dirty="0"/>
          </a:p>
        </p:txBody>
      </p:sp>
      <p:sp>
        <p:nvSpPr>
          <p:cNvPr id="3" name="Text 1"/>
          <p:cNvSpPr>
            <a:spLocks noGrp="1"/>
          </p:cNvSpPr>
          <p:nvPr>
            <p:ph type="title"/>
          </p:nvPr>
        </p:nvSpPr>
        <p:spPr>
          <a:xfrm>
            <a:off x="812800" y="11277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Executando com três conjuntos de dados</a:t>
            </a:r>
            <a:endParaRPr lang="en-US" sz="3600" dirty="0"/>
          </a:p>
        </p:txBody>
      </p:sp>
      <p:sp>
        <p:nvSpPr>
          <p:cNvPr id="4" name="Shape 2"/>
          <p:cNvSpPr/>
          <p:nvPr/>
        </p:nvSpPr>
        <p:spPr>
          <a:xfrm>
            <a:off x="812800" y="1986285"/>
            <a:ext cx="10566400" cy="1757680"/>
          </a:xfrm>
          <a:prstGeom prst="roundRect">
            <a:avLst>
              <a:gd name="adj" fmla="val 5780"/>
            </a:avLst>
          </a:prstGeom>
          <a:solidFill>
            <a:srgbClr val="FDFCF9"/>
          </a:solidFill>
          <a:ln/>
        </p:spPr>
        <p:txBody>
          <a:bodyPr/>
          <a:lstStyle/>
          <a:p>
            <a:endParaRPr lang="pt-BR"/>
          </a:p>
        </p:txBody>
      </p:sp>
      <p:sp>
        <p:nvSpPr>
          <p:cNvPr id="5" name="Shape 3"/>
          <p:cNvSpPr/>
          <p:nvPr/>
        </p:nvSpPr>
        <p:spPr>
          <a:xfrm>
            <a:off x="812800" y="1986285"/>
            <a:ext cx="10566400" cy="1757680"/>
          </a:xfrm>
          <a:custGeom>
            <a:avLst/>
            <a:gdLst/>
            <a:ahLst/>
            <a:cxnLst/>
            <a:rect l="l" t="t" r="r" b="b"/>
            <a:pathLst>
              <a:path w="10566400" h="1757680">
                <a:moveTo>
                  <a:pt x="101600" y="1757680"/>
                </a:moveTo>
                <a:lnTo>
                  <a:pt x="101600" y="1757680"/>
                </a:lnTo>
                <a:arcTo wR="101600" hR="101600" stAng="5400000" swAng="5400000"/>
                <a:lnTo>
                  <a:pt x="0" y="101600"/>
                </a:lnTo>
                <a:arcTo wR="101600" hR="101600" stAng="10800000" swAng="5400000"/>
                <a:lnTo>
                  <a:pt x="10464800" y="0"/>
                </a:lnTo>
                <a:arcTo wR="101600" hR="101600" stAng="16200000" swAng="5400000"/>
                <a:lnTo>
                  <a:pt x="10566400" y="101600"/>
                </a:lnTo>
                <a:arcTo wR="101600" hR="91440" stAng="0" swAng="-5400000"/>
                <a:lnTo>
                  <a:pt x="101600" y="10160"/>
                </a:lnTo>
                <a:arcTo wR="91440" hR="91440" stAng="16200000" swAng="-5400000"/>
                <a:lnTo>
                  <a:pt x="10160" y="1656080"/>
                </a:lnTo>
                <a:arcTo wR="91440" hR="101600" stAng="10800000" swAng="-5400000"/>
                <a:close/>
              </a:path>
            </a:pathLst>
          </a:custGeom>
          <a:solidFill>
            <a:srgbClr val="141413">
              <a:alpha val="22000"/>
            </a:srgbClr>
          </a:solidFill>
          <a:ln/>
        </p:spPr>
        <p:txBody>
          <a:bodyPr/>
          <a:lstStyle/>
          <a:p>
            <a:endParaRPr lang="pt-B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996445"/>
          <a:ext cx="10556240" cy="1747520"/>
        </p:xfrm>
        <a:graphic>
          <a:graphicData uri="http://schemas.openxmlformats.org/drawingml/2006/table">
            <a:tbl>
              <a:tblPr/>
              <a:tblGrid>
                <a:gridCol w="1794561">
                  <a:extLst>
                    <a:ext uri="{9D8B030D-6E8A-4147-A177-3AD203B41FA5}">
                      <a16:colId xmlns:a16="http://schemas.microsoft.com/office/drawing/2014/main" val="20000"/>
                    </a:ext>
                  </a:extLst>
                </a:gridCol>
                <a:gridCol w="2005686">
                  <a:extLst>
                    <a:ext uri="{9D8B030D-6E8A-4147-A177-3AD203B41FA5}">
                      <a16:colId xmlns:a16="http://schemas.microsoft.com/office/drawing/2014/main" val="20001"/>
                    </a:ext>
                  </a:extLst>
                </a:gridCol>
                <a:gridCol w="1477874">
                  <a:extLst>
                    <a:ext uri="{9D8B030D-6E8A-4147-A177-3AD203B41FA5}">
                      <a16:colId xmlns:a16="http://schemas.microsoft.com/office/drawing/2014/main" val="20002"/>
                    </a:ext>
                  </a:extLst>
                </a:gridCol>
                <a:gridCol w="1477874">
                  <a:extLst>
                    <a:ext uri="{9D8B030D-6E8A-4147-A177-3AD203B41FA5}">
                      <a16:colId xmlns:a16="http://schemas.microsoft.com/office/drawing/2014/main" val="20003"/>
                    </a:ext>
                  </a:extLst>
                </a:gridCol>
                <a:gridCol w="3800246">
                  <a:extLst>
                    <a:ext uri="{9D8B030D-6E8A-4147-A177-3AD203B41FA5}">
                      <a16:colId xmlns:a16="http://schemas.microsoft.com/office/drawing/2014/main" val="20004"/>
                    </a:ext>
                  </a:extLst>
                </a:gridCol>
              </a:tblGrid>
              <a:tr h="436880">
                <a:tc>
                  <a:txBody>
                    <a:bodyPr/>
                    <a:lstStyle/>
                    <a:p>
                      <a:pPr marL="0" indent="0">
                        <a:lnSpc>
                          <a:spcPts val="2240"/>
                        </a:lnSpc>
                        <a:buNone/>
                      </a:pPr>
                      <a:r>
                        <a:rPr lang="en-US" sz="1600" b="1" dirty="0">
                          <a:solidFill>
                            <a:srgbClr val="F7F5EF"/>
                          </a:solidFill>
                          <a:latin typeface="IBM Plex Sans" pitchFamily="34" charset="0"/>
                          <a:ea typeface="IBM Plex Sans" pitchFamily="34" charset="-122"/>
                          <a:cs typeface="IBM Plex Sans" pitchFamily="34" charset="-120"/>
                        </a:rPr>
                        <a:t>X</a:t>
                      </a:r>
                      <a:endParaRPr lang="en-US" sz="1600" dirty="0">
                        <a:latin typeface="IBM Plex Sans" charset="0"/>
                        <a:ea typeface="IBM Plex Sans" charset="0"/>
                        <a:cs typeface="IBM Plex Sans" charset="0"/>
                      </a:endParaRPr>
                    </a:p>
                  </a:txBody>
                  <a:tcPr marL="71120" marR="71120" marT="71120" marB="71120">
                    <a:lnL w="0" cap="flat" cmpd="sng" algn="ctr">
                      <a:noFill/>
                    </a:lnL>
                    <a:lnR w="12700" cap="flat" cmpd="sng" algn="ctr">
                      <a:solidFill>
                        <a:srgbClr val="141E34"/>
                      </a:solidFill>
                      <a:prstDash val="solid"/>
                      <a:round/>
                      <a:headEnd type="none" w="med" len="med"/>
                      <a:tailEnd type="none" w="med" len="med"/>
                    </a:lnR>
                    <a:lnT w="0" cap="flat" cmpd="sng" algn="ctr">
                      <a:noFill/>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2240"/>
                        </a:lnSpc>
                        <a:buNone/>
                      </a:pPr>
                      <a:r>
                        <a:rPr lang="en-US" sz="1600" b="1" dirty="0">
                          <a:solidFill>
                            <a:srgbClr val="F7F5EF"/>
                          </a:solidFill>
                          <a:latin typeface="IBM Plex Sans" pitchFamily="34" charset="0"/>
                          <a:ea typeface="IBM Plex Sans" pitchFamily="34" charset="-122"/>
                          <a:cs typeface="IBM Plex Sans" pitchFamily="34" charset="-120"/>
                        </a:rPr>
                        <a:t>Y</a:t>
                      </a:r>
                      <a:endParaRPr lang="en-US" sz="1600" dirty="0">
                        <a:latin typeface="IBM Plex Sans" charset="0"/>
                        <a:ea typeface="IBM Plex Sans" charset="0"/>
                        <a:cs typeface="IBM Plex Sans" charset="0"/>
                      </a:endParaRPr>
                    </a:p>
                  </a:txBody>
                  <a:tcPr marL="71120" marR="71120" marT="71120" marB="7112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0" cap="flat" cmpd="sng" algn="ctr">
                      <a:noFill/>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2240"/>
                        </a:lnSpc>
                        <a:buNone/>
                      </a:pPr>
                      <a:r>
                        <a:rPr lang="en-US" sz="1600" b="1" dirty="0">
                          <a:solidFill>
                            <a:srgbClr val="F7F5EF"/>
                          </a:solidFill>
                          <a:latin typeface="IBM Plex Sans" pitchFamily="34" charset="0"/>
                          <a:ea typeface="IBM Plex Sans" pitchFamily="34" charset="-122"/>
                          <a:cs typeface="IBM Plex Sans" pitchFamily="34" charset="-120"/>
                        </a:rPr>
                        <a:t>LCS</a:t>
                      </a:r>
                      <a:endParaRPr lang="en-US" sz="1600" dirty="0">
                        <a:latin typeface="IBM Plex Sans" charset="0"/>
                        <a:ea typeface="IBM Plex Sans" charset="0"/>
                        <a:cs typeface="IBM Plex Sans" charset="0"/>
                      </a:endParaRPr>
                    </a:p>
                  </a:txBody>
                  <a:tcPr marL="71120" marR="71120" marT="71120" marB="7112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0" cap="flat" cmpd="sng" algn="ctr">
                      <a:noFill/>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ctr">
                        <a:lnSpc>
                          <a:spcPts val="2240"/>
                        </a:lnSpc>
                        <a:buNone/>
                      </a:pPr>
                      <a:r>
                        <a:rPr lang="en-US" sz="1600" b="1" dirty="0">
                          <a:solidFill>
                            <a:srgbClr val="F7F5EF"/>
                          </a:solidFill>
                          <a:latin typeface="IBM Plex Sans" pitchFamily="34" charset="0"/>
                          <a:ea typeface="IBM Plex Sans" pitchFamily="34" charset="-122"/>
                          <a:cs typeface="IBM Plex Sans" pitchFamily="34" charset="-120"/>
                        </a:rPr>
                        <a:t>Tamanho</a:t>
                      </a:r>
                      <a:endParaRPr lang="en-US" sz="1600" dirty="0">
                        <a:latin typeface="IBM Plex Sans" charset="0"/>
                        <a:ea typeface="IBM Plex Sans" charset="0"/>
                        <a:cs typeface="IBM Plex Sans" charset="0"/>
                      </a:endParaRPr>
                    </a:p>
                  </a:txBody>
                  <a:tcPr marL="71120" marR="71120" marT="71120" marB="7112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0" cap="flat" cmpd="sng" algn="ctr">
                      <a:noFill/>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2240"/>
                        </a:lnSpc>
                        <a:buNone/>
                      </a:pPr>
                      <a:r>
                        <a:rPr lang="en-US" sz="1600" b="1" dirty="0">
                          <a:solidFill>
                            <a:srgbClr val="F7F5EF"/>
                          </a:solidFill>
                          <a:latin typeface="IBM Plex Sans" pitchFamily="34" charset="0"/>
                          <a:ea typeface="IBM Plex Sans" pitchFamily="34" charset="-122"/>
                          <a:cs typeface="IBM Plex Sans" pitchFamily="34" charset="-120"/>
                        </a:rPr>
                        <a:t>Por que testar</a:t>
                      </a:r>
                      <a:endParaRPr lang="en-US" sz="1600" dirty="0">
                        <a:latin typeface="IBM Plex Sans" charset="0"/>
                        <a:ea typeface="IBM Plex Sans" charset="0"/>
                        <a:cs typeface="IBM Plex Sans" charset="0"/>
                      </a:endParaRPr>
                    </a:p>
                  </a:txBody>
                  <a:tcPr marL="71120" marR="71120" marT="71120" marB="7112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0" cap="flat" cmpd="sng" algn="ctr">
                      <a:noFill/>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436880">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ABCB</a:t>
                      </a:r>
                      <a:endParaRPr lang="en-US" sz="1600" dirty="0">
                        <a:latin typeface="IBM Plex Sans" charset="0"/>
                        <a:ea typeface="IBM Plex Sans" charset="0"/>
                        <a:cs typeface="IBM Plex Sans" charset="0"/>
                      </a:endParaRPr>
                    </a:p>
                  </a:txBody>
                  <a:tcPr marL="71120" marR="71120" marT="71120" marB="71120">
                    <a:lnL w="0" cap="flat" cmpd="sng" algn="ctr">
                      <a:noFill/>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BCAB</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BCB</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ctr">
                        <a:lnSpc>
                          <a:spcPts val="2240"/>
                        </a:lnSpc>
                        <a:buNone/>
                      </a:pPr>
                      <a:r>
                        <a:rPr lang="en-US" sz="1600" dirty="0">
                          <a:solidFill>
                            <a:srgbClr val="14213D"/>
                          </a:solidFill>
                          <a:latin typeface="IBM Plex Sans" pitchFamily="34" charset="0"/>
                          <a:ea typeface="IBM Plex Sans" pitchFamily="34" charset="-122"/>
                          <a:cs typeface="IBM Plex Sans" pitchFamily="34" charset="-120"/>
                        </a:rPr>
                        <a:t>3</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O exemplo da apresentação</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1"/>
                  </a:ext>
                </a:extLst>
              </a:tr>
              <a:tr h="436880">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AGGTAB</a:t>
                      </a:r>
                      <a:endParaRPr lang="en-US" sz="1600" dirty="0">
                        <a:latin typeface="IBM Plex Sans" charset="0"/>
                        <a:ea typeface="IBM Plex Sans" charset="0"/>
                        <a:cs typeface="IBM Plex Sans" charset="0"/>
                      </a:endParaRPr>
                    </a:p>
                  </a:txBody>
                  <a:tcPr marL="71120" marR="71120" marT="71120" marB="71120">
                    <a:lnL w="0" cap="flat" cmpd="sng" algn="ctr">
                      <a:noFill/>
                    </a:lnL>
                    <a:lnR w="12700" cap="flat" cmpd="sng" algn="ctr">
                      <a:solidFill>
                        <a:srgbClr val="C1BF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1BFB8"/>
                      </a:solidFill>
                      <a:prstDash val="solid"/>
                      <a:round/>
                      <a:headEnd type="none" w="med" len="med"/>
                      <a:tailEnd type="none" w="med" len="med"/>
                    </a:lnB>
                    <a:solidFill>
                      <a:srgbClr val="F2EFE7"/>
                    </a:solidFill>
                  </a:tcPr>
                </a:tc>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GXTXAYB</a:t>
                      </a:r>
                      <a:endParaRPr lang="en-US" sz="1600" dirty="0">
                        <a:latin typeface="IBM Plex Sans" charset="0"/>
                        <a:ea typeface="IBM Plex Sans" charset="0"/>
                        <a:cs typeface="IBM Plex Sans" charset="0"/>
                      </a:endParaRPr>
                    </a:p>
                  </a:txBody>
                  <a:tcPr marL="71120" marR="71120" marT="71120" marB="71120">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1BFB8"/>
                      </a:solidFill>
                      <a:prstDash val="solid"/>
                      <a:round/>
                      <a:headEnd type="none" w="med" len="med"/>
                      <a:tailEnd type="none" w="med" len="med"/>
                    </a:lnB>
                    <a:solidFill>
                      <a:srgbClr val="F2EFE7"/>
                    </a:solidFill>
                  </a:tcPr>
                </a:tc>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GTAB</a:t>
                      </a:r>
                      <a:endParaRPr lang="en-US" sz="1600" dirty="0">
                        <a:latin typeface="IBM Plex Sans" charset="0"/>
                        <a:ea typeface="IBM Plex Sans" charset="0"/>
                        <a:cs typeface="IBM Plex Sans" charset="0"/>
                      </a:endParaRPr>
                    </a:p>
                  </a:txBody>
                  <a:tcPr marL="71120" marR="71120" marT="71120" marB="71120">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1BFB8"/>
                      </a:solidFill>
                      <a:prstDash val="solid"/>
                      <a:round/>
                      <a:headEnd type="none" w="med" len="med"/>
                      <a:tailEnd type="none" w="med" len="med"/>
                    </a:lnB>
                    <a:solidFill>
                      <a:srgbClr val="F2EFE7"/>
                    </a:solidFill>
                  </a:tcPr>
                </a:tc>
                <a:tc>
                  <a:txBody>
                    <a:bodyPr/>
                    <a:lstStyle/>
                    <a:p>
                      <a:pPr marL="0" indent="0" algn="ctr">
                        <a:lnSpc>
                          <a:spcPts val="2240"/>
                        </a:lnSpc>
                        <a:buNone/>
                      </a:pPr>
                      <a:r>
                        <a:rPr lang="en-US" sz="1600" dirty="0">
                          <a:solidFill>
                            <a:srgbClr val="14213D"/>
                          </a:solidFill>
                          <a:latin typeface="IBM Plex Sans" pitchFamily="34" charset="0"/>
                          <a:ea typeface="IBM Plex Sans" pitchFamily="34" charset="-122"/>
                          <a:cs typeface="IBM Plex Sans" pitchFamily="34" charset="-120"/>
                        </a:rPr>
                        <a:t>4</a:t>
                      </a:r>
                      <a:endParaRPr lang="en-US" sz="1600" dirty="0">
                        <a:latin typeface="IBM Plex Sans" charset="0"/>
                        <a:ea typeface="IBM Plex Sans" charset="0"/>
                        <a:cs typeface="IBM Plex Sans" charset="0"/>
                      </a:endParaRPr>
                    </a:p>
                  </a:txBody>
                  <a:tcPr marL="71120" marR="71120" marT="71120" marB="71120">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1BFB8"/>
                      </a:solidFill>
                      <a:prstDash val="solid"/>
                      <a:round/>
                      <a:headEnd type="none" w="med" len="med"/>
                      <a:tailEnd type="none" w="med" len="med"/>
                    </a:lnB>
                    <a:solidFill>
                      <a:srgbClr val="F2EFE7"/>
                    </a:solidFill>
                  </a:tcPr>
                </a:tc>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Exemplo clássico, maior</a:t>
                      </a:r>
                      <a:endParaRPr lang="en-US" sz="1600" dirty="0">
                        <a:latin typeface="IBM Plex Sans" charset="0"/>
                        <a:ea typeface="IBM Plex Sans" charset="0"/>
                        <a:cs typeface="IBM Plex Sans" charset="0"/>
                      </a:endParaRPr>
                    </a:p>
                  </a:txBody>
                  <a:tcPr marL="71120" marR="71120" marT="71120" marB="71120">
                    <a:lnL w="12700" cap="flat" cmpd="sng" algn="ctr">
                      <a:solidFill>
                        <a:srgbClr val="C1BFB8"/>
                      </a:solidFill>
                      <a:prstDash val="solid"/>
                      <a:round/>
                      <a:headEnd type="none" w="med" len="med"/>
                      <a:tailEnd type="none" w="med" len="med"/>
                    </a:lnL>
                    <a:lnR w="12700" cap="flat" cmpd="sng" algn="ctr">
                      <a:solidFill>
                        <a:srgbClr val="C1BFB8"/>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1BFB8"/>
                      </a:solidFill>
                      <a:prstDash val="solid"/>
                      <a:round/>
                      <a:headEnd type="none" w="med" len="med"/>
                      <a:tailEnd type="none" w="med" len="med"/>
                    </a:lnB>
                    <a:solidFill>
                      <a:srgbClr val="F2EFE7"/>
                    </a:solidFill>
                  </a:tcPr>
                </a:tc>
                <a:extLst>
                  <a:ext uri="{0D108BD9-81ED-4DB2-BD59-A6C34878D82A}">
                    <a16:rowId xmlns:a16="http://schemas.microsoft.com/office/drawing/2014/main" val="10002"/>
                  </a:ext>
                </a:extLst>
              </a:tr>
              <a:tr h="436880">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ABC</a:t>
                      </a:r>
                      <a:endParaRPr lang="en-US" sz="1600" dirty="0">
                        <a:latin typeface="IBM Plex Sans" charset="0"/>
                        <a:ea typeface="IBM Plex Sans" charset="0"/>
                        <a:cs typeface="IBM Plex Sans" charset="0"/>
                      </a:endParaRPr>
                    </a:p>
                  </a:txBody>
                  <a:tcPr marL="71120" marR="71120" marT="71120" marB="71120">
                    <a:lnL w="0" cap="flat" cmpd="sng" algn="ctr">
                      <a:noFill/>
                    </a:lnL>
                    <a:lnR w="12700" cap="flat" cmpd="sng" algn="ctr">
                      <a:solidFill>
                        <a:srgbClr val="CAC9C6"/>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DEF</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(vazia)</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gn="ctr">
                        <a:lnSpc>
                          <a:spcPts val="2240"/>
                        </a:lnSpc>
                        <a:buNone/>
                      </a:pPr>
                      <a:r>
                        <a:rPr lang="en-US" sz="1600" dirty="0">
                          <a:solidFill>
                            <a:srgbClr val="14213D"/>
                          </a:solidFill>
                          <a:latin typeface="IBM Plex Sans" pitchFamily="34" charset="0"/>
                          <a:ea typeface="IBM Plex Sans" pitchFamily="34" charset="-122"/>
                          <a:cs typeface="IBM Plex Sans" pitchFamily="34" charset="-120"/>
                        </a:rPr>
                        <a:t>0</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tc>
                  <a:txBody>
                    <a:bodyPr/>
                    <a:lstStyle/>
                    <a:p>
                      <a:pPr marL="0" indent="0">
                        <a:lnSpc>
                          <a:spcPts val="2240"/>
                        </a:lnSpc>
                        <a:buNone/>
                      </a:pPr>
                      <a:r>
                        <a:rPr lang="en-US" sz="1600" dirty="0">
                          <a:solidFill>
                            <a:srgbClr val="14213D"/>
                          </a:solidFill>
                          <a:latin typeface="IBM Plex Sans" pitchFamily="34" charset="0"/>
                          <a:ea typeface="IBM Plex Sans" pitchFamily="34" charset="-122"/>
                          <a:cs typeface="IBM Plex Sans" pitchFamily="34" charset="-120"/>
                        </a:rPr>
                        <a:t>Caso limite: nada em comum</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1BFB8"/>
                      </a:solidFill>
                      <a:prstDash val="solid"/>
                      <a:round/>
                      <a:headEnd type="none" w="med" len="med"/>
                      <a:tailEnd type="none" w="med" len="med"/>
                    </a:lnT>
                    <a:lnB w="12700" cap="flat" cmpd="sng" algn="ctr">
                      <a:solidFill>
                        <a:srgbClr val="CAC9C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541B"/>
                </a:solidFill>
                <a:latin typeface="IBM Plex Sans" pitchFamily="34" charset="0"/>
                <a:ea typeface="IBM Plex Sans" pitchFamily="34" charset="-122"/>
                <a:cs typeface="IBM Plex Sans" pitchFamily="34" charset="-120"/>
              </a:rPr>
              <a:t>6 · COMPLEXIDADE</a:t>
            </a:r>
            <a:endParaRPr lang="en-US" sz="1200" dirty="0"/>
          </a:p>
        </p:txBody>
      </p:sp>
      <p:sp>
        <p:nvSpPr>
          <p:cNvPr id="3" name="Text 1"/>
          <p:cNvSpPr>
            <a:spLocks noGrp="1"/>
          </p:cNvSpPr>
          <p:nvPr>
            <p:ph type="title"/>
          </p:nvPr>
        </p:nvSpPr>
        <p:spPr>
          <a:xfrm>
            <a:off x="812800" y="11277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Quanto custa?</a:t>
            </a:r>
            <a:endParaRPr lang="en-US" sz="3600" dirty="0"/>
          </a:p>
        </p:txBody>
      </p:sp>
      <p:sp>
        <p:nvSpPr>
          <p:cNvPr id="4" name="Shape 2"/>
          <p:cNvSpPr/>
          <p:nvPr/>
        </p:nvSpPr>
        <p:spPr>
          <a:xfrm>
            <a:off x="812800" y="1935485"/>
            <a:ext cx="5181600" cy="2240280"/>
          </a:xfrm>
          <a:prstGeom prst="roundRect">
            <a:avLst>
              <a:gd name="adj" fmla="val 6803"/>
            </a:avLst>
          </a:prstGeom>
          <a:solidFill>
            <a:srgbClr val="FDFCF9"/>
          </a:solidFill>
          <a:ln/>
        </p:spPr>
        <p:txBody>
          <a:bodyPr/>
          <a:lstStyle/>
          <a:p>
            <a:endParaRPr lang="pt-BR"/>
          </a:p>
        </p:txBody>
      </p:sp>
      <p:sp>
        <p:nvSpPr>
          <p:cNvPr id="5" name="Text 3"/>
          <p:cNvSpPr/>
          <p:nvPr/>
        </p:nvSpPr>
        <p:spPr>
          <a:xfrm>
            <a:off x="1117600" y="2189485"/>
            <a:ext cx="470916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FB0"/>
                </a:solidFill>
                <a:latin typeface="IBM Plex Sans" pitchFamily="34" charset="0"/>
                <a:ea typeface="IBM Plex Sans" pitchFamily="34" charset="-122"/>
                <a:cs typeface="IBM Plex Sans" pitchFamily="34" charset="-120"/>
              </a:rPr>
              <a:t>TEMPO</a:t>
            </a:r>
            <a:endParaRPr lang="en-US" sz="1200" dirty="0"/>
          </a:p>
        </p:txBody>
      </p:sp>
      <p:sp>
        <p:nvSpPr>
          <p:cNvPr id="6" name="Text 4"/>
          <p:cNvSpPr/>
          <p:nvPr/>
        </p:nvSpPr>
        <p:spPr>
          <a:xfrm>
            <a:off x="1117600" y="2504442"/>
            <a:ext cx="4709160" cy="807720"/>
          </a:xfrm>
          <a:prstGeom prst="rect">
            <a:avLst/>
          </a:prstGeom>
          <a:noFill/>
          <a:ln/>
        </p:spPr>
        <p:txBody>
          <a:bodyPr wrap="square" lIns="0" tIns="0" rIns="0" bIns="0" rtlCol="0" anchor="t">
            <a:normAutofit/>
          </a:bodyPr>
          <a:lstStyle/>
          <a:p>
            <a:pPr marL="0" indent="0" algn="l">
              <a:lnSpc>
                <a:spcPts val="6160"/>
              </a:lnSpc>
              <a:buNone/>
            </a:pPr>
            <a:r>
              <a:rPr lang="en-US" sz="4400" b="1" dirty="0">
                <a:solidFill>
                  <a:srgbClr val="B5541B"/>
                </a:solidFill>
                <a:latin typeface="JetBrains Mono" pitchFamily="49" charset="0"/>
                <a:ea typeface="JetBrains Mono" pitchFamily="49" charset="-122"/>
                <a:cs typeface="JetBrains Mono" pitchFamily="49" charset="-120"/>
              </a:rPr>
              <a:t>O(m × n)</a:t>
            </a:r>
            <a:endParaRPr lang="en-US" sz="4400" dirty="0"/>
          </a:p>
        </p:txBody>
      </p:sp>
      <p:sp>
        <p:nvSpPr>
          <p:cNvPr id="7" name="Text 5"/>
          <p:cNvSpPr/>
          <p:nvPr/>
        </p:nvSpPr>
        <p:spPr>
          <a:xfrm>
            <a:off x="1117600" y="3388358"/>
            <a:ext cx="4709160"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Dois for aninhados e cada célula custa O(1). O backtracking soma só O(m + n).</a:t>
            </a:r>
            <a:endParaRPr lang="en-US" sz="1500" dirty="0"/>
          </a:p>
        </p:txBody>
      </p:sp>
      <p:sp>
        <p:nvSpPr>
          <p:cNvPr id="8" name="Shape 6"/>
          <p:cNvSpPr/>
          <p:nvPr/>
        </p:nvSpPr>
        <p:spPr>
          <a:xfrm>
            <a:off x="6197600" y="1935485"/>
            <a:ext cx="5181600" cy="2240280"/>
          </a:xfrm>
          <a:prstGeom prst="roundRect">
            <a:avLst>
              <a:gd name="adj" fmla="val 6803"/>
            </a:avLst>
          </a:prstGeom>
          <a:solidFill>
            <a:srgbClr val="FDFCF9"/>
          </a:solidFill>
          <a:ln/>
        </p:spPr>
        <p:txBody>
          <a:bodyPr/>
          <a:lstStyle/>
          <a:p>
            <a:endParaRPr lang="pt-BR"/>
          </a:p>
        </p:txBody>
      </p:sp>
      <p:sp>
        <p:nvSpPr>
          <p:cNvPr id="9" name="Text 7"/>
          <p:cNvSpPr/>
          <p:nvPr/>
        </p:nvSpPr>
        <p:spPr>
          <a:xfrm>
            <a:off x="6502400" y="2189485"/>
            <a:ext cx="4709160"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2F6FB0"/>
                </a:solidFill>
                <a:latin typeface="IBM Plex Sans" pitchFamily="34" charset="0"/>
                <a:ea typeface="IBM Plex Sans" pitchFamily="34" charset="-122"/>
                <a:cs typeface="IBM Plex Sans" pitchFamily="34" charset="-120"/>
              </a:rPr>
              <a:t>ESPAÇO</a:t>
            </a:r>
            <a:endParaRPr lang="en-US" sz="1200" dirty="0"/>
          </a:p>
        </p:txBody>
      </p:sp>
      <p:sp>
        <p:nvSpPr>
          <p:cNvPr id="10" name="Text 8"/>
          <p:cNvSpPr/>
          <p:nvPr/>
        </p:nvSpPr>
        <p:spPr>
          <a:xfrm>
            <a:off x="6502400" y="2504442"/>
            <a:ext cx="4709160" cy="807720"/>
          </a:xfrm>
          <a:prstGeom prst="rect">
            <a:avLst/>
          </a:prstGeom>
          <a:noFill/>
          <a:ln/>
        </p:spPr>
        <p:txBody>
          <a:bodyPr wrap="square" lIns="0" tIns="0" rIns="0" bIns="0" rtlCol="0" anchor="t">
            <a:normAutofit/>
          </a:bodyPr>
          <a:lstStyle/>
          <a:p>
            <a:pPr marL="0" indent="0" algn="l">
              <a:lnSpc>
                <a:spcPts val="6160"/>
              </a:lnSpc>
              <a:buNone/>
            </a:pPr>
            <a:r>
              <a:rPr lang="en-US" sz="4400" b="1" dirty="0">
                <a:solidFill>
                  <a:srgbClr val="B5541B"/>
                </a:solidFill>
                <a:latin typeface="JetBrains Mono" pitchFamily="49" charset="0"/>
                <a:ea typeface="JetBrains Mono" pitchFamily="49" charset="-122"/>
                <a:cs typeface="JetBrains Mono" pitchFamily="49" charset="-120"/>
              </a:rPr>
              <a:t>O(m × n)</a:t>
            </a:r>
            <a:endParaRPr lang="en-US" sz="4400" dirty="0"/>
          </a:p>
        </p:txBody>
      </p:sp>
      <p:sp>
        <p:nvSpPr>
          <p:cNvPr id="11" name="Text 9"/>
          <p:cNvSpPr/>
          <p:nvPr/>
        </p:nvSpPr>
        <p:spPr>
          <a:xfrm>
            <a:off x="6502400" y="3388358"/>
            <a:ext cx="4709160"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Por causa da tabela, que tem (m + 1) × (n + 1) células.</a:t>
            </a:r>
            <a:endParaRPr lang="en-US" sz="1500" dirty="0"/>
          </a:p>
        </p:txBody>
      </p:sp>
      <p:sp>
        <p:nvSpPr>
          <p:cNvPr id="12" name="Shape 10"/>
          <p:cNvSpPr/>
          <p:nvPr/>
        </p:nvSpPr>
        <p:spPr>
          <a:xfrm>
            <a:off x="812800" y="4480558"/>
            <a:ext cx="10566400" cy="1564640"/>
          </a:xfrm>
          <a:prstGeom prst="roundRect">
            <a:avLst>
              <a:gd name="adj" fmla="val 9740"/>
            </a:avLst>
          </a:prstGeom>
          <a:solidFill>
            <a:srgbClr val="14213D"/>
          </a:solidFill>
          <a:ln/>
        </p:spPr>
        <p:txBody>
          <a:bodyPr/>
          <a:lstStyle/>
          <a:p>
            <a:endParaRPr lang="pt-BR"/>
          </a:p>
        </p:txBody>
      </p:sp>
      <p:sp>
        <p:nvSpPr>
          <p:cNvPr id="13" name="Text 11"/>
          <p:cNvSpPr/>
          <p:nvPr/>
        </p:nvSpPr>
        <p:spPr>
          <a:xfrm>
            <a:off x="1168400" y="4988558"/>
            <a:ext cx="2354580" cy="57404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BFC8D6"/>
                </a:solidFill>
                <a:latin typeface="IBM Plex Sans" pitchFamily="34" charset="0"/>
                <a:ea typeface="IBM Plex Sans" pitchFamily="34" charset="-122"/>
                <a:cs typeface="IBM Plex Sans" pitchFamily="34" charset="-120"/>
              </a:rPr>
              <a:t>Com 30 letras em cada palavra:</a:t>
            </a:r>
            <a:endParaRPr lang="en-US" sz="1600" dirty="0"/>
          </a:p>
        </p:txBody>
      </p:sp>
      <p:sp>
        <p:nvSpPr>
          <p:cNvPr id="14" name="Text 12"/>
          <p:cNvSpPr/>
          <p:nvPr/>
        </p:nvSpPr>
        <p:spPr>
          <a:xfrm>
            <a:off x="3759200" y="4841242"/>
            <a:ext cx="3584194" cy="59436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8FC1E3"/>
                </a:solidFill>
                <a:latin typeface="Space Grotesk" pitchFamily="34" charset="0"/>
                <a:ea typeface="Space Grotesk" pitchFamily="34" charset="-122"/>
                <a:cs typeface="Space Grotesk" pitchFamily="34" charset="-120"/>
              </a:rPr>
              <a:t>≈ 900</a:t>
            </a:r>
            <a:endParaRPr lang="en-US" sz="3200" dirty="0"/>
          </a:p>
        </p:txBody>
      </p:sp>
      <p:sp>
        <p:nvSpPr>
          <p:cNvPr id="15" name="Text 13"/>
          <p:cNvSpPr/>
          <p:nvPr/>
        </p:nvSpPr>
        <p:spPr>
          <a:xfrm>
            <a:off x="3759200" y="5435600"/>
            <a:ext cx="358419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8D6"/>
                </a:solidFill>
                <a:latin typeface="IBM Plex Sans" pitchFamily="34" charset="0"/>
                <a:ea typeface="IBM Plex Sans" pitchFamily="34" charset="-122"/>
                <a:cs typeface="IBM Plex Sans" pitchFamily="34" charset="-120"/>
              </a:rPr>
              <a:t>operações com programação dinâmica</a:t>
            </a:r>
            <a:endParaRPr lang="en-US" sz="1400" dirty="0"/>
          </a:p>
        </p:txBody>
      </p:sp>
      <p:sp>
        <p:nvSpPr>
          <p:cNvPr id="16" name="Text 14"/>
          <p:cNvSpPr/>
          <p:nvPr/>
        </p:nvSpPr>
        <p:spPr>
          <a:xfrm>
            <a:off x="7543800" y="4841242"/>
            <a:ext cx="3584194" cy="59436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F2A365"/>
                </a:solidFill>
                <a:latin typeface="Space Grotesk" pitchFamily="34" charset="0"/>
                <a:ea typeface="Space Grotesk" pitchFamily="34" charset="-122"/>
                <a:cs typeface="Space Grotesk" pitchFamily="34" charset="-120"/>
              </a:rPr>
              <a:t>&gt; 32 bilhões</a:t>
            </a:r>
            <a:endParaRPr lang="en-US" sz="3200" dirty="0"/>
          </a:p>
        </p:txBody>
      </p:sp>
      <p:sp>
        <p:nvSpPr>
          <p:cNvPr id="17" name="Text 15"/>
          <p:cNvSpPr/>
          <p:nvPr/>
        </p:nvSpPr>
        <p:spPr>
          <a:xfrm>
            <a:off x="7543800" y="5435600"/>
            <a:ext cx="3584194"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8D6"/>
                </a:solidFill>
                <a:latin typeface="IBM Plex Sans" pitchFamily="34" charset="0"/>
                <a:ea typeface="IBM Plex Sans" pitchFamily="34" charset="-122"/>
                <a:cs typeface="IBM Plex Sans" pitchFamily="34" charset="-120"/>
              </a:rPr>
              <a:t>com força bruta, O(2^m × n)</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365"/>
                </a:solidFill>
                <a:latin typeface="IBM Plex Sans" pitchFamily="34" charset="0"/>
                <a:ea typeface="IBM Plex Sans" pitchFamily="34" charset="-122"/>
                <a:cs typeface="IBM Plex Sans" pitchFamily="34" charset="-120"/>
              </a:rPr>
              <a:t>RESUMO</a:t>
            </a:r>
            <a:endParaRPr lang="en-US" sz="1200" dirty="0"/>
          </a:p>
        </p:txBody>
      </p:sp>
      <p:sp>
        <p:nvSpPr>
          <p:cNvPr id="3" name="Text 1"/>
          <p:cNvSpPr>
            <a:spLocks noGrp="1"/>
          </p:cNvSpPr>
          <p:nvPr>
            <p:ph type="title"/>
          </p:nvPr>
        </p:nvSpPr>
        <p:spPr>
          <a:xfrm>
            <a:off x="812800" y="1127758"/>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7F5EF"/>
                </a:solidFill>
                <a:latin typeface="Space Grotesk" pitchFamily="34" charset="0"/>
                <a:ea typeface="Space Grotesk" pitchFamily="34" charset="-122"/>
                <a:cs typeface="Space Grotesk" pitchFamily="34" charset="-120"/>
              </a:rPr>
              <a:t>O que levar daqui</a:t>
            </a:r>
            <a:endParaRPr lang="en-US" sz="3600" dirty="0"/>
          </a:p>
        </p:txBody>
      </p:sp>
      <p:sp>
        <p:nvSpPr>
          <p:cNvPr id="4" name="Shape 2"/>
          <p:cNvSpPr/>
          <p:nvPr/>
        </p:nvSpPr>
        <p:spPr>
          <a:xfrm>
            <a:off x="812800" y="2857500"/>
            <a:ext cx="3390900" cy="0"/>
          </a:xfrm>
          <a:prstGeom prst="line">
            <a:avLst/>
          </a:prstGeom>
          <a:noFill/>
          <a:ln w="25400">
            <a:solidFill>
              <a:srgbClr val="F2A365"/>
            </a:solidFill>
            <a:prstDash val="solid"/>
          </a:ln>
        </p:spPr>
        <p:txBody>
          <a:bodyPr/>
          <a:lstStyle/>
          <a:p>
            <a:endParaRPr lang="pt-BR"/>
          </a:p>
        </p:txBody>
      </p:sp>
      <p:sp>
        <p:nvSpPr>
          <p:cNvPr id="5" name="Text 3"/>
          <p:cNvSpPr/>
          <p:nvPr/>
        </p:nvSpPr>
        <p:spPr>
          <a:xfrm>
            <a:off x="812800" y="3073400"/>
            <a:ext cx="349262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7F5EF"/>
                </a:solidFill>
                <a:latin typeface="Space Grotesk" pitchFamily="34" charset="0"/>
                <a:ea typeface="Space Grotesk" pitchFamily="34" charset="-122"/>
                <a:cs typeface="Space Grotesk" pitchFamily="34" charset="-120"/>
              </a:rPr>
              <a:t>O problema</a:t>
            </a:r>
            <a:endParaRPr lang="en-US" sz="2000" dirty="0"/>
          </a:p>
        </p:txBody>
      </p:sp>
      <p:sp>
        <p:nvSpPr>
          <p:cNvPr id="6" name="Text 4"/>
          <p:cNvSpPr/>
          <p:nvPr/>
        </p:nvSpPr>
        <p:spPr>
          <a:xfrm>
            <a:off x="812800" y="3479800"/>
            <a:ext cx="3492627"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FC8D6"/>
                </a:solidFill>
                <a:latin typeface="IBM Plex Sans" pitchFamily="34" charset="0"/>
                <a:ea typeface="IBM Plex Sans" pitchFamily="34" charset="-122"/>
                <a:cs typeface="IBM Plex Sans" pitchFamily="34" charset="-120"/>
              </a:rPr>
              <a:t>A maior sequência comum a duas palavras, na mesma ordem.</a:t>
            </a:r>
            <a:endParaRPr lang="en-US" sz="1500" dirty="0"/>
          </a:p>
        </p:txBody>
      </p:sp>
      <p:sp>
        <p:nvSpPr>
          <p:cNvPr id="7" name="Shape 5"/>
          <p:cNvSpPr/>
          <p:nvPr/>
        </p:nvSpPr>
        <p:spPr>
          <a:xfrm>
            <a:off x="4400550" y="2857500"/>
            <a:ext cx="3390900" cy="0"/>
          </a:xfrm>
          <a:prstGeom prst="line">
            <a:avLst/>
          </a:prstGeom>
          <a:noFill/>
          <a:ln w="25400">
            <a:solidFill>
              <a:srgbClr val="F2A365"/>
            </a:solidFill>
            <a:prstDash val="solid"/>
          </a:ln>
        </p:spPr>
        <p:txBody>
          <a:bodyPr/>
          <a:lstStyle/>
          <a:p>
            <a:endParaRPr lang="pt-BR"/>
          </a:p>
        </p:txBody>
      </p:sp>
      <p:sp>
        <p:nvSpPr>
          <p:cNvPr id="8" name="Text 6"/>
          <p:cNvSpPr/>
          <p:nvPr/>
        </p:nvSpPr>
        <p:spPr>
          <a:xfrm>
            <a:off x="4400550" y="3073400"/>
            <a:ext cx="349262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7F5EF"/>
                </a:solidFill>
                <a:latin typeface="Space Grotesk" pitchFamily="34" charset="0"/>
                <a:ea typeface="Space Grotesk" pitchFamily="34" charset="-122"/>
                <a:cs typeface="Space Grotesk" pitchFamily="34" charset="-120"/>
              </a:rPr>
              <a:t>A estratégia</a:t>
            </a:r>
            <a:endParaRPr lang="en-US" sz="2000" dirty="0"/>
          </a:p>
        </p:txBody>
      </p:sp>
      <p:sp>
        <p:nvSpPr>
          <p:cNvPr id="9" name="Text 7"/>
          <p:cNvSpPr/>
          <p:nvPr/>
        </p:nvSpPr>
        <p:spPr>
          <a:xfrm>
            <a:off x="4400550" y="3479800"/>
            <a:ext cx="3492627"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FC8D6"/>
                </a:solidFill>
                <a:latin typeface="IBM Plex Sans" pitchFamily="34" charset="0"/>
                <a:ea typeface="IBM Plex Sans" pitchFamily="34" charset="-122"/>
                <a:cs typeface="IBM Plex Sans" pitchFamily="34" charset="-120"/>
              </a:rPr>
              <a:t>Programação dinâmica: uma tabela e uma regra de duas linhas.</a:t>
            </a:r>
            <a:endParaRPr lang="en-US" sz="1500" dirty="0"/>
          </a:p>
        </p:txBody>
      </p:sp>
      <p:sp>
        <p:nvSpPr>
          <p:cNvPr id="10" name="Shape 8"/>
          <p:cNvSpPr/>
          <p:nvPr/>
        </p:nvSpPr>
        <p:spPr>
          <a:xfrm>
            <a:off x="7988300" y="2857500"/>
            <a:ext cx="3390900" cy="0"/>
          </a:xfrm>
          <a:prstGeom prst="line">
            <a:avLst/>
          </a:prstGeom>
          <a:noFill/>
          <a:ln w="25400">
            <a:solidFill>
              <a:srgbClr val="F2A365"/>
            </a:solidFill>
            <a:prstDash val="solid"/>
          </a:ln>
        </p:spPr>
        <p:txBody>
          <a:bodyPr/>
          <a:lstStyle/>
          <a:p>
            <a:endParaRPr lang="pt-BR"/>
          </a:p>
        </p:txBody>
      </p:sp>
      <p:sp>
        <p:nvSpPr>
          <p:cNvPr id="11" name="Text 9"/>
          <p:cNvSpPr/>
          <p:nvPr/>
        </p:nvSpPr>
        <p:spPr>
          <a:xfrm>
            <a:off x="7988300" y="3073400"/>
            <a:ext cx="349262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7F5EF"/>
                </a:solidFill>
                <a:latin typeface="Space Grotesk" pitchFamily="34" charset="0"/>
                <a:ea typeface="Space Grotesk" pitchFamily="34" charset="-122"/>
                <a:cs typeface="Space Grotesk" pitchFamily="34" charset="-120"/>
              </a:rPr>
              <a:t>O custo</a:t>
            </a:r>
            <a:endParaRPr lang="en-US" sz="2000" dirty="0"/>
          </a:p>
        </p:txBody>
      </p:sp>
      <p:sp>
        <p:nvSpPr>
          <p:cNvPr id="12" name="Text 10"/>
          <p:cNvSpPr/>
          <p:nvPr/>
        </p:nvSpPr>
        <p:spPr>
          <a:xfrm>
            <a:off x="7988300" y="3479800"/>
            <a:ext cx="3492627"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FC8D6"/>
                </a:solidFill>
                <a:latin typeface="IBM Plex Sans" pitchFamily="34" charset="0"/>
                <a:ea typeface="IBM Plex Sans" pitchFamily="34" charset="-122"/>
                <a:cs typeface="IBM Plex Sans" pitchFamily="34" charset="-120"/>
              </a:rPr>
              <a:t>O(m × n) em vez de exponencial.</a:t>
            </a:r>
            <a:endParaRPr lang="en-US" sz="1500" dirty="0"/>
          </a:p>
        </p:txBody>
      </p:sp>
      <p:pic>
        <p:nvPicPr>
          <p:cNvPr id="14" name="Imagem 13">
            <a:extLst>
              <a:ext uri="{FF2B5EF4-FFF2-40B4-BE49-F238E27FC236}">
                <a16:creationId xmlns:a16="http://schemas.microsoft.com/office/drawing/2014/main" id="{307813CE-3F5C-F7F7-EF42-75BFE48B7897}"/>
              </a:ext>
            </a:extLst>
          </p:cNvPr>
          <p:cNvPicPr>
            <a:picLocks noChangeAspect="1"/>
          </p:cNvPicPr>
          <p:nvPr/>
        </p:nvPicPr>
        <p:blipFill>
          <a:blip r:embed="rId3"/>
          <a:stretch>
            <a:fillRect/>
          </a:stretch>
        </p:blipFill>
        <p:spPr>
          <a:xfrm>
            <a:off x="4735538" y="4270737"/>
            <a:ext cx="1737511" cy="1767993"/>
          </a:xfrm>
          <a:prstGeom prst="rect">
            <a:avLst/>
          </a:prstGeom>
        </p:spPr>
      </p:pic>
      <p:sp>
        <p:nvSpPr>
          <p:cNvPr id="16" name="CaixaDeTexto 15">
            <a:extLst>
              <a:ext uri="{FF2B5EF4-FFF2-40B4-BE49-F238E27FC236}">
                <a16:creationId xmlns:a16="http://schemas.microsoft.com/office/drawing/2014/main" id="{D9AD9BEB-B30A-08DF-F4CE-8F834BE15A7C}"/>
              </a:ext>
            </a:extLst>
          </p:cNvPr>
          <p:cNvSpPr txBox="1"/>
          <p:nvPr/>
        </p:nvSpPr>
        <p:spPr>
          <a:xfrm>
            <a:off x="3625257" y="6132367"/>
            <a:ext cx="4267920" cy="276999"/>
          </a:xfrm>
          <a:prstGeom prst="rect">
            <a:avLst/>
          </a:prstGeom>
          <a:noFill/>
        </p:spPr>
        <p:txBody>
          <a:bodyPr wrap="square">
            <a:spAutoFit/>
          </a:bodyPr>
          <a:lstStyle/>
          <a:p>
            <a:r>
              <a:rPr lang="pt-BR" sz="1200" dirty="0">
                <a:solidFill>
                  <a:schemeClr val="bg1"/>
                </a:solidFill>
              </a:rPr>
              <a:t>https://github.com/Brenooryan/Seminario_LCS</a:t>
            </a:r>
          </a:p>
        </p:txBody>
      </p:sp>
    </p:spTree>
  </p:cSld>
  <p:clrMapOvr>
    <a:masterClrMapping/>
  </p:clrMapOvr>
</p:sld>
</file>

<file path=ppt/theme/theme1.xml><?xml version="1.0" encoding="utf-8"?>
<a:theme xmlns:a="http://schemas.openxmlformats.org/drawingml/2006/main" name="Seminário LCS – Maior Subsequência Comum">
  <a:themeElements>
    <a:clrScheme name="Seminário LCS – Maior Subsequência Comum">
      <a:dk1>
        <a:srgbClr val="14213D"/>
      </a:dk1>
      <a:lt1>
        <a:srgbClr val="F7F5EF"/>
      </a:lt1>
      <a:dk2>
        <a:srgbClr val="4D566A"/>
      </a:dk2>
      <a:lt2>
        <a:srgbClr val="E0E0DD"/>
      </a:lt2>
      <a:accent1>
        <a:srgbClr val="2F6FB0"/>
      </a:accent1>
      <a:accent2>
        <a:srgbClr val="B5541B"/>
      </a:accent2>
      <a:accent3>
        <a:srgbClr val="E07A2E"/>
      </a:accent3>
      <a:accent4>
        <a:srgbClr val="FBE1CC"/>
      </a:accent4>
      <a:accent5>
        <a:srgbClr val="F2A365"/>
      </a:accent5>
      <a:accent6>
        <a:srgbClr val="8FC1E3"/>
      </a:accent6>
      <a:hlink>
        <a:srgbClr val="0563C1"/>
      </a:hlink>
      <a:folHlink>
        <a:srgbClr val="954F72"/>
      </a:folHlink>
    </a:clrScheme>
    <a:fontScheme name="Seminário LCS – Maior Subsequência Comum">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2716</Words>
  <Application>Microsoft Office PowerPoint</Application>
  <PresentationFormat>Widescreen</PresentationFormat>
  <Paragraphs>424</Paragraphs>
  <Slides>20</Slides>
  <Notes>20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20</vt:i4>
      </vt:variant>
    </vt:vector>
  </HeadingPairs>
  <TitlesOfParts>
    <vt:vector size="25" baseType="lpstr">
      <vt:lpstr>Space Grotesk</vt:lpstr>
      <vt:lpstr>Arial</vt:lpstr>
      <vt:lpstr>JetBrains Mono</vt:lpstr>
      <vt:lpstr>IBM Plex Sans</vt:lpstr>
      <vt:lpstr>Seminário LCS – Maior Subsequência Comum</vt:lpstr>
      <vt:lpstr>Maior Subsequência Comum</vt:lpstr>
      <vt:lpstr>Duas palavras. O que elas têm em comum?</vt:lpstr>
      <vt:lpstr>A resposta é BCB, com tamanho 3</vt:lpstr>
      <vt:lpstr>Subsequência não é substring</vt:lpstr>
      <vt:lpstr>Onde isso aparece de verdade</vt:lpstr>
      <vt:lpstr>Entrada, saída e objetivo</vt:lpstr>
      <vt:lpstr>E se testássemos todas as possibilidades?</vt:lpstr>
      <vt:lpstr>A solução: programação dinâmica</vt:lpstr>
      <vt:lpstr>A ideia: uma tabela de respostas</vt:lpstr>
      <vt:lpstr>A regra que preenche cada célula</vt:lpstr>
      <vt:lpstr>Pseudocódigo</vt:lpstr>
      <vt:lpstr>Passo 0: a borda começa com zero</vt:lpstr>
      <vt:lpstr>Passo 1: linha A</vt:lpstr>
      <vt:lpstr>Passo 2: linha B</vt:lpstr>
      <vt:lpstr>Passo 3: linha C</vt:lpstr>
      <vt:lpstr>Passo 4: última linha B</vt:lpstr>
      <vt:lpstr>Passo 5: voltar pela tabela</vt:lpstr>
      <vt:lpstr>Executando com três conjuntos de dados</vt:lpstr>
      <vt:lpstr>Quanto custa?</vt:lpstr>
      <vt:lpstr>O que levar daqui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Seminário LCS – Maior Subsequência Comum</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Breno Andrade</cp:lastModifiedBy>
  <cp:revision>2</cp:revision>
  <dcterms:created xsi:type="dcterms:W3CDTF">2026-10-28T13:32:04Z</dcterms:created>
  <dcterms:modified xsi:type="dcterms:W3CDTF">2026-10-28T14:19:07Z</dcterms:modified>
</cp:coreProperties>
</file>